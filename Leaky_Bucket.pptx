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d5534215-ad83-5938-ca91-76d8d855f0b9}">
          <p14:sldIdLst>
            <p14:sldId id="256"/>
            <p14:sldId id="257"/>
            <p14:sldId id="258"/>
            <p14:sldId id="259"/>
          </p14:sldIdLst>
        </p14:section>
        <p14:section name="The five leaks" id="{c7608fe7-e4e2-c600-9de9-739925efb134}">
          <p14:sldIdLst>
            <p14:sldId id="260"/>
            <p14:sldId id="261"/>
            <p14:sldId id="262"/>
            <p14:sldId id="263"/>
            <p14:sldId id="264"/>
          </p14:sldIdLst>
        </p14:section>
        <p14:section name="The decision" id="{9f32fb48-f447-6bd4-e972-18a2d3e23b89}">
          <p14:sldIdLst>
            <p14:sldId id="265"/>
            <p14:sldId id="266"/>
            <p14:sldId id="267"/>
          </p14:sldIdLst>
        </p14:section>
        <p14:section name="Appendix" id="{c3b21b2a-c1f2-e7fc-686d-f0ca7b2b1e0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irony. Henry's whole business is keeping water out of buildings. Our own customer base has leaks, and they are the kind we control. Today: where the five leaks are, what each one costs us with Tier 1 roofers, and the repair for each. At the end we need a decision: approve the repairs and put an owner on every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leaky bucket. Roofers do not leave us because of the product: silicone and SPF are strong, our leads close, and our price competes. They leave because we are hard to work with. Pouring in more leads or new products does not help while the bucket leaks.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one roofer's week. Each step is real feedback from the detractor list. A roofer asks for 24 drums of white silicone and we send back a 200-SKU spreadsheet asking for the SAP number. A question sits for more than a day. Kingman is out of PG988; Carson has it, but CS doesn't offer it. We ship early without warning and no one is there to receive it. The coating arrives without the primer, so the job can't start. Small misses, one lost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this as the inspection report. Five leaks, each marked on the roof. Status colors come from the team's own assessment: orange is at risk, red is broken, yellow is watch. Logistics is the only one marked broken. The next five slides take each leak in turn: what roofers live with, and the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feedback: we are difficult to deal with. CS sends an Excel file with over 200 SKUs when the customer has already said what they want. Hold customers to the order acknowledgement and rely less on sales to sort out orders. Inquiries can take over 24 hours. When one plant is out and another has stock, CS should get the product to the customer, especially when they need it by a date. Underneath every fix: people are held accountable.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parts. Sign-offs: competitors move fast, some without walking the site. We should sign off as soon as possible and walk the roof within the two-year window when the roofer is responsible for leaks. Bunching sign-offs in areas 3+ hours from home base cuts travel cost. Claims: owners expect action within 24 hours. Commit to a 4-hour email acknowledgement and a site visit within 4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is that we are unreliable. If no delivery date is noted we set one on the order acknowledgement, but if material can go sooner we ship without telling the customer. Material arrives days or a week early with no one to accept it. It makes the roofer look bad and makes Henry and Carlisle look unprofessional. CS should communicate throughout: ask before an early shipment, provide tracking, and check in daily without being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material ready within 48 hours is not a recent problem. Everything needed to start a job, primer, bleed blockers, mastics, has to be on hand, not just the main coating. Our systems also have gaps: a sprayable seam sealer for silicone systems and a cementitious coating for the Arizona market. No fix has been assigned to those gaps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quality is not the problem: national account leads close at a high rate, though Facebook and website leads often don't. Volume is. We're one of the better lead providers, but Sherwin-Williams provides more through paint contracts. Some manufacturers have national agreements with moisture survey companies that give contractors discounted thermal surveys. Fixing Leak 1 frees the national accounts team to generate leads instead of putting out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fixes should not cost us the reasons roofers choose Henry. Core products are strong, national account leads close, we flex on scope and specs where many manufacturers won't, and failures are rare. One failure kills future work with a building owner, so we keep innovating.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that turn the repairs into something a roofer can feel and we can measure. All four come straight from the fixes in the detractor list. They are simple enough for every CS rep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Approve the five repairs and put one name on each leak before we leave the room. The measures are a proposal: one number per leak, reviewed weekly. Fill in the owner column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Tier 1 tree from the team's assessment, regrouped into six areas. Colors follow the original: green strength, yellow watch, orange at risk, red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937760" cy="23774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4160520"/>
            <a:ext cx="5029200" cy="320040"/>
          </a:xfrm>
          <a:prstGeom prst="rect">
            <a:avLst/>
          </a:prstGeom>
          <a:noFill/>
          <a:ln/>
        </p:spPr>
        <p:txBody>
          <a:bodyPr wrap="square" rtlCol="0"/>
          <a:lstStyle>
            <a:lvl1pPr indent="0" marL="0">
              <a:buNone/>
              <a:defRPr lang="en-US" sz="1300" dirty="0">
                <a:solidFill>
                  <a:srgbClr val="9AD1D4"/>
                </a:solidFill>
              </a:defRPr>
            </a:lvl1pPr>
          </a:lstStyle>
          <a:p>
            <a:pPr indent="0" marL="0">
              <a:buNone/>
            </a:pPr>
            <a:endParaRPr lang="en-US" sz="1300" dirty="0"/>
          </a:p>
        </p:txBody>
      </p:sp>
      <p:pic>
        <p:nvPicPr>
          <p:cNvPr id="4" name="Image 0" descr="preencoded.png">    </p:cNvPr>
          <p:cNvPicPr>
            <a:picLocks noChangeAspect="1"/>
          </p:cNvPicPr>
          <p:nvPr/>
        </p:nvPicPr>
        <p:blipFill>
          <a:blip r:embed="rId1"/>
          <a:stretch>
            <a:fillRect/>
          </a:stretch>
        </p:blipFill>
        <p:spPr>
          <a:xfrm>
            <a:off x="548640" y="457200"/>
            <a:ext cx="969264" cy="36576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663440"/>
            <a:ext cx="603504" cy="228600"/>
          </a:xfrm>
          <a:prstGeom prst="rect">
            <a:avLst/>
          </a:prstGeom>
        </p:spPr>
      </p:pic>
      <p:sp>
        <p:nvSpPr>
          <p:cNvPr id="3" name="Text 0"/>
          <p:cNvSpPr/>
          <p:nvPr>
            <p:ph idx="101" type="title" hasCustomPrompt="1"/>
          </p:nvPr>
        </p:nvSpPr>
        <p:spPr>
          <a:xfrm>
            <a:off x="548640" y="384048"/>
            <a:ext cx="8046720"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EAK">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663440"/>
            <a:ext cx="603504" cy="228600"/>
          </a:xfrm>
          <a:prstGeom prst="rect">
            <a:avLst/>
          </a:prstGeom>
        </p:spPr>
      </p:pic>
      <p:sp>
        <p:nvSpPr>
          <p:cNvPr id="3" name="Text 0"/>
          <p:cNvSpPr/>
          <p:nvPr>
            <p:ph idx="101" type="title" hasCustomPrompt="1"/>
          </p:nvPr>
        </p:nvSpPr>
        <p:spPr>
          <a:xfrm>
            <a:off x="548640" y="384048"/>
            <a:ext cx="6583680"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CISION">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663440"/>
            <a:ext cx="603504" cy="228600"/>
          </a:xfrm>
          <a:prstGeom prst="rect">
            <a:avLst/>
          </a:prstGeom>
        </p:spPr>
      </p:pic>
      <p:sp>
        <p:nvSpPr>
          <p:cNvPr id="3" name="Text 0"/>
          <p:cNvSpPr/>
          <p:nvPr>
            <p:ph idx="101" type="title" hasCustomPrompt="1"/>
          </p:nvPr>
        </p:nvSpPr>
        <p:spPr>
          <a:xfrm>
            <a:off x="548640" y="384048"/>
            <a:ext cx="804672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D1D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3.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4.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4.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4.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4.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937760" cy="2377440"/>
          </a:xfrm>
          <a:prstGeom prst="rect">
            <a:avLst/>
          </a:prstGeom>
          <a:noFill/>
          <a:ln/>
        </p:spPr>
        <p:txBody>
          <a:bodyPr wrap="square" lIns="0" tIns="0" rIns="0" bIns="0" rtlCol="0" anchor="t"/>
          <a:lstStyle/>
          <a:p>
            <a:pPr algn="l" indent="0" marL="0">
              <a:buNone/>
            </a:pPr>
            <a:r>
              <a:rPr lang="en-US" sz="3400" b="1" dirty="0">
                <a:solidFill>
                  <a:schemeClr val="bg1"/>
                </a:solidFill>
              </a:rPr>
              <a:t>We stop leaks</a:t>
            </a:r>
            <a:endParaRPr lang="en-US" sz="3400" dirty="0"/>
          </a:p>
          <a:p>
            <a:pPr algn="l" indent="0" marL="0">
              <a:buNone/>
            </a:pPr>
            <a:r>
              <a:rPr lang="en-US" sz="3400" b="1" dirty="0">
                <a:solidFill>
                  <a:schemeClr val="bg1"/>
                </a:solidFill>
              </a:rPr>
              <a:t>for a living.</a:t>
            </a:r>
            <a:endParaRPr lang="en-US" sz="3400" dirty="0"/>
          </a:p>
          <a:p>
            <a:pPr algn="l" indent="0" marL="0">
              <a:buNone/>
            </a:pPr>
            <a:r>
              <a:rPr lang="en-US" sz="3400" b="1" dirty="0">
                <a:solidFill>
                  <a:srgbClr val="9AD1D4"/>
                </a:solidFill>
              </a:rPr>
              <a:t>So why are Tier 1</a:t>
            </a:r>
            <a:endParaRPr lang="en-US" sz="3400" dirty="0"/>
          </a:p>
          <a:p>
            <a:pPr algn="l" indent="0" marL="0">
              <a:buNone/>
            </a:pPr>
            <a:r>
              <a:rPr lang="en-US" sz="3400" b="1" dirty="0">
                <a:solidFill>
                  <a:srgbClr val="9AD1D4"/>
                </a:solidFill>
              </a:rPr>
              <a:t>roofers leaking out?</a:t>
            </a:r>
            <a:endParaRPr lang="en-US" sz="3400" dirty="0"/>
          </a:p>
        </p:txBody>
      </p:sp>
      <p:sp>
        <p:nvSpPr>
          <p:cNvPr id="3" name="Text 0"/>
          <p:cNvSpPr/>
          <p:nvPr>
            <p:ph idx="101" type="body" hasCustomPrompt="1"/>
          </p:nvPr>
        </p:nvSpPr>
        <p:spPr>
          <a:xfrm>
            <a:off x="548640" y="4160520"/>
            <a:ext cx="5029200" cy="320040"/>
          </a:xfrm>
          <a:prstGeom prst="rect">
            <a:avLst/>
          </a:prstGeom>
          <a:noFill/>
          <a:ln/>
        </p:spPr>
        <p:txBody>
          <a:bodyPr wrap="square" lIns="0" tIns="0" rIns="0" bIns="0" rtlCol="0" anchor="t"/>
          <a:lstStyle/>
          <a:p>
            <a:pPr indent="0" marL="0">
              <a:buNone/>
            </a:pPr>
            <a:r>
              <a:rPr lang="en-US" sz="1300" dirty="0">
                <a:solidFill>
                  <a:srgbClr val="9AD1D4"/>
                </a:solidFill>
              </a:rPr>
              <a:t>Tier 1 roofer retention  ·  Leadership review</a:t>
            </a:r>
            <a:endParaRPr lang="en-US" sz="1300" dirty="0"/>
          </a:p>
        </p:txBody>
      </p:sp>
      <p:pic>
        <p:nvPicPr>
          <p:cNvPr id="4" name="Roof plan" descr="preencoded.png">    </p:cNvPr>
          <p:cNvPicPr>
            <a:picLocks noChangeAspect="1"/>
          </p:cNvPicPr>
          <p:nvPr/>
        </p:nvPicPr>
        <p:blipFill>
          <a:blip r:embed="rId1"/>
          <a:stretch>
            <a:fillRect/>
          </a:stretch>
        </p:blipFill>
        <p:spPr>
          <a:xfrm>
            <a:off x="5623560" y="1325880"/>
            <a:ext cx="3154680" cy="2103120"/>
          </a:xfrm>
          <a:prstGeom prst="rect">
            <a:avLst/>
          </a:prstGeom>
        </p:spPr>
      </p:pic>
      <p:sp>
        <p:nvSpPr>
          <p:cNvPr id="5" name="Leak ripple 1"/>
          <p:cNvSpPr/>
          <p:nvPr/>
        </p:nvSpPr>
        <p:spPr>
          <a:xfrm>
            <a:off x="5989777" y="1976018"/>
            <a:ext cx="466344" cy="466344"/>
          </a:xfrm>
          <a:prstGeom prst="ellipse">
            <a:avLst/>
          </a:prstGeom>
          <a:solidFill>
            <a:schemeClr val="accent3">
              <a:alpha val="22000"/>
            </a:schemeClr>
          </a:solidFill>
          <a:ln w="12700">
            <a:solidFill>
              <a:schemeClr val="accent3">
                <a:alpha val="0"/>
              </a:schemeClr>
            </a:solidFill>
            <a:prstDash val="solid"/>
          </a:ln>
        </p:spPr>
      </p:sp>
      <p:sp>
        <p:nvSpPr>
          <p:cNvPr id="6" name="Leak marker 1"/>
          <p:cNvSpPr/>
          <p:nvPr/>
        </p:nvSpPr>
        <p:spPr>
          <a:xfrm>
            <a:off x="6085789" y="2072030"/>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7" name="Leak ripple 2"/>
          <p:cNvSpPr/>
          <p:nvPr/>
        </p:nvSpPr>
        <p:spPr>
          <a:xfrm>
            <a:off x="7882585" y="1870862"/>
            <a:ext cx="466344" cy="466344"/>
          </a:xfrm>
          <a:prstGeom prst="ellipse">
            <a:avLst/>
          </a:prstGeom>
          <a:solidFill>
            <a:schemeClr val="accent3">
              <a:alpha val="22000"/>
            </a:schemeClr>
          </a:solidFill>
          <a:ln w="12700">
            <a:solidFill>
              <a:schemeClr val="accent3">
                <a:alpha val="0"/>
              </a:schemeClr>
            </a:solidFill>
            <a:prstDash val="solid"/>
          </a:ln>
        </p:spPr>
      </p:sp>
      <p:sp>
        <p:nvSpPr>
          <p:cNvPr id="8" name="Leak marker 2"/>
          <p:cNvSpPr/>
          <p:nvPr/>
        </p:nvSpPr>
        <p:spPr>
          <a:xfrm>
            <a:off x="7978597" y="1966874"/>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9" name="Leak ripple 3"/>
          <p:cNvSpPr/>
          <p:nvPr/>
        </p:nvSpPr>
        <p:spPr>
          <a:xfrm>
            <a:off x="6967728" y="2649017"/>
            <a:ext cx="466344" cy="466344"/>
          </a:xfrm>
          <a:prstGeom prst="ellipse">
            <a:avLst/>
          </a:prstGeom>
          <a:solidFill>
            <a:schemeClr val="accent3">
              <a:alpha val="22000"/>
            </a:schemeClr>
          </a:solidFill>
          <a:ln w="12700">
            <a:solidFill>
              <a:schemeClr val="accent3">
                <a:alpha val="0"/>
              </a:schemeClr>
            </a:solidFill>
            <a:prstDash val="solid"/>
          </a:ln>
        </p:spPr>
      </p:sp>
      <p:sp>
        <p:nvSpPr>
          <p:cNvPr id="10" name="Leak marker 3"/>
          <p:cNvSpPr/>
          <p:nvPr/>
        </p:nvSpPr>
        <p:spPr>
          <a:xfrm>
            <a:off x="7063740" y="2745029"/>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11" name="Leak ripple 4"/>
          <p:cNvSpPr/>
          <p:nvPr/>
        </p:nvSpPr>
        <p:spPr>
          <a:xfrm>
            <a:off x="8229600" y="2354580"/>
            <a:ext cx="466344" cy="466344"/>
          </a:xfrm>
          <a:prstGeom prst="ellipse">
            <a:avLst/>
          </a:prstGeom>
          <a:solidFill>
            <a:schemeClr val="accent3">
              <a:alpha val="22000"/>
            </a:schemeClr>
          </a:solidFill>
          <a:ln w="12700">
            <a:solidFill>
              <a:schemeClr val="accent3">
                <a:alpha val="0"/>
              </a:schemeClr>
            </a:solidFill>
            <a:prstDash val="solid"/>
          </a:ln>
        </p:spPr>
      </p:sp>
      <p:sp>
        <p:nvSpPr>
          <p:cNvPr id="12" name="Leak marker 4"/>
          <p:cNvSpPr/>
          <p:nvPr/>
        </p:nvSpPr>
        <p:spPr>
          <a:xfrm>
            <a:off x="8325612" y="2450592"/>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13" name="Leak ripple 5"/>
          <p:cNvSpPr/>
          <p:nvPr/>
        </p:nvSpPr>
        <p:spPr>
          <a:xfrm>
            <a:off x="6052871" y="2775204"/>
            <a:ext cx="466344" cy="466344"/>
          </a:xfrm>
          <a:prstGeom prst="ellipse">
            <a:avLst/>
          </a:prstGeom>
          <a:solidFill>
            <a:schemeClr val="accent3">
              <a:alpha val="22000"/>
            </a:schemeClr>
          </a:solidFill>
          <a:ln w="12700">
            <a:solidFill>
              <a:schemeClr val="accent3">
                <a:alpha val="0"/>
              </a:schemeClr>
            </a:solidFill>
            <a:prstDash val="solid"/>
          </a:ln>
        </p:spPr>
      </p:sp>
      <p:sp>
        <p:nvSpPr>
          <p:cNvPr id="14" name="Leak marker 5"/>
          <p:cNvSpPr/>
          <p:nvPr/>
        </p:nvSpPr>
        <p:spPr>
          <a:xfrm>
            <a:off x="6148883" y="2871216"/>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Product, leads and price bring roofers in. Service lets them leak out.</a:t>
            </a:r>
            <a:endParaRPr lang="en-US" sz="2800" dirty="0"/>
          </a:p>
        </p:txBody>
      </p:sp>
      <p:pic>
        <p:nvPicPr>
          <p:cNvPr id="3" name="Leaking pail" descr="preencoded.png">    </p:cNvPr>
          <p:cNvPicPr>
            <a:picLocks noChangeAspect="1"/>
          </p:cNvPicPr>
          <p:nvPr/>
        </p:nvPicPr>
        <p:blipFill>
          <a:blip r:embed="rId1"/>
          <a:stretch>
            <a:fillRect/>
          </a:stretch>
        </p:blipFill>
        <p:spPr>
          <a:xfrm>
            <a:off x="3520440" y="1325880"/>
            <a:ext cx="2103120" cy="2523744"/>
          </a:xfrm>
          <a:prstGeom prst="rect">
            <a:avLst/>
          </a:prstGeom>
        </p:spPr>
      </p:pic>
      <p:pic>
        <p:nvPicPr>
          <p:cNvPr id="4" name="Pail label" descr="preencoded.png">    </p:cNvPr>
          <p:cNvPicPr>
            <a:picLocks noChangeAspect="1"/>
          </p:cNvPicPr>
          <p:nvPr/>
        </p:nvPicPr>
        <p:blipFill>
          <a:blip r:embed="rId2"/>
          <a:stretch>
            <a:fillRect/>
          </a:stretch>
        </p:blipFill>
        <p:spPr>
          <a:xfrm>
            <a:off x="4114800" y="2432304"/>
            <a:ext cx="914400" cy="347472"/>
          </a:xfrm>
          <a:prstGeom prst="rect">
            <a:avLst/>
          </a:prstGeom>
        </p:spPr>
      </p:pic>
      <p:sp>
        <p:nvSpPr>
          <p:cNvPr id="5" name="Text 1"/>
          <p:cNvSpPr txBox="1"/>
          <p:nvPr/>
        </p:nvSpPr>
        <p:spPr>
          <a:xfrm>
            <a:off x="548640" y="1417320"/>
            <a:ext cx="2743200" cy="274320"/>
          </a:xfrm>
          <a:prstGeom prst="rect">
            <a:avLst/>
          </a:prstGeom>
          <a:noFill/>
          <a:ln/>
        </p:spPr>
        <p:txBody>
          <a:bodyPr wrap="square" lIns="0" tIns="0" rIns="0" bIns="0" rtlCol="0" anchor="t"/>
          <a:lstStyle/>
          <a:p>
            <a:pPr indent="0" marL="0">
              <a:buNone/>
            </a:pPr>
            <a:r>
              <a:rPr lang="en-US" sz="1500" b="1" dirty="0">
                <a:solidFill>
                  <a:schemeClr val="accent1"/>
                </a:solidFill>
              </a:rPr>
              <a:t>What brings them in</a:t>
            </a:r>
            <a:endParaRPr lang="en-US" sz="1500" dirty="0"/>
          </a:p>
        </p:txBody>
      </p:sp>
      <p:pic>
        <p:nvPicPr>
          <p:cNvPr id="6" name="Image 2" descr="preencoded.png">    </p:cNvPr>
          <p:cNvPicPr>
            <a:picLocks noChangeAspect="1"/>
          </p:cNvPicPr>
          <p:nvPr/>
        </p:nvPicPr>
        <p:blipFill>
          <a:blip r:embed="rId3"/>
          <a:stretch>
            <a:fillRect/>
          </a:stretch>
        </p:blipFill>
        <p:spPr>
          <a:xfrm>
            <a:off x="548640" y="1865376"/>
            <a:ext cx="182880" cy="182880"/>
          </a:xfrm>
          <a:prstGeom prst="rect">
            <a:avLst/>
          </a:prstGeom>
        </p:spPr>
      </p:pic>
      <p:sp>
        <p:nvSpPr>
          <p:cNvPr id="7" name="Text 2"/>
          <p:cNvSpPr txBox="1"/>
          <p:nvPr/>
        </p:nvSpPr>
        <p:spPr>
          <a:xfrm>
            <a:off x="859536" y="1828800"/>
            <a:ext cx="2523744" cy="320040"/>
          </a:xfrm>
          <a:prstGeom prst="rect">
            <a:avLst/>
          </a:prstGeom>
          <a:noFill/>
          <a:ln/>
        </p:spPr>
        <p:txBody>
          <a:bodyPr wrap="square" lIns="0" tIns="0" rIns="0" bIns="0" rtlCol="0" anchor="t"/>
          <a:lstStyle/>
          <a:p>
            <a:pPr indent="0" marL="0">
              <a:buNone/>
            </a:pPr>
            <a:r>
              <a:rPr lang="en-US" sz="1500" dirty="0">
                <a:solidFill>
                  <a:schemeClr val="tx1"/>
                </a:solidFill>
              </a:rPr>
              <a:t>Silicone and SPF quality</a:t>
            </a:r>
            <a:endParaRPr lang="en-US" sz="1500" dirty="0"/>
          </a:p>
        </p:txBody>
      </p:sp>
      <p:pic>
        <p:nvPicPr>
          <p:cNvPr id="8" name="Image 3" descr="preencoded.png">    </p:cNvPr>
          <p:cNvPicPr>
            <a:picLocks noChangeAspect="1"/>
          </p:cNvPicPr>
          <p:nvPr/>
        </p:nvPicPr>
        <p:blipFill>
          <a:blip r:embed="rId4"/>
          <a:stretch>
            <a:fillRect/>
          </a:stretch>
        </p:blipFill>
        <p:spPr>
          <a:xfrm>
            <a:off x="548640" y="2304288"/>
            <a:ext cx="182880" cy="182880"/>
          </a:xfrm>
          <a:prstGeom prst="rect">
            <a:avLst/>
          </a:prstGeom>
        </p:spPr>
      </p:pic>
      <p:sp>
        <p:nvSpPr>
          <p:cNvPr id="9" name="Text 3"/>
          <p:cNvSpPr txBox="1"/>
          <p:nvPr/>
        </p:nvSpPr>
        <p:spPr>
          <a:xfrm>
            <a:off x="859536" y="2267712"/>
            <a:ext cx="2523744" cy="320040"/>
          </a:xfrm>
          <a:prstGeom prst="rect">
            <a:avLst/>
          </a:prstGeom>
          <a:noFill/>
          <a:ln/>
        </p:spPr>
        <p:txBody>
          <a:bodyPr wrap="square" lIns="0" tIns="0" rIns="0" bIns="0" rtlCol="0" anchor="t"/>
          <a:lstStyle/>
          <a:p>
            <a:pPr indent="0" marL="0">
              <a:buNone/>
            </a:pPr>
            <a:r>
              <a:rPr lang="en-US" sz="1500" dirty="0">
                <a:solidFill>
                  <a:schemeClr val="tx1"/>
                </a:solidFill>
              </a:rPr>
              <a:t>Leads that close</a:t>
            </a:r>
            <a:endParaRPr lang="en-US" sz="1500" dirty="0"/>
          </a:p>
        </p:txBody>
      </p:sp>
      <p:pic>
        <p:nvPicPr>
          <p:cNvPr id="10" name="Image 4" descr="preencoded.png">    </p:cNvPr>
          <p:cNvPicPr>
            <a:picLocks noChangeAspect="1"/>
          </p:cNvPicPr>
          <p:nvPr/>
        </p:nvPicPr>
        <p:blipFill>
          <a:blip r:embed="rId5"/>
          <a:stretch>
            <a:fillRect/>
          </a:stretch>
        </p:blipFill>
        <p:spPr>
          <a:xfrm>
            <a:off x="548640" y="2743200"/>
            <a:ext cx="182880" cy="182880"/>
          </a:xfrm>
          <a:prstGeom prst="rect">
            <a:avLst/>
          </a:prstGeom>
        </p:spPr>
      </p:pic>
      <p:sp>
        <p:nvSpPr>
          <p:cNvPr id="11" name="Text 4"/>
          <p:cNvSpPr txBox="1"/>
          <p:nvPr/>
        </p:nvSpPr>
        <p:spPr>
          <a:xfrm>
            <a:off x="859536" y="2706624"/>
            <a:ext cx="2523744" cy="320040"/>
          </a:xfrm>
          <a:prstGeom prst="rect">
            <a:avLst/>
          </a:prstGeom>
          <a:noFill/>
          <a:ln/>
        </p:spPr>
        <p:txBody>
          <a:bodyPr wrap="square" lIns="0" tIns="0" rIns="0" bIns="0" rtlCol="0" anchor="t"/>
          <a:lstStyle/>
          <a:p>
            <a:pPr indent="0" marL="0">
              <a:buNone/>
            </a:pPr>
            <a:r>
              <a:rPr lang="en-US" sz="1500" dirty="0">
                <a:solidFill>
                  <a:schemeClr val="tx1"/>
                </a:solidFill>
              </a:rPr>
              <a:t>Competitive pricing</a:t>
            </a:r>
            <a:endParaRPr lang="en-US" sz="1500" dirty="0"/>
          </a:p>
        </p:txBody>
      </p:sp>
      <p:pic>
        <p:nvPicPr>
          <p:cNvPr id="12" name="Image 5" descr="preencoded.png">    </p:cNvPr>
          <p:cNvPicPr>
            <a:picLocks noChangeAspect="1"/>
          </p:cNvPicPr>
          <p:nvPr/>
        </p:nvPicPr>
        <p:blipFill>
          <a:blip r:embed="rId6"/>
          <a:stretch>
            <a:fillRect/>
          </a:stretch>
        </p:blipFill>
        <p:spPr>
          <a:xfrm>
            <a:off x="548640" y="3182112"/>
            <a:ext cx="182880" cy="182880"/>
          </a:xfrm>
          <a:prstGeom prst="rect">
            <a:avLst/>
          </a:prstGeom>
        </p:spPr>
      </p:pic>
      <p:sp>
        <p:nvSpPr>
          <p:cNvPr id="13" name="Text 5"/>
          <p:cNvSpPr txBox="1"/>
          <p:nvPr/>
        </p:nvSpPr>
        <p:spPr>
          <a:xfrm>
            <a:off x="859536" y="3145536"/>
            <a:ext cx="2523744" cy="320040"/>
          </a:xfrm>
          <a:prstGeom prst="rect">
            <a:avLst/>
          </a:prstGeom>
          <a:noFill/>
          <a:ln/>
        </p:spPr>
        <p:txBody>
          <a:bodyPr wrap="square" lIns="0" tIns="0" rIns="0" bIns="0" rtlCol="0" anchor="t"/>
          <a:lstStyle/>
          <a:p>
            <a:pPr indent="0" marL="0">
              <a:buNone/>
            </a:pPr>
            <a:r>
              <a:rPr lang="en-US" sz="1500" dirty="0">
                <a:solidFill>
                  <a:schemeClr val="tx1"/>
                </a:solidFill>
              </a:rPr>
              <a:t>Flexibility on specs</a:t>
            </a:r>
            <a:endParaRPr lang="en-US" sz="1500" dirty="0"/>
          </a:p>
        </p:txBody>
      </p:sp>
      <p:sp>
        <p:nvSpPr>
          <p:cNvPr id="14" name="Text 6"/>
          <p:cNvSpPr txBox="1"/>
          <p:nvPr/>
        </p:nvSpPr>
        <p:spPr>
          <a:xfrm>
            <a:off x="5989320" y="1417320"/>
            <a:ext cx="2651760" cy="274320"/>
          </a:xfrm>
          <a:prstGeom prst="rect">
            <a:avLst/>
          </a:prstGeom>
          <a:noFill/>
          <a:ln/>
        </p:spPr>
        <p:txBody>
          <a:bodyPr wrap="square" lIns="0" tIns="0" rIns="0" bIns="0" rtlCol="0" anchor="t"/>
          <a:lstStyle/>
          <a:p>
            <a:pPr indent="0" marL="0">
              <a:buNone/>
            </a:pPr>
            <a:r>
              <a:rPr lang="en-US" sz="1500" b="1" dirty="0">
                <a:solidFill>
                  <a:schemeClr val="accent3"/>
                </a:solidFill>
              </a:rPr>
              <a:t>What lets them out</a:t>
            </a:r>
            <a:endParaRPr lang="en-US" sz="1500" dirty="0"/>
          </a:p>
        </p:txBody>
      </p:sp>
      <p:pic>
        <p:nvPicPr>
          <p:cNvPr id="15" name="Image 6" descr="preencoded.png">    </p:cNvPr>
          <p:cNvPicPr>
            <a:picLocks noChangeAspect="1"/>
          </p:cNvPicPr>
          <p:nvPr/>
        </p:nvPicPr>
        <p:blipFill>
          <a:blip r:embed="rId7"/>
          <a:stretch>
            <a:fillRect/>
          </a:stretch>
        </p:blipFill>
        <p:spPr>
          <a:xfrm>
            <a:off x="5989320" y="1865376"/>
            <a:ext cx="182880" cy="182880"/>
          </a:xfrm>
          <a:prstGeom prst="rect">
            <a:avLst/>
          </a:prstGeom>
        </p:spPr>
      </p:pic>
      <p:sp>
        <p:nvSpPr>
          <p:cNvPr id="16" name="Text 7"/>
          <p:cNvSpPr txBox="1"/>
          <p:nvPr/>
        </p:nvSpPr>
        <p:spPr>
          <a:xfrm>
            <a:off x="6300216" y="1828800"/>
            <a:ext cx="2340864" cy="320040"/>
          </a:xfrm>
          <a:prstGeom prst="rect">
            <a:avLst/>
          </a:prstGeom>
          <a:noFill/>
          <a:ln/>
        </p:spPr>
        <p:txBody>
          <a:bodyPr wrap="square" lIns="0" tIns="0" rIns="0" bIns="0" rtlCol="0" anchor="t"/>
          <a:lstStyle/>
          <a:p>
            <a:pPr indent="0" marL="0">
              <a:buNone/>
            </a:pPr>
            <a:r>
              <a:rPr lang="en-US" sz="1500" dirty="0">
                <a:solidFill>
                  <a:schemeClr val="tx1"/>
                </a:solidFill>
              </a:rPr>
              <a:t>Hard to place an order</a:t>
            </a:r>
            <a:endParaRPr lang="en-US" sz="1500" dirty="0"/>
          </a:p>
        </p:txBody>
      </p:sp>
      <p:pic>
        <p:nvPicPr>
          <p:cNvPr id="17" name="Image 7" descr="preencoded.png">    </p:cNvPr>
          <p:cNvPicPr>
            <a:picLocks noChangeAspect="1"/>
          </p:cNvPicPr>
          <p:nvPr/>
        </p:nvPicPr>
        <p:blipFill>
          <a:blip r:embed="rId8"/>
          <a:stretch>
            <a:fillRect/>
          </a:stretch>
        </p:blipFill>
        <p:spPr>
          <a:xfrm>
            <a:off x="5989320" y="2304288"/>
            <a:ext cx="182880" cy="182880"/>
          </a:xfrm>
          <a:prstGeom prst="rect">
            <a:avLst/>
          </a:prstGeom>
        </p:spPr>
      </p:pic>
      <p:sp>
        <p:nvSpPr>
          <p:cNvPr id="18" name="Text 8"/>
          <p:cNvSpPr txBox="1"/>
          <p:nvPr/>
        </p:nvSpPr>
        <p:spPr>
          <a:xfrm>
            <a:off x="6300216" y="2267712"/>
            <a:ext cx="2340864" cy="320040"/>
          </a:xfrm>
          <a:prstGeom prst="rect">
            <a:avLst/>
          </a:prstGeom>
          <a:noFill/>
          <a:ln/>
        </p:spPr>
        <p:txBody>
          <a:bodyPr wrap="square" lIns="0" tIns="0" rIns="0" bIns="0" rtlCol="0" anchor="t"/>
          <a:lstStyle/>
          <a:p>
            <a:pPr indent="0" marL="0">
              <a:buNone/>
            </a:pPr>
            <a:r>
              <a:rPr lang="en-US" sz="1500" dirty="0">
                <a:solidFill>
                  <a:schemeClr val="tx1"/>
                </a:solidFill>
              </a:rPr>
              <a:t>Slow answers</a:t>
            </a:r>
            <a:endParaRPr lang="en-US" sz="1500" dirty="0"/>
          </a:p>
        </p:txBody>
      </p:sp>
      <p:pic>
        <p:nvPicPr>
          <p:cNvPr id="19" name="Image 8" descr="preencoded.png">    </p:cNvPr>
          <p:cNvPicPr>
            <a:picLocks noChangeAspect="1"/>
          </p:cNvPicPr>
          <p:nvPr/>
        </p:nvPicPr>
        <p:blipFill>
          <a:blip r:embed="rId9"/>
          <a:stretch>
            <a:fillRect/>
          </a:stretch>
        </p:blipFill>
        <p:spPr>
          <a:xfrm>
            <a:off x="5989320" y="2743200"/>
            <a:ext cx="182880" cy="182880"/>
          </a:xfrm>
          <a:prstGeom prst="rect">
            <a:avLst/>
          </a:prstGeom>
        </p:spPr>
      </p:pic>
      <p:sp>
        <p:nvSpPr>
          <p:cNvPr id="20" name="Text 9"/>
          <p:cNvSpPr txBox="1"/>
          <p:nvPr/>
        </p:nvSpPr>
        <p:spPr>
          <a:xfrm>
            <a:off x="6300216" y="2706624"/>
            <a:ext cx="2340864" cy="320040"/>
          </a:xfrm>
          <a:prstGeom prst="rect">
            <a:avLst/>
          </a:prstGeom>
          <a:noFill/>
          <a:ln/>
        </p:spPr>
        <p:txBody>
          <a:bodyPr wrap="square" lIns="0" tIns="0" rIns="0" bIns="0" rtlCol="0" anchor="t"/>
          <a:lstStyle/>
          <a:p>
            <a:pPr indent="0" marL="0">
              <a:buNone/>
            </a:pPr>
            <a:r>
              <a:rPr lang="en-US" sz="1500" dirty="0">
                <a:solidFill>
                  <a:schemeClr val="tx1"/>
                </a:solidFill>
              </a:rPr>
              <a:t>Unreliable deliveries</a:t>
            </a:r>
            <a:endParaRPr lang="en-US" sz="1500" dirty="0"/>
          </a:p>
        </p:txBody>
      </p:sp>
      <p:pic>
        <p:nvPicPr>
          <p:cNvPr id="21" name="Image 9" descr="preencoded.png">    </p:cNvPr>
          <p:cNvPicPr>
            <a:picLocks noChangeAspect="1"/>
          </p:cNvPicPr>
          <p:nvPr/>
        </p:nvPicPr>
        <p:blipFill>
          <a:blip r:embed="rId10"/>
          <a:stretch>
            <a:fillRect/>
          </a:stretch>
        </p:blipFill>
        <p:spPr>
          <a:xfrm>
            <a:off x="5989320" y="3182112"/>
            <a:ext cx="182880" cy="182880"/>
          </a:xfrm>
          <a:prstGeom prst="rect">
            <a:avLst/>
          </a:prstGeom>
        </p:spPr>
      </p:pic>
      <p:sp>
        <p:nvSpPr>
          <p:cNvPr id="22" name="Text 10"/>
          <p:cNvSpPr txBox="1"/>
          <p:nvPr/>
        </p:nvSpPr>
        <p:spPr>
          <a:xfrm>
            <a:off x="6300216" y="3145536"/>
            <a:ext cx="2340864" cy="320040"/>
          </a:xfrm>
          <a:prstGeom prst="rect">
            <a:avLst/>
          </a:prstGeom>
          <a:noFill/>
          <a:ln/>
        </p:spPr>
        <p:txBody>
          <a:bodyPr wrap="square" lIns="0" tIns="0" rIns="0" bIns="0" rtlCol="0" anchor="t"/>
          <a:lstStyle/>
          <a:p>
            <a:pPr indent="0" marL="0">
              <a:buNone/>
            </a:pPr>
            <a:r>
              <a:rPr lang="en-US" sz="1500" dirty="0">
                <a:solidFill>
                  <a:schemeClr val="tx1"/>
                </a:solidFill>
              </a:rPr>
              <a:t>Material not ready</a:t>
            </a:r>
            <a:endParaRPr lang="en-US" sz="1500" dirty="0"/>
          </a:p>
        </p:txBody>
      </p:sp>
      <p:sp>
        <p:nvSpPr>
          <p:cNvPr id="23" name="Text 11"/>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700" b="1" dirty="0">
                <a:solidFill>
                  <a:schemeClr val="tx2"/>
                </a:solidFill>
              </a:rPr>
              <a:t>Every leak on the right is ours. So is the fix.</a:t>
            </a:r>
            <a:endParaRPr lang="en-US" sz="17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One order, five ways to lose a roofer</a:t>
            </a:r>
            <a:endParaRPr lang="en-US" sz="2800" dirty="0"/>
          </a:p>
        </p:txBody>
      </p:sp>
      <p:sp>
        <p:nvSpPr>
          <p:cNvPr id="3" name="Text 1"/>
          <p:cNvSpPr txBox="1"/>
          <p:nvPr/>
        </p:nvSpPr>
        <p:spPr>
          <a:xfrm>
            <a:off x="548640" y="914400"/>
            <a:ext cx="5486400" cy="274320"/>
          </a:xfrm>
          <a:prstGeom prst="rect">
            <a:avLst/>
          </a:prstGeom>
          <a:noFill/>
          <a:ln/>
        </p:spPr>
        <p:txBody>
          <a:bodyPr wrap="square" lIns="0" tIns="0" rIns="0" bIns="0" rtlCol="0" anchor="t"/>
          <a:lstStyle/>
          <a:p>
            <a:pPr indent="0" marL="0">
              <a:buNone/>
            </a:pPr>
            <a:r>
              <a:rPr lang="en-US" sz="1200" i="1" dirty="0">
                <a:solidFill>
                  <a:srgbClr val="5F5D5E"/>
                </a:solidFill>
              </a:rPr>
              <a:t>A composite of real customer feedback</a:t>
            </a:r>
            <a:endParaRPr lang="en-US" sz="1200" dirty="0"/>
          </a:p>
        </p:txBody>
      </p:sp>
      <p:sp>
        <p:nvSpPr>
          <p:cNvPr id="4" name="Shape 2"/>
          <p:cNvSpPr/>
          <p:nvPr/>
        </p:nvSpPr>
        <p:spPr>
          <a:xfrm>
            <a:off x="548640" y="2514600"/>
            <a:ext cx="8046720" cy="0"/>
          </a:xfrm>
          <a:prstGeom prst="line">
            <a:avLst/>
          </a:prstGeom>
          <a:noFill/>
          <a:ln w="19050">
            <a:solidFill>
              <a:srgbClr val="BCBEC0"/>
            </a:solidFill>
            <a:prstDash val="solid"/>
          </a:ln>
        </p:spPr>
      </p:sp>
      <p:sp>
        <p:nvSpPr>
          <p:cNvPr id="5" name="Text 3"/>
          <p:cNvSpPr txBox="1"/>
          <p:nvPr/>
        </p:nvSpPr>
        <p:spPr>
          <a:xfrm>
            <a:off x="548640" y="1417320"/>
            <a:ext cx="1426464" cy="274320"/>
          </a:xfrm>
          <a:prstGeom prst="rect">
            <a:avLst/>
          </a:prstGeom>
          <a:noFill/>
          <a:ln/>
        </p:spPr>
        <p:txBody>
          <a:bodyPr wrap="square" lIns="0" tIns="0" rIns="0" bIns="0" rtlCol="0" anchor="t"/>
          <a:lstStyle/>
          <a:p>
            <a:pPr indent="0" marL="0">
              <a:buNone/>
            </a:pPr>
            <a:r>
              <a:rPr lang="en-US" sz="1500" b="1" dirty="0">
                <a:solidFill>
                  <a:schemeClr val="tx2"/>
                </a:solidFill>
              </a:rPr>
              <a:t>They order</a:t>
            </a:r>
            <a:endParaRPr lang="en-US" sz="1500" dirty="0"/>
          </a:p>
        </p:txBody>
      </p:sp>
      <p:sp>
        <p:nvSpPr>
          <p:cNvPr id="6" name="Text 4"/>
          <p:cNvSpPr txBox="1"/>
          <p:nvPr/>
        </p:nvSpPr>
        <p:spPr>
          <a:xfrm>
            <a:off x="548640" y="1719072"/>
            <a:ext cx="1426464" cy="594360"/>
          </a:xfrm>
          <a:prstGeom prst="rect">
            <a:avLst/>
          </a:prstGeom>
          <a:noFill/>
          <a:ln/>
        </p:spPr>
        <p:txBody>
          <a:bodyPr wrap="square" lIns="0" tIns="0" rIns="0" bIns="0" rtlCol="0" anchor="t"/>
          <a:lstStyle/>
          <a:p>
            <a:pPr indent="0" marL="0">
              <a:buNone/>
            </a:pPr>
            <a:r>
              <a:rPr lang="en-US" sz="1200" i="1" dirty="0">
                <a:solidFill>
                  <a:srgbClr val="5F5D5E"/>
                </a:solidFill>
              </a:rPr>
              <a:t>“24 drums of white silicone.”</a:t>
            </a:r>
            <a:endParaRPr lang="en-US" sz="1200" dirty="0"/>
          </a:p>
        </p:txBody>
      </p:sp>
      <p:sp>
        <p:nvSpPr>
          <p:cNvPr id="7" name="Shape 5"/>
          <p:cNvSpPr/>
          <p:nvPr/>
        </p:nvSpPr>
        <p:spPr>
          <a:xfrm>
            <a:off x="548640" y="2395728"/>
            <a:ext cx="237744" cy="237744"/>
          </a:xfrm>
          <a:prstGeom prst="ellipse">
            <a:avLst/>
          </a:prstGeom>
          <a:solidFill>
            <a:schemeClr val="accent3"/>
          </a:solidFill>
          <a:ln w="25400">
            <a:solidFill>
              <a:schemeClr val="bg1"/>
            </a:solidFill>
            <a:prstDash val="solid"/>
          </a:ln>
        </p:spPr>
      </p:sp>
      <p:sp>
        <p:nvSpPr>
          <p:cNvPr id="8" name="Text 6"/>
          <p:cNvSpPr txBox="1"/>
          <p:nvPr/>
        </p:nvSpPr>
        <p:spPr>
          <a:xfrm>
            <a:off x="548640" y="2788920"/>
            <a:ext cx="1426464" cy="777240"/>
          </a:xfrm>
          <a:prstGeom prst="rect">
            <a:avLst/>
          </a:prstGeom>
          <a:noFill/>
          <a:ln/>
        </p:spPr>
        <p:txBody>
          <a:bodyPr wrap="square" lIns="0" tIns="0" rIns="0" bIns="0" rtlCol="0" anchor="t"/>
          <a:lstStyle/>
          <a:p>
            <a:pPr indent="0" marL="0">
              <a:buNone/>
            </a:pPr>
            <a:r>
              <a:rPr lang="en-US" sz="1300" dirty="0">
                <a:solidFill>
                  <a:schemeClr val="tx1"/>
                </a:solidFill>
              </a:rPr>
              <a:t>We send a 200-SKU list and ask for the SAP number.</a:t>
            </a:r>
            <a:endParaRPr lang="en-US" sz="1300" dirty="0"/>
          </a:p>
        </p:txBody>
      </p:sp>
      <p:sp>
        <p:nvSpPr>
          <p:cNvPr id="9" name="Text 7"/>
          <p:cNvSpPr txBox="1"/>
          <p:nvPr/>
        </p:nvSpPr>
        <p:spPr>
          <a:xfrm>
            <a:off x="548640" y="3611880"/>
            <a:ext cx="1426464" cy="228600"/>
          </a:xfrm>
          <a:prstGeom prst="rect">
            <a:avLst/>
          </a:prstGeom>
          <a:noFill/>
          <a:ln/>
        </p:spPr>
        <p:txBody>
          <a:bodyPr wrap="square" lIns="0" tIns="0" rIns="0" bIns="0" rtlCol="0" anchor="t"/>
          <a:lstStyle/>
          <a:p>
            <a:pPr indent="0" marL="0">
              <a:buNone/>
            </a:pPr>
            <a:r>
              <a:rPr lang="en-US" sz="1100" b="1" dirty="0">
                <a:solidFill>
                  <a:schemeClr val="accent3"/>
                </a:solidFill>
              </a:rPr>
              <a:t>Leak 1</a:t>
            </a:r>
            <a:endParaRPr lang="en-US" sz="1100" dirty="0"/>
          </a:p>
        </p:txBody>
      </p:sp>
      <p:sp>
        <p:nvSpPr>
          <p:cNvPr id="10" name="Text 8"/>
          <p:cNvSpPr txBox="1"/>
          <p:nvPr/>
        </p:nvSpPr>
        <p:spPr>
          <a:xfrm>
            <a:off x="2157984" y="1417320"/>
            <a:ext cx="1426464" cy="274320"/>
          </a:xfrm>
          <a:prstGeom prst="rect">
            <a:avLst/>
          </a:prstGeom>
          <a:noFill/>
          <a:ln/>
        </p:spPr>
        <p:txBody>
          <a:bodyPr wrap="square" lIns="0" tIns="0" rIns="0" bIns="0" rtlCol="0" anchor="t"/>
          <a:lstStyle/>
          <a:p>
            <a:pPr indent="0" marL="0">
              <a:buNone/>
            </a:pPr>
            <a:r>
              <a:rPr lang="en-US" sz="1500" b="1" dirty="0">
                <a:solidFill>
                  <a:schemeClr val="tx2"/>
                </a:solidFill>
              </a:rPr>
              <a:t>They ask</a:t>
            </a:r>
            <a:endParaRPr lang="en-US" sz="1500" dirty="0"/>
          </a:p>
        </p:txBody>
      </p:sp>
      <p:sp>
        <p:nvSpPr>
          <p:cNvPr id="11" name="Text 9"/>
          <p:cNvSpPr txBox="1"/>
          <p:nvPr/>
        </p:nvSpPr>
        <p:spPr>
          <a:xfrm>
            <a:off x="2157984" y="1719072"/>
            <a:ext cx="1426464" cy="594360"/>
          </a:xfrm>
          <a:prstGeom prst="rect">
            <a:avLst/>
          </a:prstGeom>
          <a:noFill/>
          <a:ln/>
        </p:spPr>
        <p:txBody>
          <a:bodyPr wrap="square" lIns="0" tIns="0" rIns="0" bIns="0" rtlCol="0" anchor="t"/>
          <a:lstStyle/>
          <a:p>
            <a:pPr indent="0" marL="0">
              <a:buNone/>
            </a:pPr>
            <a:r>
              <a:rPr lang="en-US" sz="1200" i="1" dirty="0">
                <a:solidFill>
                  <a:srgbClr val="5F5D5E"/>
                </a:solidFill>
              </a:rPr>
              <a:t>A question about the order.</a:t>
            </a:r>
            <a:endParaRPr lang="en-US" sz="1200" dirty="0"/>
          </a:p>
        </p:txBody>
      </p:sp>
      <p:sp>
        <p:nvSpPr>
          <p:cNvPr id="12" name="Shape 10"/>
          <p:cNvSpPr/>
          <p:nvPr/>
        </p:nvSpPr>
        <p:spPr>
          <a:xfrm>
            <a:off x="2157984" y="2395728"/>
            <a:ext cx="237744" cy="237744"/>
          </a:xfrm>
          <a:prstGeom prst="ellipse">
            <a:avLst/>
          </a:prstGeom>
          <a:solidFill>
            <a:schemeClr val="accent3"/>
          </a:solidFill>
          <a:ln w="25400">
            <a:solidFill>
              <a:schemeClr val="bg1"/>
            </a:solidFill>
            <a:prstDash val="solid"/>
          </a:ln>
        </p:spPr>
      </p:sp>
      <p:sp>
        <p:nvSpPr>
          <p:cNvPr id="13" name="Text 11"/>
          <p:cNvSpPr txBox="1"/>
          <p:nvPr/>
        </p:nvSpPr>
        <p:spPr>
          <a:xfrm>
            <a:off x="2157984" y="2788920"/>
            <a:ext cx="1426464" cy="777240"/>
          </a:xfrm>
          <a:prstGeom prst="rect">
            <a:avLst/>
          </a:prstGeom>
          <a:noFill/>
          <a:ln/>
        </p:spPr>
        <p:txBody>
          <a:bodyPr wrap="square" lIns="0" tIns="0" rIns="0" bIns="0" rtlCol="0" anchor="t"/>
          <a:lstStyle/>
          <a:p>
            <a:pPr indent="0" marL="0">
              <a:buNone/>
            </a:pPr>
            <a:r>
              <a:rPr lang="en-US" sz="1300" dirty="0">
                <a:solidFill>
                  <a:schemeClr val="tx1"/>
                </a:solidFill>
              </a:rPr>
              <a:t>The answer takes more than 24 hours.</a:t>
            </a:r>
            <a:endParaRPr lang="en-US" sz="1300" dirty="0"/>
          </a:p>
        </p:txBody>
      </p:sp>
      <p:sp>
        <p:nvSpPr>
          <p:cNvPr id="14" name="Text 12"/>
          <p:cNvSpPr txBox="1"/>
          <p:nvPr/>
        </p:nvSpPr>
        <p:spPr>
          <a:xfrm>
            <a:off x="2157984" y="3611880"/>
            <a:ext cx="1426464" cy="228600"/>
          </a:xfrm>
          <a:prstGeom prst="rect">
            <a:avLst/>
          </a:prstGeom>
          <a:noFill/>
          <a:ln/>
        </p:spPr>
        <p:txBody>
          <a:bodyPr wrap="square" lIns="0" tIns="0" rIns="0" bIns="0" rtlCol="0" anchor="t"/>
          <a:lstStyle/>
          <a:p>
            <a:pPr indent="0" marL="0">
              <a:buNone/>
            </a:pPr>
            <a:r>
              <a:rPr lang="en-US" sz="1100" b="1" dirty="0">
                <a:solidFill>
                  <a:schemeClr val="accent3"/>
                </a:solidFill>
              </a:rPr>
              <a:t>Leak 1</a:t>
            </a:r>
            <a:endParaRPr lang="en-US" sz="1100" dirty="0"/>
          </a:p>
        </p:txBody>
      </p:sp>
      <p:sp>
        <p:nvSpPr>
          <p:cNvPr id="15" name="Text 13"/>
          <p:cNvSpPr txBox="1"/>
          <p:nvPr/>
        </p:nvSpPr>
        <p:spPr>
          <a:xfrm>
            <a:off x="3767328" y="1417320"/>
            <a:ext cx="1426464" cy="274320"/>
          </a:xfrm>
          <a:prstGeom prst="rect">
            <a:avLst/>
          </a:prstGeom>
          <a:noFill/>
          <a:ln/>
        </p:spPr>
        <p:txBody>
          <a:bodyPr wrap="square" lIns="0" tIns="0" rIns="0" bIns="0" rtlCol="0" anchor="t"/>
          <a:lstStyle/>
          <a:p>
            <a:pPr indent="0" marL="0">
              <a:buNone/>
            </a:pPr>
            <a:r>
              <a:rPr lang="en-US" sz="1500" b="1" dirty="0">
                <a:solidFill>
                  <a:schemeClr val="tx2"/>
                </a:solidFill>
              </a:rPr>
              <a:t>They need it</a:t>
            </a:r>
            <a:endParaRPr lang="en-US" sz="1500" dirty="0"/>
          </a:p>
        </p:txBody>
      </p:sp>
      <p:sp>
        <p:nvSpPr>
          <p:cNvPr id="16" name="Text 14"/>
          <p:cNvSpPr txBox="1"/>
          <p:nvPr/>
        </p:nvSpPr>
        <p:spPr>
          <a:xfrm>
            <a:off x="3767328" y="1719072"/>
            <a:ext cx="1426464" cy="594360"/>
          </a:xfrm>
          <a:prstGeom prst="rect">
            <a:avLst/>
          </a:prstGeom>
          <a:noFill/>
          <a:ln/>
        </p:spPr>
        <p:txBody>
          <a:bodyPr wrap="square" lIns="0" tIns="0" rIns="0" bIns="0" rtlCol="0" anchor="t"/>
          <a:lstStyle/>
          <a:p>
            <a:pPr indent="0" marL="0">
              <a:buNone/>
            </a:pPr>
            <a:r>
              <a:rPr lang="en-US" sz="1200" i="1" dirty="0">
                <a:solidFill>
                  <a:srgbClr val="5F5D5E"/>
                </a:solidFill>
              </a:rPr>
              <a:t>Kingman is out of PG988.</a:t>
            </a:r>
            <a:endParaRPr lang="en-US" sz="1200" dirty="0"/>
          </a:p>
        </p:txBody>
      </p:sp>
      <p:sp>
        <p:nvSpPr>
          <p:cNvPr id="17" name="Shape 15"/>
          <p:cNvSpPr/>
          <p:nvPr/>
        </p:nvSpPr>
        <p:spPr>
          <a:xfrm>
            <a:off x="3767328" y="2395728"/>
            <a:ext cx="237744" cy="237744"/>
          </a:xfrm>
          <a:prstGeom prst="ellipse">
            <a:avLst/>
          </a:prstGeom>
          <a:solidFill>
            <a:schemeClr val="accent3"/>
          </a:solidFill>
          <a:ln w="25400">
            <a:solidFill>
              <a:schemeClr val="bg1"/>
            </a:solidFill>
            <a:prstDash val="solid"/>
          </a:ln>
        </p:spPr>
      </p:sp>
      <p:sp>
        <p:nvSpPr>
          <p:cNvPr id="18" name="Text 16"/>
          <p:cNvSpPr txBox="1"/>
          <p:nvPr/>
        </p:nvSpPr>
        <p:spPr>
          <a:xfrm>
            <a:off x="3767328" y="2788920"/>
            <a:ext cx="1426464" cy="777240"/>
          </a:xfrm>
          <a:prstGeom prst="rect">
            <a:avLst/>
          </a:prstGeom>
          <a:noFill/>
          <a:ln/>
        </p:spPr>
        <p:txBody>
          <a:bodyPr wrap="square" lIns="0" tIns="0" rIns="0" bIns="0" rtlCol="0" anchor="t"/>
          <a:lstStyle/>
          <a:p>
            <a:pPr indent="0" marL="0">
              <a:buNone/>
            </a:pPr>
            <a:r>
              <a:rPr lang="en-US" sz="1300" dirty="0">
                <a:solidFill>
                  <a:schemeClr val="tx1"/>
                </a:solidFill>
              </a:rPr>
              <a:t>Carson has it. Nobody offers to ship it.</a:t>
            </a:r>
            <a:endParaRPr lang="en-US" sz="1300" dirty="0"/>
          </a:p>
        </p:txBody>
      </p:sp>
      <p:sp>
        <p:nvSpPr>
          <p:cNvPr id="19" name="Text 17"/>
          <p:cNvSpPr txBox="1"/>
          <p:nvPr/>
        </p:nvSpPr>
        <p:spPr>
          <a:xfrm>
            <a:off x="3767328" y="3611880"/>
            <a:ext cx="1426464" cy="228600"/>
          </a:xfrm>
          <a:prstGeom prst="rect">
            <a:avLst/>
          </a:prstGeom>
          <a:noFill/>
          <a:ln/>
        </p:spPr>
        <p:txBody>
          <a:bodyPr wrap="square" lIns="0" tIns="0" rIns="0" bIns="0" rtlCol="0" anchor="t"/>
          <a:lstStyle/>
          <a:p>
            <a:pPr indent="0" marL="0">
              <a:buNone/>
            </a:pPr>
            <a:r>
              <a:rPr lang="en-US" sz="1100" b="1" dirty="0">
                <a:solidFill>
                  <a:schemeClr val="accent3"/>
                </a:solidFill>
              </a:rPr>
              <a:t>Leak 1</a:t>
            </a:r>
            <a:endParaRPr lang="en-US" sz="1100" dirty="0"/>
          </a:p>
        </p:txBody>
      </p:sp>
      <p:sp>
        <p:nvSpPr>
          <p:cNvPr id="20" name="Text 18"/>
          <p:cNvSpPr txBox="1"/>
          <p:nvPr/>
        </p:nvSpPr>
        <p:spPr>
          <a:xfrm>
            <a:off x="5376672" y="1417320"/>
            <a:ext cx="1426464" cy="274320"/>
          </a:xfrm>
          <a:prstGeom prst="rect">
            <a:avLst/>
          </a:prstGeom>
          <a:noFill/>
          <a:ln/>
        </p:spPr>
        <p:txBody>
          <a:bodyPr wrap="square" lIns="0" tIns="0" rIns="0" bIns="0" rtlCol="0" anchor="t"/>
          <a:lstStyle/>
          <a:p>
            <a:pPr indent="0" marL="0">
              <a:buNone/>
            </a:pPr>
            <a:r>
              <a:rPr lang="en-US" sz="1500" b="1" dirty="0">
                <a:solidFill>
                  <a:schemeClr val="tx2"/>
                </a:solidFill>
              </a:rPr>
              <a:t>We ship</a:t>
            </a:r>
            <a:endParaRPr lang="en-US" sz="1500" dirty="0"/>
          </a:p>
        </p:txBody>
      </p:sp>
      <p:sp>
        <p:nvSpPr>
          <p:cNvPr id="21" name="Text 19"/>
          <p:cNvSpPr txBox="1"/>
          <p:nvPr/>
        </p:nvSpPr>
        <p:spPr>
          <a:xfrm>
            <a:off x="5376672" y="1719072"/>
            <a:ext cx="1426464" cy="594360"/>
          </a:xfrm>
          <a:prstGeom prst="rect">
            <a:avLst/>
          </a:prstGeom>
          <a:noFill/>
          <a:ln/>
        </p:spPr>
        <p:txBody>
          <a:bodyPr wrap="square" lIns="0" tIns="0" rIns="0" bIns="0" rtlCol="0" anchor="t"/>
          <a:lstStyle/>
          <a:p>
            <a:pPr indent="0" marL="0">
              <a:buNone/>
            </a:pPr>
            <a:r>
              <a:rPr lang="en-US" sz="1200" i="1" dirty="0">
                <a:solidFill>
                  <a:srgbClr val="5F5D5E"/>
                </a:solidFill>
              </a:rPr>
              <a:t>Earlier than planned.</a:t>
            </a:r>
            <a:endParaRPr lang="en-US" sz="1200" dirty="0"/>
          </a:p>
        </p:txBody>
      </p:sp>
      <p:sp>
        <p:nvSpPr>
          <p:cNvPr id="22" name="Shape 20"/>
          <p:cNvSpPr/>
          <p:nvPr/>
        </p:nvSpPr>
        <p:spPr>
          <a:xfrm>
            <a:off x="5376672" y="2395728"/>
            <a:ext cx="237744" cy="237744"/>
          </a:xfrm>
          <a:prstGeom prst="ellipse">
            <a:avLst/>
          </a:prstGeom>
          <a:solidFill>
            <a:schemeClr val="accent3"/>
          </a:solidFill>
          <a:ln w="25400">
            <a:solidFill>
              <a:schemeClr val="bg1"/>
            </a:solidFill>
            <a:prstDash val="solid"/>
          </a:ln>
        </p:spPr>
      </p:sp>
      <p:sp>
        <p:nvSpPr>
          <p:cNvPr id="23" name="Text 21"/>
          <p:cNvSpPr txBox="1"/>
          <p:nvPr/>
        </p:nvSpPr>
        <p:spPr>
          <a:xfrm>
            <a:off x="5376672" y="2788920"/>
            <a:ext cx="1426464" cy="777240"/>
          </a:xfrm>
          <a:prstGeom prst="rect">
            <a:avLst/>
          </a:prstGeom>
          <a:noFill/>
          <a:ln/>
        </p:spPr>
        <p:txBody>
          <a:bodyPr wrap="square" lIns="0" tIns="0" rIns="0" bIns="0" rtlCol="0" anchor="t"/>
          <a:lstStyle/>
          <a:p>
            <a:pPr indent="0" marL="0">
              <a:buNone/>
            </a:pPr>
            <a:r>
              <a:rPr lang="en-US" sz="1300" dirty="0">
                <a:solidFill>
                  <a:schemeClr val="tx1"/>
                </a:solidFill>
              </a:rPr>
              <a:t>No call first. No one on site to sign for it.</a:t>
            </a:r>
            <a:endParaRPr lang="en-US" sz="1300" dirty="0"/>
          </a:p>
        </p:txBody>
      </p:sp>
      <p:sp>
        <p:nvSpPr>
          <p:cNvPr id="24" name="Text 22"/>
          <p:cNvSpPr txBox="1"/>
          <p:nvPr/>
        </p:nvSpPr>
        <p:spPr>
          <a:xfrm>
            <a:off x="5376672" y="3611880"/>
            <a:ext cx="1426464" cy="228600"/>
          </a:xfrm>
          <a:prstGeom prst="rect">
            <a:avLst/>
          </a:prstGeom>
          <a:noFill/>
          <a:ln/>
        </p:spPr>
        <p:txBody>
          <a:bodyPr wrap="square" lIns="0" tIns="0" rIns="0" bIns="0" rtlCol="0" anchor="t"/>
          <a:lstStyle/>
          <a:p>
            <a:pPr indent="0" marL="0">
              <a:buNone/>
            </a:pPr>
            <a:r>
              <a:rPr lang="en-US" sz="1100" b="1" dirty="0">
                <a:solidFill>
                  <a:schemeClr val="accent3"/>
                </a:solidFill>
              </a:rPr>
              <a:t>Leak 3</a:t>
            </a:r>
            <a:endParaRPr lang="en-US" sz="1100" dirty="0"/>
          </a:p>
        </p:txBody>
      </p:sp>
      <p:sp>
        <p:nvSpPr>
          <p:cNvPr id="25" name="Text 23"/>
          <p:cNvSpPr txBox="1"/>
          <p:nvPr/>
        </p:nvSpPr>
        <p:spPr>
          <a:xfrm>
            <a:off x="6986016" y="1417320"/>
            <a:ext cx="1426464" cy="274320"/>
          </a:xfrm>
          <a:prstGeom prst="rect">
            <a:avLst/>
          </a:prstGeom>
          <a:noFill/>
          <a:ln/>
        </p:spPr>
        <p:txBody>
          <a:bodyPr wrap="square" lIns="0" tIns="0" rIns="0" bIns="0" rtlCol="0" anchor="t"/>
          <a:lstStyle/>
          <a:p>
            <a:pPr indent="0" marL="0">
              <a:buNone/>
            </a:pPr>
            <a:r>
              <a:rPr lang="en-US" sz="1500" b="1" dirty="0">
                <a:solidFill>
                  <a:schemeClr val="tx2"/>
                </a:solidFill>
              </a:rPr>
              <a:t>It lands</a:t>
            </a:r>
            <a:endParaRPr lang="en-US" sz="1500" dirty="0"/>
          </a:p>
        </p:txBody>
      </p:sp>
      <p:sp>
        <p:nvSpPr>
          <p:cNvPr id="26" name="Text 24"/>
          <p:cNvSpPr txBox="1"/>
          <p:nvPr/>
        </p:nvSpPr>
        <p:spPr>
          <a:xfrm>
            <a:off x="6986016" y="1719072"/>
            <a:ext cx="1426464" cy="594360"/>
          </a:xfrm>
          <a:prstGeom prst="rect">
            <a:avLst/>
          </a:prstGeom>
          <a:noFill/>
          <a:ln/>
        </p:spPr>
        <p:txBody>
          <a:bodyPr wrap="square" lIns="0" tIns="0" rIns="0" bIns="0" rtlCol="0" anchor="t"/>
          <a:lstStyle/>
          <a:p>
            <a:pPr indent="0" marL="0">
              <a:buNone/>
            </a:pPr>
            <a:r>
              <a:rPr lang="en-US" sz="1200" i="1" dirty="0">
                <a:solidFill>
                  <a:srgbClr val="5F5D5E"/>
                </a:solidFill>
              </a:rPr>
              <a:t>The drums arrive.</a:t>
            </a:r>
            <a:endParaRPr lang="en-US" sz="1200" dirty="0"/>
          </a:p>
        </p:txBody>
      </p:sp>
      <p:sp>
        <p:nvSpPr>
          <p:cNvPr id="27" name="Shape 25"/>
          <p:cNvSpPr/>
          <p:nvPr/>
        </p:nvSpPr>
        <p:spPr>
          <a:xfrm>
            <a:off x="6986016" y="2395728"/>
            <a:ext cx="237744" cy="237744"/>
          </a:xfrm>
          <a:prstGeom prst="ellipse">
            <a:avLst/>
          </a:prstGeom>
          <a:solidFill>
            <a:schemeClr val="accent3"/>
          </a:solidFill>
          <a:ln w="25400">
            <a:solidFill>
              <a:schemeClr val="bg1"/>
            </a:solidFill>
            <a:prstDash val="solid"/>
          </a:ln>
        </p:spPr>
      </p:sp>
      <p:sp>
        <p:nvSpPr>
          <p:cNvPr id="28" name="Text 26"/>
          <p:cNvSpPr txBox="1"/>
          <p:nvPr/>
        </p:nvSpPr>
        <p:spPr>
          <a:xfrm>
            <a:off x="6986016" y="2788920"/>
            <a:ext cx="1426464" cy="777240"/>
          </a:xfrm>
          <a:prstGeom prst="rect">
            <a:avLst/>
          </a:prstGeom>
          <a:noFill/>
          <a:ln/>
        </p:spPr>
        <p:txBody>
          <a:bodyPr wrap="square" lIns="0" tIns="0" rIns="0" bIns="0" rtlCol="0" anchor="t"/>
          <a:lstStyle/>
          <a:p>
            <a:pPr indent="0" marL="0">
              <a:buNone/>
            </a:pPr>
            <a:r>
              <a:rPr lang="en-US" sz="1300" dirty="0">
                <a:solidFill>
                  <a:schemeClr val="tx1"/>
                </a:solidFill>
              </a:rPr>
              <a:t>The primer doesn't. The job can't start.</a:t>
            </a:r>
            <a:endParaRPr lang="en-US" sz="1300" dirty="0"/>
          </a:p>
        </p:txBody>
      </p:sp>
      <p:sp>
        <p:nvSpPr>
          <p:cNvPr id="29" name="Text 27"/>
          <p:cNvSpPr txBox="1"/>
          <p:nvPr/>
        </p:nvSpPr>
        <p:spPr>
          <a:xfrm>
            <a:off x="6986016" y="3611880"/>
            <a:ext cx="1426464" cy="228600"/>
          </a:xfrm>
          <a:prstGeom prst="rect">
            <a:avLst/>
          </a:prstGeom>
          <a:noFill/>
          <a:ln/>
        </p:spPr>
        <p:txBody>
          <a:bodyPr wrap="square" lIns="0" tIns="0" rIns="0" bIns="0" rtlCol="0" anchor="t"/>
          <a:lstStyle/>
          <a:p>
            <a:pPr indent="0" marL="0">
              <a:buNone/>
            </a:pPr>
            <a:r>
              <a:rPr lang="en-US" sz="1100" b="1" dirty="0">
                <a:solidFill>
                  <a:schemeClr val="accent3"/>
                </a:solidFill>
              </a:rPr>
              <a:t>Leak 4</a:t>
            </a:r>
            <a:endParaRPr lang="en-US" sz="1100" dirty="0"/>
          </a:p>
        </p:txBody>
      </p:sp>
      <p:sp>
        <p:nvSpPr>
          <p:cNvPr id="30" name="Text 28"/>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700" b="1" dirty="0">
                <a:solidFill>
                  <a:schemeClr val="tx2"/>
                </a:solidFill>
              </a:rPr>
              <a:t>The roofer looks bad in front of the building owner. So does Henry.</a:t>
            </a:r>
            <a:endParaRPr lang="en-US" sz="17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We found five leaks. Every one is fixable.</a:t>
            </a:r>
            <a:endParaRPr lang="en-US" sz="2800" dirty="0"/>
          </a:p>
        </p:txBody>
      </p:sp>
      <p:pic>
        <p:nvPicPr>
          <p:cNvPr id="3" name="Roof plan" descr="preencoded.png">    </p:cNvPr>
          <p:cNvPicPr>
            <a:picLocks noChangeAspect="1"/>
          </p:cNvPicPr>
          <p:nvPr/>
        </p:nvPicPr>
        <p:blipFill>
          <a:blip r:embed="rId1"/>
          <a:stretch>
            <a:fillRect/>
          </a:stretch>
        </p:blipFill>
        <p:spPr>
          <a:xfrm>
            <a:off x="548640" y="1325880"/>
            <a:ext cx="4526280" cy="3017520"/>
          </a:xfrm>
          <a:prstGeom prst="rect">
            <a:avLst/>
          </a:prstGeom>
        </p:spPr>
      </p:pic>
      <p:sp>
        <p:nvSpPr>
          <p:cNvPr id="4" name="Leak ripple 1"/>
          <p:cNvSpPr/>
          <p:nvPr/>
        </p:nvSpPr>
        <p:spPr>
          <a:xfrm>
            <a:off x="1128827" y="2313432"/>
            <a:ext cx="559613" cy="559613"/>
          </a:xfrm>
          <a:prstGeom prst="ellipse">
            <a:avLst/>
          </a:prstGeom>
          <a:solidFill>
            <a:schemeClr val="accent3">
              <a:alpha val="22000"/>
            </a:schemeClr>
          </a:solidFill>
          <a:ln w="12700">
            <a:solidFill>
              <a:schemeClr val="accent3">
                <a:alpha val="0"/>
              </a:schemeClr>
            </a:solidFill>
            <a:prstDash val="solid"/>
          </a:ln>
        </p:spPr>
      </p:sp>
      <p:sp>
        <p:nvSpPr>
          <p:cNvPr id="5" name="Leak marker 1"/>
          <p:cNvSpPr/>
          <p:nvPr/>
        </p:nvSpPr>
        <p:spPr>
          <a:xfrm>
            <a:off x="1244041" y="2428646"/>
            <a:ext cx="329184" cy="329184"/>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Leak ripple 2"/>
          <p:cNvSpPr/>
          <p:nvPr/>
        </p:nvSpPr>
        <p:spPr>
          <a:xfrm>
            <a:off x="3844595" y="2162556"/>
            <a:ext cx="559613" cy="559613"/>
          </a:xfrm>
          <a:prstGeom prst="ellipse">
            <a:avLst/>
          </a:prstGeom>
          <a:solidFill>
            <a:schemeClr val="accent3">
              <a:alpha val="22000"/>
            </a:schemeClr>
          </a:solidFill>
          <a:ln w="12700">
            <a:solidFill>
              <a:schemeClr val="accent3">
                <a:alpha val="0"/>
              </a:schemeClr>
            </a:solidFill>
            <a:prstDash val="solid"/>
          </a:ln>
        </p:spPr>
      </p:sp>
      <p:sp>
        <p:nvSpPr>
          <p:cNvPr id="7" name="Leak marker 2"/>
          <p:cNvSpPr/>
          <p:nvPr/>
        </p:nvSpPr>
        <p:spPr>
          <a:xfrm>
            <a:off x="3959809" y="2277770"/>
            <a:ext cx="329184" cy="329184"/>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Leak ripple 3"/>
          <p:cNvSpPr/>
          <p:nvPr/>
        </p:nvSpPr>
        <p:spPr>
          <a:xfrm>
            <a:off x="2531974" y="3279038"/>
            <a:ext cx="559613" cy="559613"/>
          </a:xfrm>
          <a:prstGeom prst="ellipse">
            <a:avLst/>
          </a:prstGeom>
          <a:solidFill>
            <a:schemeClr val="accent3">
              <a:alpha val="22000"/>
            </a:schemeClr>
          </a:solidFill>
          <a:ln w="12700">
            <a:solidFill>
              <a:schemeClr val="accent3">
                <a:alpha val="0"/>
              </a:schemeClr>
            </a:solidFill>
            <a:prstDash val="solid"/>
          </a:ln>
        </p:spPr>
      </p:sp>
      <p:sp>
        <p:nvSpPr>
          <p:cNvPr id="9" name="Leak marker 3"/>
          <p:cNvSpPr/>
          <p:nvPr/>
        </p:nvSpPr>
        <p:spPr>
          <a:xfrm>
            <a:off x="2647188" y="3394253"/>
            <a:ext cx="329184" cy="329184"/>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0" name="Leak ripple 4"/>
          <p:cNvSpPr/>
          <p:nvPr/>
        </p:nvSpPr>
        <p:spPr>
          <a:xfrm>
            <a:off x="4342486" y="2856586"/>
            <a:ext cx="559613" cy="559613"/>
          </a:xfrm>
          <a:prstGeom prst="ellipse">
            <a:avLst/>
          </a:prstGeom>
          <a:solidFill>
            <a:schemeClr val="accent3">
              <a:alpha val="22000"/>
            </a:schemeClr>
          </a:solidFill>
          <a:ln w="12700">
            <a:solidFill>
              <a:schemeClr val="accent3">
                <a:alpha val="0"/>
              </a:schemeClr>
            </a:solidFill>
            <a:prstDash val="solid"/>
          </a:ln>
        </p:spPr>
      </p:sp>
      <p:sp>
        <p:nvSpPr>
          <p:cNvPr id="11" name="Leak marker 4"/>
          <p:cNvSpPr/>
          <p:nvPr/>
        </p:nvSpPr>
        <p:spPr>
          <a:xfrm>
            <a:off x="4457700" y="2971800"/>
            <a:ext cx="329184" cy="329184"/>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2" name="Leak ripple 5"/>
          <p:cNvSpPr/>
          <p:nvPr/>
        </p:nvSpPr>
        <p:spPr>
          <a:xfrm>
            <a:off x="1219352" y="3460090"/>
            <a:ext cx="559613" cy="559613"/>
          </a:xfrm>
          <a:prstGeom prst="ellipse">
            <a:avLst/>
          </a:prstGeom>
          <a:solidFill>
            <a:schemeClr val="accent3">
              <a:alpha val="22000"/>
            </a:schemeClr>
          </a:solidFill>
          <a:ln w="12700">
            <a:solidFill>
              <a:schemeClr val="accent3">
                <a:alpha val="0"/>
              </a:schemeClr>
            </a:solidFill>
            <a:prstDash val="solid"/>
          </a:ln>
        </p:spPr>
      </p:sp>
      <p:sp>
        <p:nvSpPr>
          <p:cNvPr id="13" name="Leak marker 5"/>
          <p:cNvSpPr/>
          <p:nvPr/>
        </p:nvSpPr>
        <p:spPr>
          <a:xfrm>
            <a:off x="1334567" y="3575304"/>
            <a:ext cx="329184" cy="329184"/>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4" name="Leak marker 1"/>
          <p:cNvSpPr/>
          <p:nvPr/>
        </p:nvSpPr>
        <p:spPr>
          <a:xfrm>
            <a:off x="5486400" y="1335024"/>
            <a:ext cx="292608" cy="292608"/>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ext 12"/>
          <p:cNvSpPr txBox="1"/>
          <p:nvPr/>
        </p:nvSpPr>
        <p:spPr>
          <a:xfrm>
            <a:off x="5943600" y="1325880"/>
            <a:ext cx="1463040" cy="274320"/>
          </a:xfrm>
          <a:prstGeom prst="rect">
            <a:avLst/>
          </a:prstGeom>
          <a:noFill/>
          <a:ln/>
        </p:spPr>
        <p:txBody>
          <a:bodyPr wrap="square" lIns="0" tIns="0" rIns="0" bIns="0" rtlCol="0" anchor="t"/>
          <a:lstStyle/>
          <a:p>
            <a:pPr indent="0" marL="0">
              <a:buNone/>
            </a:pPr>
            <a:r>
              <a:rPr lang="en-US" sz="1500" b="1" dirty="0">
                <a:solidFill>
                  <a:schemeClr val="tx2"/>
                </a:solidFill>
              </a:rPr>
              <a:t>Service</a:t>
            </a:r>
            <a:endParaRPr lang="en-US" sz="1500" dirty="0"/>
          </a:p>
        </p:txBody>
      </p:sp>
      <p:sp>
        <p:nvSpPr>
          <p:cNvPr id="16" name="Status At risk"/>
          <p:cNvSpPr/>
          <p:nvPr/>
        </p:nvSpPr>
        <p:spPr>
          <a:xfrm>
            <a:off x="7863840" y="1362456"/>
            <a:ext cx="731520" cy="210312"/>
          </a:xfrm>
          <a:prstGeom prst="roundRect">
            <a:avLst>
              <a:gd name="adj" fmla="val 47826"/>
            </a:avLst>
          </a:prstGeom>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17" name="Text 14"/>
          <p:cNvSpPr txBox="1"/>
          <p:nvPr/>
        </p:nvSpPr>
        <p:spPr>
          <a:xfrm>
            <a:off x="5943600" y="1600200"/>
            <a:ext cx="2651760" cy="274320"/>
          </a:xfrm>
          <a:prstGeom prst="rect">
            <a:avLst/>
          </a:prstGeom>
          <a:noFill/>
          <a:ln/>
        </p:spPr>
        <p:txBody>
          <a:bodyPr wrap="square" lIns="0" tIns="0" rIns="0" bIns="0" rtlCol="0" anchor="t"/>
          <a:lstStyle/>
          <a:p>
            <a:pPr indent="0" marL="0">
              <a:buNone/>
            </a:pPr>
            <a:r>
              <a:rPr lang="en-US" sz="1200" dirty="0">
                <a:solidFill>
                  <a:srgbClr val="5F5D5E"/>
                </a:solidFill>
              </a:rPr>
              <a:t>Roofers say we're hard to deal with</a:t>
            </a:r>
            <a:endParaRPr lang="en-US" sz="1200" dirty="0"/>
          </a:p>
        </p:txBody>
      </p:sp>
      <p:sp>
        <p:nvSpPr>
          <p:cNvPr id="18" name="Leak marker 2"/>
          <p:cNvSpPr/>
          <p:nvPr/>
        </p:nvSpPr>
        <p:spPr>
          <a:xfrm>
            <a:off x="5486400" y="1956816"/>
            <a:ext cx="292608" cy="292608"/>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5943600" y="1947672"/>
            <a:ext cx="1463040" cy="274320"/>
          </a:xfrm>
          <a:prstGeom prst="rect">
            <a:avLst/>
          </a:prstGeom>
          <a:noFill/>
          <a:ln/>
        </p:spPr>
        <p:txBody>
          <a:bodyPr wrap="square" lIns="0" tIns="0" rIns="0" bIns="0" rtlCol="0" anchor="t"/>
          <a:lstStyle/>
          <a:p>
            <a:pPr indent="0" marL="0">
              <a:buNone/>
            </a:pPr>
            <a:r>
              <a:rPr lang="en-US" sz="1500" b="1" dirty="0">
                <a:solidFill>
                  <a:schemeClr val="tx2"/>
                </a:solidFill>
              </a:rPr>
              <a:t>Warranty</a:t>
            </a:r>
            <a:endParaRPr lang="en-US" sz="1500" dirty="0"/>
          </a:p>
        </p:txBody>
      </p:sp>
      <p:sp>
        <p:nvSpPr>
          <p:cNvPr id="20" name="Status At risk"/>
          <p:cNvSpPr/>
          <p:nvPr/>
        </p:nvSpPr>
        <p:spPr>
          <a:xfrm>
            <a:off x="7863840" y="1984248"/>
            <a:ext cx="731520" cy="210312"/>
          </a:xfrm>
          <a:prstGeom prst="roundRect">
            <a:avLst>
              <a:gd name="adj" fmla="val 47826"/>
            </a:avLst>
          </a:prstGeom>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21" name="Text 18"/>
          <p:cNvSpPr txBox="1"/>
          <p:nvPr/>
        </p:nvSpPr>
        <p:spPr>
          <a:xfrm>
            <a:off x="5943600" y="2221992"/>
            <a:ext cx="2651760" cy="274320"/>
          </a:xfrm>
          <a:prstGeom prst="rect">
            <a:avLst/>
          </a:prstGeom>
          <a:noFill/>
          <a:ln/>
        </p:spPr>
        <p:txBody>
          <a:bodyPr wrap="square" lIns="0" tIns="0" rIns="0" bIns="0" rtlCol="0" anchor="t"/>
          <a:lstStyle/>
          <a:p>
            <a:pPr indent="0" marL="0">
              <a:buNone/>
            </a:pPr>
            <a:r>
              <a:rPr lang="en-US" sz="1200" dirty="0">
                <a:solidFill>
                  <a:srgbClr val="5F5D5E"/>
                </a:solidFill>
              </a:rPr>
              <a:t>Sign-offs and claims move too slowly</a:t>
            </a:r>
            <a:endParaRPr lang="en-US" sz="1200" dirty="0"/>
          </a:p>
        </p:txBody>
      </p:sp>
      <p:sp>
        <p:nvSpPr>
          <p:cNvPr id="22" name="Leak marker 3"/>
          <p:cNvSpPr/>
          <p:nvPr/>
        </p:nvSpPr>
        <p:spPr>
          <a:xfrm>
            <a:off x="5486400" y="2578608"/>
            <a:ext cx="292608" cy="292608"/>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5943600" y="2569464"/>
            <a:ext cx="1463040" cy="274320"/>
          </a:xfrm>
          <a:prstGeom prst="rect">
            <a:avLst/>
          </a:prstGeom>
          <a:noFill/>
          <a:ln/>
        </p:spPr>
        <p:txBody>
          <a:bodyPr wrap="square" lIns="0" tIns="0" rIns="0" bIns="0" rtlCol="0" anchor="t"/>
          <a:lstStyle/>
          <a:p>
            <a:pPr indent="0" marL="0">
              <a:buNone/>
            </a:pPr>
            <a:r>
              <a:rPr lang="en-US" sz="1500" b="1" dirty="0">
                <a:solidFill>
                  <a:schemeClr val="tx2"/>
                </a:solidFill>
              </a:rPr>
              <a:t>Logistics</a:t>
            </a:r>
            <a:endParaRPr lang="en-US" sz="1500" dirty="0"/>
          </a:p>
        </p:txBody>
      </p:sp>
      <p:sp>
        <p:nvSpPr>
          <p:cNvPr id="24" name="Status Broken"/>
          <p:cNvSpPr/>
          <p:nvPr/>
        </p:nvSpPr>
        <p:spPr>
          <a:xfrm>
            <a:off x="7863840" y="2606040"/>
            <a:ext cx="731520" cy="210312"/>
          </a:xfrm>
          <a:prstGeom prst="roundRect">
            <a:avLst>
              <a:gd name="adj" fmla="val 47826"/>
            </a:avLst>
          </a:prstGeom>
          <a:solidFill>
            <a:schemeClr val="accent3"/>
          </a:solidFill>
          <a:ln/>
        </p:spPr>
        <p:txBody>
          <a:bodyPr wrap="square" lIns="0" tIns="0" rIns="0" bIns="0" rtlCol="0" anchor="ctr"/>
          <a:lstStyle/>
          <a:p>
            <a:pPr algn="ctr" indent="0" marL="0">
              <a:buNone/>
            </a:pPr>
            <a:r>
              <a:rPr lang="en-US" sz="1000" b="1" dirty="0">
                <a:solidFill>
                  <a:schemeClr val="bg1"/>
                </a:solidFill>
              </a:rPr>
              <a:t>Broken</a:t>
            </a:r>
            <a:endParaRPr lang="en-US" sz="1000" dirty="0"/>
          </a:p>
        </p:txBody>
      </p:sp>
      <p:sp>
        <p:nvSpPr>
          <p:cNvPr id="25" name="Text 22"/>
          <p:cNvSpPr txBox="1"/>
          <p:nvPr/>
        </p:nvSpPr>
        <p:spPr>
          <a:xfrm>
            <a:off x="5943600" y="2843784"/>
            <a:ext cx="2651760" cy="274320"/>
          </a:xfrm>
          <a:prstGeom prst="rect">
            <a:avLst/>
          </a:prstGeom>
          <a:noFill/>
          <a:ln/>
        </p:spPr>
        <p:txBody>
          <a:bodyPr wrap="square" lIns="0" tIns="0" rIns="0" bIns="0" rtlCol="0" anchor="t"/>
          <a:lstStyle/>
          <a:p>
            <a:pPr indent="0" marL="0">
              <a:buNone/>
            </a:pPr>
            <a:r>
              <a:rPr lang="en-US" sz="1200" dirty="0">
                <a:solidFill>
                  <a:srgbClr val="5F5D5E"/>
                </a:solidFill>
              </a:rPr>
              <a:t>Deliveries arrive late or unannounced</a:t>
            </a:r>
            <a:endParaRPr lang="en-US" sz="1200" dirty="0"/>
          </a:p>
        </p:txBody>
      </p:sp>
      <p:sp>
        <p:nvSpPr>
          <p:cNvPr id="26" name="Leak marker 4"/>
          <p:cNvSpPr/>
          <p:nvPr/>
        </p:nvSpPr>
        <p:spPr>
          <a:xfrm>
            <a:off x="5486400" y="3200400"/>
            <a:ext cx="292608" cy="292608"/>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7" name="Text 24"/>
          <p:cNvSpPr txBox="1"/>
          <p:nvPr/>
        </p:nvSpPr>
        <p:spPr>
          <a:xfrm>
            <a:off x="5943600" y="3191256"/>
            <a:ext cx="1463040" cy="274320"/>
          </a:xfrm>
          <a:prstGeom prst="rect">
            <a:avLst/>
          </a:prstGeom>
          <a:noFill/>
          <a:ln/>
        </p:spPr>
        <p:txBody>
          <a:bodyPr wrap="square" lIns="0" tIns="0" rIns="0" bIns="0" rtlCol="0" anchor="t"/>
          <a:lstStyle/>
          <a:p>
            <a:pPr indent="0" marL="0">
              <a:buNone/>
            </a:pPr>
            <a:r>
              <a:rPr lang="en-US" sz="1500" b="1" dirty="0">
                <a:solidFill>
                  <a:schemeClr val="tx2"/>
                </a:solidFill>
              </a:rPr>
              <a:t>Material</a:t>
            </a:r>
            <a:endParaRPr lang="en-US" sz="1500" dirty="0"/>
          </a:p>
        </p:txBody>
      </p:sp>
      <p:sp>
        <p:nvSpPr>
          <p:cNvPr id="28" name="Status At risk"/>
          <p:cNvSpPr/>
          <p:nvPr/>
        </p:nvSpPr>
        <p:spPr>
          <a:xfrm>
            <a:off x="7863840" y="3227832"/>
            <a:ext cx="731520" cy="210312"/>
          </a:xfrm>
          <a:prstGeom prst="roundRect">
            <a:avLst>
              <a:gd name="adj" fmla="val 47826"/>
            </a:avLst>
          </a:prstGeom>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29" name="Text 26"/>
          <p:cNvSpPr txBox="1"/>
          <p:nvPr/>
        </p:nvSpPr>
        <p:spPr>
          <a:xfrm>
            <a:off x="5943600" y="3465576"/>
            <a:ext cx="2651760" cy="274320"/>
          </a:xfrm>
          <a:prstGeom prst="rect">
            <a:avLst/>
          </a:prstGeom>
          <a:noFill/>
          <a:ln/>
        </p:spPr>
        <p:txBody>
          <a:bodyPr wrap="square" lIns="0" tIns="0" rIns="0" bIns="0" rtlCol="0" anchor="t"/>
          <a:lstStyle/>
          <a:p>
            <a:pPr indent="0" marL="0">
              <a:buNone/>
            </a:pPr>
            <a:r>
              <a:rPr lang="en-US" sz="1200" dirty="0">
                <a:solidFill>
                  <a:srgbClr val="5F5D5E"/>
                </a:solidFill>
              </a:rPr>
              <a:t>Accessories aren't ready to ship</a:t>
            </a:r>
            <a:endParaRPr lang="en-US" sz="1200" dirty="0"/>
          </a:p>
        </p:txBody>
      </p:sp>
      <p:sp>
        <p:nvSpPr>
          <p:cNvPr id="30" name="Leak marker 5"/>
          <p:cNvSpPr/>
          <p:nvPr/>
        </p:nvSpPr>
        <p:spPr>
          <a:xfrm>
            <a:off x="5486400" y="3822192"/>
            <a:ext cx="292608" cy="292608"/>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1" name="Text 28"/>
          <p:cNvSpPr txBox="1"/>
          <p:nvPr/>
        </p:nvSpPr>
        <p:spPr>
          <a:xfrm>
            <a:off x="5943600" y="3813048"/>
            <a:ext cx="1463040" cy="274320"/>
          </a:xfrm>
          <a:prstGeom prst="rect">
            <a:avLst/>
          </a:prstGeom>
          <a:noFill/>
          <a:ln/>
        </p:spPr>
        <p:txBody>
          <a:bodyPr wrap="square" lIns="0" tIns="0" rIns="0" bIns="0" rtlCol="0" anchor="t"/>
          <a:lstStyle/>
          <a:p>
            <a:pPr indent="0" marL="0">
              <a:buNone/>
            </a:pPr>
            <a:r>
              <a:rPr lang="en-US" sz="1500" b="1" dirty="0">
                <a:solidFill>
                  <a:schemeClr val="tx2"/>
                </a:solidFill>
              </a:rPr>
              <a:t>Leads</a:t>
            </a:r>
            <a:endParaRPr lang="en-US" sz="1500" dirty="0"/>
          </a:p>
        </p:txBody>
      </p:sp>
      <p:sp>
        <p:nvSpPr>
          <p:cNvPr id="32" name="Status Watch"/>
          <p:cNvSpPr/>
          <p:nvPr/>
        </p:nvSpPr>
        <p:spPr>
          <a:xfrm>
            <a:off x="7863840" y="3849624"/>
            <a:ext cx="731520" cy="210312"/>
          </a:xfrm>
          <a:prstGeom prst="roundRect">
            <a:avLst>
              <a:gd name="adj" fmla="val 47826"/>
            </a:avLst>
          </a:prstGeom>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33" name="Text 30"/>
          <p:cNvSpPr txBox="1"/>
          <p:nvPr/>
        </p:nvSpPr>
        <p:spPr>
          <a:xfrm>
            <a:off x="5943600" y="4087368"/>
            <a:ext cx="2651760" cy="274320"/>
          </a:xfrm>
          <a:prstGeom prst="rect">
            <a:avLst/>
          </a:prstGeom>
          <a:noFill/>
          <a:ln/>
        </p:spPr>
        <p:txBody>
          <a:bodyPr wrap="square" lIns="0" tIns="0" rIns="0" bIns="0" rtlCol="0" anchor="t"/>
          <a:lstStyle/>
          <a:p>
            <a:pPr indent="0" marL="0">
              <a:buNone/>
            </a:pPr>
            <a:r>
              <a:rPr lang="en-US" sz="1200" dirty="0">
                <a:solidFill>
                  <a:srgbClr val="5F5D5E"/>
                </a:solidFill>
              </a:rPr>
              <a:t>Leads close, but there are too few</a:t>
            </a:r>
            <a:endParaRPr lang="en-US" sz="12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6583680" cy="868680"/>
          </a:xfrm>
          <a:prstGeom prst="rect">
            <a:avLst/>
          </a:prstGeom>
          <a:noFill/>
          <a:ln/>
        </p:spPr>
        <p:txBody>
          <a:bodyPr wrap="square" lIns="0" tIns="0" rIns="0" bIns="0" rtlCol="0" anchor="t"/>
          <a:lstStyle/>
          <a:p>
            <a:pPr algn="l" indent="0" marL="0">
              <a:buNone/>
            </a:pPr>
            <a:r>
              <a:rPr lang="en-US" sz="2800" b="1" dirty="0">
                <a:solidFill>
                  <a:schemeClr val="tx2"/>
                </a:solidFill>
              </a:rPr>
              <a:t>Leak 1: We’re hard to deal with</a:t>
            </a:r>
            <a:endParaRPr lang="en-US" sz="2800" dirty="0"/>
          </a:p>
        </p:txBody>
      </p:sp>
      <p:pic>
        <p:nvPicPr>
          <p:cNvPr id="3" name="Roof plan" descr="preencoded.png">    </p:cNvPr>
          <p:cNvPicPr>
            <a:picLocks noChangeAspect="1"/>
          </p:cNvPicPr>
          <p:nvPr/>
        </p:nvPicPr>
        <p:blipFill>
          <a:blip r:embed="rId1"/>
          <a:stretch>
            <a:fillRect/>
          </a:stretch>
        </p:blipFill>
        <p:spPr>
          <a:xfrm>
            <a:off x="7498080" y="384048"/>
            <a:ext cx="1097280" cy="731520"/>
          </a:xfrm>
          <a:prstGeom prst="rect">
            <a:avLst/>
          </a:prstGeom>
        </p:spPr>
      </p:pic>
      <p:sp>
        <p:nvSpPr>
          <p:cNvPr id="4" name="Leak marker 1"/>
          <p:cNvSpPr/>
          <p:nvPr/>
        </p:nvSpPr>
        <p:spPr>
          <a:xfrm>
            <a:off x="7615123" y="599846"/>
            <a:ext cx="182880" cy="18288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 name="Leak marker 2"/>
          <p:cNvSpPr/>
          <p:nvPr/>
        </p:nvSpPr>
        <p:spPr>
          <a:xfrm>
            <a:off x="8300923" y="59070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6" name="Leak marker 3"/>
          <p:cNvSpPr/>
          <p:nvPr/>
        </p:nvSpPr>
        <p:spPr>
          <a:xfrm>
            <a:off x="7982712" y="861365"/>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7" name="Leak marker 4"/>
          <p:cNvSpPr/>
          <p:nvPr/>
        </p:nvSpPr>
        <p:spPr>
          <a:xfrm>
            <a:off x="8421624" y="75895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8" name="Leak marker 5"/>
          <p:cNvSpPr/>
          <p:nvPr/>
        </p:nvSpPr>
        <p:spPr>
          <a:xfrm>
            <a:off x="7664501" y="905256"/>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9" name="Text 6"/>
          <p:cNvSpPr txBox="1"/>
          <p:nvPr/>
        </p:nvSpPr>
        <p:spPr>
          <a:xfrm>
            <a:off x="548640" y="1463040"/>
            <a:ext cx="4206240" cy="274320"/>
          </a:xfrm>
          <a:prstGeom prst="rect">
            <a:avLst/>
          </a:prstGeom>
          <a:noFill/>
          <a:ln/>
        </p:spPr>
        <p:txBody>
          <a:bodyPr wrap="square" lIns="0" tIns="0" rIns="0" bIns="0" rtlCol="0" anchor="t"/>
          <a:lstStyle/>
          <a:p>
            <a:pPr indent="0" marL="0">
              <a:buNone/>
            </a:pPr>
            <a:r>
              <a:rPr lang="en-US" sz="1300" b="1" dirty="0">
                <a:solidFill>
                  <a:srgbClr val="5F5D5E"/>
                </a:solidFill>
              </a:rPr>
              <a:t>What roofers live with</a:t>
            </a:r>
            <a:endParaRPr lang="en-US" sz="1300" dirty="0"/>
          </a:p>
        </p:txBody>
      </p:sp>
      <p:pic>
        <p:nvPicPr>
          <p:cNvPr id="10" name="Image 1" descr="preencoded.png">    </p:cNvPr>
          <p:cNvPicPr>
            <a:picLocks noChangeAspect="1"/>
          </p:cNvPicPr>
          <p:nvPr/>
        </p:nvPicPr>
        <p:blipFill>
          <a:blip r:embed="rId2"/>
          <a:stretch>
            <a:fillRect/>
          </a:stretch>
        </p:blipFill>
        <p:spPr>
          <a:xfrm>
            <a:off x="548640" y="1911096"/>
            <a:ext cx="182880" cy="182880"/>
          </a:xfrm>
          <a:prstGeom prst="rect">
            <a:avLst/>
          </a:prstGeom>
        </p:spPr>
      </p:pic>
      <p:sp>
        <p:nvSpPr>
          <p:cNvPr id="11" name="Text 7"/>
          <p:cNvSpPr txBox="1"/>
          <p:nvPr/>
        </p:nvSpPr>
        <p:spPr>
          <a:xfrm>
            <a:off x="859536" y="1874520"/>
            <a:ext cx="3712464" cy="493776"/>
          </a:xfrm>
          <a:prstGeom prst="rect">
            <a:avLst/>
          </a:prstGeom>
          <a:noFill/>
          <a:ln/>
        </p:spPr>
        <p:txBody>
          <a:bodyPr wrap="square" lIns="0" tIns="0" rIns="0" bIns="0" rtlCol="0" anchor="t"/>
          <a:lstStyle/>
          <a:p>
            <a:pPr indent="0" marL="0">
              <a:buNone/>
            </a:pPr>
            <a:r>
              <a:rPr lang="en-US" sz="1500" dirty="0">
                <a:solidFill>
                  <a:schemeClr val="tx1"/>
                </a:solidFill>
              </a:rPr>
              <a:t>They ask for “24 drums of white silicone.” We ask for the SAP number.</a:t>
            </a:r>
            <a:endParaRPr lang="en-US" sz="1500" dirty="0"/>
          </a:p>
        </p:txBody>
      </p:sp>
      <p:pic>
        <p:nvPicPr>
          <p:cNvPr id="12" name="Image 2" descr="preencoded.png">    </p:cNvPr>
          <p:cNvPicPr>
            <a:picLocks noChangeAspect="1"/>
          </p:cNvPicPr>
          <p:nvPr/>
        </p:nvPicPr>
        <p:blipFill>
          <a:blip r:embed="rId3"/>
          <a:stretch>
            <a:fillRect/>
          </a:stretch>
        </p:blipFill>
        <p:spPr>
          <a:xfrm>
            <a:off x="548640" y="2633472"/>
            <a:ext cx="182880" cy="182880"/>
          </a:xfrm>
          <a:prstGeom prst="rect">
            <a:avLst/>
          </a:prstGeom>
        </p:spPr>
      </p:pic>
      <p:sp>
        <p:nvSpPr>
          <p:cNvPr id="13" name="Text 8"/>
          <p:cNvSpPr txBox="1"/>
          <p:nvPr/>
        </p:nvSpPr>
        <p:spPr>
          <a:xfrm>
            <a:off x="859536" y="2596896"/>
            <a:ext cx="3712464" cy="493776"/>
          </a:xfrm>
          <a:prstGeom prst="rect">
            <a:avLst/>
          </a:prstGeom>
          <a:noFill/>
          <a:ln/>
        </p:spPr>
        <p:txBody>
          <a:bodyPr wrap="square" lIns="0" tIns="0" rIns="0" bIns="0" rtlCol="0" anchor="t"/>
          <a:lstStyle/>
          <a:p>
            <a:pPr indent="0" marL="0">
              <a:buNone/>
            </a:pPr>
            <a:r>
              <a:rPr lang="en-US" sz="1500" dirty="0">
                <a:solidFill>
                  <a:schemeClr val="tx1"/>
                </a:solidFill>
              </a:rPr>
              <a:t>Questions, not even orders, wait more than 24 hours.</a:t>
            </a:r>
            <a:endParaRPr lang="en-US" sz="1500" dirty="0"/>
          </a:p>
        </p:txBody>
      </p:sp>
      <p:pic>
        <p:nvPicPr>
          <p:cNvPr id="14" name="Image 3" descr="preencoded.png">    </p:cNvPr>
          <p:cNvPicPr>
            <a:picLocks noChangeAspect="1"/>
          </p:cNvPicPr>
          <p:nvPr/>
        </p:nvPicPr>
        <p:blipFill>
          <a:blip r:embed="rId4"/>
          <a:stretch>
            <a:fillRect/>
          </a:stretch>
        </p:blipFill>
        <p:spPr>
          <a:xfrm>
            <a:off x="548640" y="3355848"/>
            <a:ext cx="182880" cy="182880"/>
          </a:xfrm>
          <a:prstGeom prst="rect">
            <a:avLst/>
          </a:prstGeom>
        </p:spPr>
      </p:pic>
      <p:sp>
        <p:nvSpPr>
          <p:cNvPr id="15" name="Text 9"/>
          <p:cNvSpPr txBox="1"/>
          <p:nvPr/>
        </p:nvSpPr>
        <p:spPr>
          <a:xfrm>
            <a:off x="859536" y="3319272"/>
            <a:ext cx="3712464" cy="493776"/>
          </a:xfrm>
          <a:prstGeom prst="rect">
            <a:avLst/>
          </a:prstGeom>
          <a:noFill/>
          <a:ln/>
        </p:spPr>
        <p:txBody>
          <a:bodyPr wrap="square" lIns="0" tIns="0" rIns="0" bIns="0" rtlCol="0" anchor="t"/>
          <a:lstStyle/>
          <a:p>
            <a:pPr indent="0" marL="0">
              <a:buNone/>
            </a:pPr>
            <a:r>
              <a:rPr lang="en-US" sz="1500" dirty="0">
                <a:solidFill>
                  <a:schemeClr val="tx1"/>
                </a:solidFill>
              </a:rPr>
              <a:t>Kingman is out of PG988. Carson has it. The roofer still waits.</a:t>
            </a:r>
            <a:endParaRPr lang="en-US" sz="1500" dirty="0"/>
          </a:p>
        </p:txBody>
      </p:sp>
      <p:sp>
        <p:nvSpPr>
          <p:cNvPr id="16" name="Repair panel"/>
          <p:cNvSpPr/>
          <p:nvPr/>
        </p:nvSpPr>
        <p:spPr>
          <a:xfrm>
            <a:off x="4937760" y="1463040"/>
            <a:ext cx="3657600" cy="3017520"/>
          </a:xfrm>
          <a:prstGeom prst="rect">
            <a:avLst/>
          </a:prstGeom>
          <a:solidFill>
            <a:schemeClr val="accent1"/>
          </a:solidFill>
          <a:ln w="12700">
            <a:solidFill>
              <a:schemeClr val="accent1"/>
            </a:solidFill>
            <a:prstDash val="solid"/>
          </a:ln>
        </p:spPr>
      </p:sp>
      <p:sp>
        <p:nvSpPr>
          <p:cNvPr id="17" name="Text 11"/>
          <p:cNvSpPr txBox="1"/>
          <p:nvPr/>
        </p:nvSpPr>
        <p:spPr>
          <a:xfrm>
            <a:off x="5166360" y="1645920"/>
            <a:ext cx="3200400" cy="274320"/>
          </a:xfrm>
          <a:prstGeom prst="rect">
            <a:avLst/>
          </a:prstGeom>
          <a:noFill/>
          <a:ln/>
        </p:spPr>
        <p:txBody>
          <a:bodyPr wrap="square" lIns="0" tIns="0" rIns="0" bIns="0" rtlCol="0" anchor="t"/>
          <a:lstStyle/>
          <a:p>
            <a:pPr indent="0" marL="0">
              <a:buNone/>
            </a:pPr>
            <a:r>
              <a:rPr lang="en-US" sz="1600" b="1" dirty="0">
                <a:solidFill>
                  <a:schemeClr val="bg1"/>
                </a:solidFill>
              </a:rPr>
              <a:t>The repair</a:t>
            </a:r>
            <a:endParaRPr lang="en-US" sz="1600" dirty="0"/>
          </a:p>
        </p:txBody>
      </p:sp>
      <p:pic>
        <p:nvPicPr>
          <p:cNvPr id="18" name="Image 4" descr="preencoded.png">    </p:cNvPr>
          <p:cNvPicPr>
            <a:picLocks noChangeAspect="1"/>
          </p:cNvPicPr>
          <p:nvPr/>
        </p:nvPicPr>
        <p:blipFill>
          <a:blip r:embed="rId5"/>
          <a:stretch>
            <a:fillRect/>
          </a:stretch>
        </p:blipFill>
        <p:spPr>
          <a:xfrm>
            <a:off x="5166360" y="2093976"/>
            <a:ext cx="182880" cy="182880"/>
          </a:xfrm>
          <a:prstGeom prst="rect">
            <a:avLst/>
          </a:prstGeom>
        </p:spPr>
      </p:pic>
      <p:sp>
        <p:nvSpPr>
          <p:cNvPr id="19" name="Text 12"/>
          <p:cNvSpPr txBox="1"/>
          <p:nvPr/>
        </p:nvSpPr>
        <p:spPr>
          <a:xfrm>
            <a:off x="5477256" y="2057400"/>
            <a:ext cx="2935224" cy="457200"/>
          </a:xfrm>
          <a:prstGeom prst="rect">
            <a:avLst/>
          </a:prstGeom>
          <a:noFill/>
          <a:ln/>
        </p:spPr>
        <p:txBody>
          <a:bodyPr wrap="square" lIns="0" tIns="0" rIns="0" bIns="0" rtlCol="0" anchor="t"/>
          <a:lstStyle/>
          <a:p>
            <a:pPr indent="0" marL="0">
              <a:buNone/>
            </a:pPr>
            <a:r>
              <a:rPr lang="en-US" sz="1400" dirty="0">
                <a:solidFill>
                  <a:schemeClr val="bg1"/>
                </a:solidFill>
              </a:rPr>
              <a:t>Take orders as written. If unclear, call.</a:t>
            </a:r>
            <a:endParaRPr lang="en-US" sz="1400" dirty="0"/>
          </a:p>
        </p:txBody>
      </p:sp>
      <p:pic>
        <p:nvPicPr>
          <p:cNvPr id="20" name="Image 5" descr="preencoded.png">    </p:cNvPr>
          <p:cNvPicPr>
            <a:picLocks noChangeAspect="1"/>
          </p:cNvPicPr>
          <p:nvPr/>
        </p:nvPicPr>
        <p:blipFill>
          <a:blip r:embed="rId6"/>
          <a:stretch>
            <a:fillRect/>
          </a:stretch>
        </p:blipFill>
        <p:spPr>
          <a:xfrm>
            <a:off x="5166360" y="2734056"/>
            <a:ext cx="182880" cy="182880"/>
          </a:xfrm>
          <a:prstGeom prst="rect">
            <a:avLst/>
          </a:prstGeom>
        </p:spPr>
      </p:pic>
      <p:sp>
        <p:nvSpPr>
          <p:cNvPr id="21" name="Text 13"/>
          <p:cNvSpPr txBox="1"/>
          <p:nvPr/>
        </p:nvSpPr>
        <p:spPr>
          <a:xfrm>
            <a:off x="5477256" y="2697480"/>
            <a:ext cx="2935224" cy="228600"/>
          </a:xfrm>
          <a:prstGeom prst="rect">
            <a:avLst/>
          </a:prstGeom>
          <a:noFill/>
          <a:ln/>
        </p:spPr>
        <p:txBody>
          <a:bodyPr wrap="square" lIns="0" tIns="0" rIns="0" bIns="0" rtlCol="0" anchor="t"/>
          <a:lstStyle/>
          <a:p>
            <a:pPr indent="0" marL="0">
              <a:buNone/>
            </a:pPr>
            <a:r>
              <a:rPr lang="en-US" sz="1400" dirty="0">
                <a:solidFill>
                  <a:schemeClr val="bg1"/>
                </a:solidFill>
              </a:rPr>
              <a:t>Answer every email within 4 hours.</a:t>
            </a:r>
            <a:endParaRPr lang="en-US" sz="1400" dirty="0"/>
          </a:p>
        </p:txBody>
      </p:sp>
      <p:pic>
        <p:nvPicPr>
          <p:cNvPr id="22" name="Image 6" descr="preencoded.png">    </p:cNvPr>
          <p:cNvPicPr>
            <a:picLocks noChangeAspect="1"/>
          </p:cNvPicPr>
          <p:nvPr/>
        </p:nvPicPr>
        <p:blipFill>
          <a:blip r:embed="rId7"/>
          <a:stretch>
            <a:fillRect/>
          </a:stretch>
        </p:blipFill>
        <p:spPr>
          <a:xfrm>
            <a:off x="5166360" y="3145536"/>
            <a:ext cx="182880" cy="182880"/>
          </a:xfrm>
          <a:prstGeom prst="rect">
            <a:avLst/>
          </a:prstGeom>
        </p:spPr>
      </p:pic>
      <p:sp>
        <p:nvSpPr>
          <p:cNvPr id="23" name="Text 14"/>
          <p:cNvSpPr txBox="1"/>
          <p:nvPr/>
        </p:nvSpPr>
        <p:spPr>
          <a:xfrm>
            <a:off x="5477256" y="3108960"/>
            <a:ext cx="2935224" cy="457200"/>
          </a:xfrm>
          <a:prstGeom prst="rect">
            <a:avLst/>
          </a:prstGeom>
          <a:noFill/>
          <a:ln/>
        </p:spPr>
        <p:txBody>
          <a:bodyPr wrap="square" lIns="0" tIns="0" rIns="0" bIns="0" rtlCol="0" anchor="t"/>
          <a:lstStyle/>
          <a:p>
            <a:pPr indent="0" marL="0">
              <a:buNone/>
            </a:pPr>
            <a:r>
              <a:rPr lang="en-US" sz="1400" dirty="0">
                <a:solidFill>
                  <a:schemeClr val="bg1"/>
                </a:solidFill>
              </a:rPr>
              <a:t>Show CS inventory at every plant, and train on substitutions.</a:t>
            </a:r>
            <a:endParaRPr lang="en-US" sz="1400" dirty="0"/>
          </a:p>
        </p:txBody>
      </p:sp>
      <p:pic>
        <p:nvPicPr>
          <p:cNvPr id="24" name="Image 7" descr="preencoded.png">    </p:cNvPr>
          <p:cNvPicPr>
            <a:picLocks noChangeAspect="1"/>
          </p:cNvPicPr>
          <p:nvPr/>
        </p:nvPicPr>
        <p:blipFill>
          <a:blip r:embed="rId8"/>
          <a:stretch>
            <a:fillRect/>
          </a:stretch>
        </p:blipFill>
        <p:spPr>
          <a:xfrm>
            <a:off x="5166360" y="3785616"/>
            <a:ext cx="182880" cy="182880"/>
          </a:xfrm>
          <a:prstGeom prst="rect">
            <a:avLst/>
          </a:prstGeom>
        </p:spPr>
      </p:pic>
      <p:sp>
        <p:nvSpPr>
          <p:cNvPr id="25" name="Text 15"/>
          <p:cNvSpPr txBox="1"/>
          <p:nvPr/>
        </p:nvSpPr>
        <p:spPr>
          <a:xfrm>
            <a:off x="5477256" y="3749040"/>
            <a:ext cx="2935224" cy="228600"/>
          </a:xfrm>
          <a:prstGeom prst="rect">
            <a:avLst/>
          </a:prstGeom>
          <a:noFill/>
          <a:ln/>
        </p:spPr>
        <p:txBody>
          <a:bodyPr wrap="square" lIns="0" tIns="0" rIns="0" bIns="0" rtlCol="0" anchor="t"/>
          <a:lstStyle/>
          <a:p>
            <a:pPr indent="0" marL="0">
              <a:buNone/>
            </a:pPr>
            <a:r>
              <a:rPr lang="en-US" sz="1400" dirty="0">
                <a:solidFill>
                  <a:schemeClr val="bg1"/>
                </a:solidFill>
              </a:rPr>
              <a:t>Hold people accountable for service.</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6583680" cy="868680"/>
          </a:xfrm>
          <a:prstGeom prst="rect">
            <a:avLst/>
          </a:prstGeom>
          <a:noFill/>
          <a:ln/>
        </p:spPr>
        <p:txBody>
          <a:bodyPr wrap="square" lIns="0" tIns="0" rIns="0" bIns="0" rtlCol="0" anchor="t"/>
          <a:lstStyle/>
          <a:p>
            <a:pPr algn="l" indent="0" marL="0">
              <a:buNone/>
            </a:pPr>
            <a:r>
              <a:rPr lang="en-US" sz="2800" b="1" dirty="0">
                <a:solidFill>
                  <a:schemeClr val="tx2"/>
                </a:solidFill>
              </a:rPr>
              <a:t>Leak 2: Warranties move too slowly</a:t>
            </a:r>
            <a:endParaRPr lang="en-US" sz="2800" dirty="0"/>
          </a:p>
        </p:txBody>
      </p:sp>
      <p:pic>
        <p:nvPicPr>
          <p:cNvPr id="3" name="Roof plan" descr="preencoded.png">    </p:cNvPr>
          <p:cNvPicPr>
            <a:picLocks noChangeAspect="1"/>
          </p:cNvPicPr>
          <p:nvPr/>
        </p:nvPicPr>
        <p:blipFill>
          <a:blip r:embed="rId1"/>
          <a:stretch>
            <a:fillRect/>
          </a:stretch>
        </p:blipFill>
        <p:spPr>
          <a:xfrm>
            <a:off x="7498080" y="384048"/>
            <a:ext cx="1097280" cy="731520"/>
          </a:xfrm>
          <a:prstGeom prst="rect">
            <a:avLst/>
          </a:prstGeom>
        </p:spPr>
      </p:pic>
      <p:sp>
        <p:nvSpPr>
          <p:cNvPr id="4" name="Leak marker 1"/>
          <p:cNvSpPr/>
          <p:nvPr/>
        </p:nvSpPr>
        <p:spPr>
          <a:xfrm>
            <a:off x="7642555" y="627278"/>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 name="Leak marker 2"/>
          <p:cNvSpPr/>
          <p:nvPr/>
        </p:nvSpPr>
        <p:spPr>
          <a:xfrm>
            <a:off x="8273491" y="563270"/>
            <a:ext cx="182880" cy="18288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6" name="Leak marker 3"/>
          <p:cNvSpPr/>
          <p:nvPr/>
        </p:nvSpPr>
        <p:spPr>
          <a:xfrm>
            <a:off x="7982712" y="861365"/>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7" name="Leak marker 4"/>
          <p:cNvSpPr/>
          <p:nvPr/>
        </p:nvSpPr>
        <p:spPr>
          <a:xfrm>
            <a:off x="8421624" y="75895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8" name="Leak marker 5"/>
          <p:cNvSpPr/>
          <p:nvPr/>
        </p:nvSpPr>
        <p:spPr>
          <a:xfrm>
            <a:off x="7664501" y="905256"/>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9" name="Text 6"/>
          <p:cNvSpPr txBox="1"/>
          <p:nvPr/>
        </p:nvSpPr>
        <p:spPr>
          <a:xfrm>
            <a:off x="548640" y="1463040"/>
            <a:ext cx="4206240" cy="274320"/>
          </a:xfrm>
          <a:prstGeom prst="rect">
            <a:avLst/>
          </a:prstGeom>
          <a:noFill/>
          <a:ln/>
        </p:spPr>
        <p:txBody>
          <a:bodyPr wrap="square" lIns="0" tIns="0" rIns="0" bIns="0" rtlCol="0" anchor="t"/>
          <a:lstStyle/>
          <a:p>
            <a:pPr indent="0" marL="0">
              <a:buNone/>
            </a:pPr>
            <a:r>
              <a:rPr lang="en-US" sz="1500" dirty="0">
                <a:solidFill>
                  <a:schemeClr val="tx1"/>
                </a:solidFill>
              </a:rPr>
              <a:t>Building owners expect action within</a:t>
            </a:r>
            <a:endParaRPr lang="en-US" sz="1500" dirty="0"/>
          </a:p>
        </p:txBody>
      </p:sp>
      <p:sp>
        <p:nvSpPr>
          <p:cNvPr id="10" name="Text 7"/>
          <p:cNvSpPr txBox="1"/>
          <p:nvPr/>
        </p:nvSpPr>
        <p:spPr>
          <a:xfrm>
            <a:off x="548640" y="1783080"/>
            <a:ext cx="4206240" cy="822960"/>
          </a:xfrm>
          <a:prstGeom prst="rect">
            <a:avLst/>
          </a:prstGeom>
          <a:noFill/>
          <a:ln/>
        </p:spPr>
        <p:txBody>
          <a:bodyPr wrap="square" lIns="0" tIns="0" rIns="0" bIns="0" rtlCol="0" anchor="t"/>
          <a:lstStyle/>
          <a:p>
            <a:pPr indent="0" marL="0">
              <a:buNone/>
            </a:pPr>
            <a:r>
              <a:rPr lang="en-US" sz="6000" b="1" dirty="0">
                <a:solidFill>
                  <a:schemeClr val="accent3"/>
                </a:solidFill>
              </a:rPr>
              <a:t>24 hours</a:t>
            </a:r>
            <a:endParaRPr lang="en-US" sz="6000" dirty="0"/>
          </a:p>
        </p:txBody>
      </p:sp>
      <p:pic>
        <p:nvPicPr>
          <p:cNvPr id="11" name="Image 1" descr="preencoded.png">    </p:cNvPr>
          <p:cNvPicPr>
            <a:picLocks noChangeAspect="1"/>
          </p:cNvPicPr>
          <p:nvPr/>
        </p:nvPicPr>
        <p:blipFill>
          <a:blip r:embed="rId2"/>
          <a:stretch>
            <a:fillRect/>
          </a:stretch>
        </p:blipFill>
        <p:spPr>
          <a:xfrm>
            <a:off x="548640" y="2871216"/>
            <a:ext cx="182880" cy="182880"/>
          </a:xfrm>
          <a:prstGeom prst="rect">
            <a:avLst/>
          </a:prstGeom>
        </p:spPr>
      </p:pic>
      <p:sp>
        <p:nvSpPr>
          <p:cNvPr id="12" name="Text 8"/>
          <p:cNvSpPr txBox="1"/>
          <p:nvPr/>
        </p:nvSpPr>
        <p:spPr>
          <a:xfrm>
            <a:off x="859536" y="2834640"/>
            <a:ext cx="3712464" cy="274320"/>
          </a:xfrm>
          <a:prstGeom prst="rect">
            <a:avLst/>
          </a:prstGeom>
          <a:noFill/>
          <a:ln/>
        </p:spPr>
        <p:txBody>
          <a:bodyPr wrap="square" lIns="0" tIns="0" rIns="0" bIns="0" rtlCol="0" anchor="t"/>
          <a:lstStyle/>
          <a:p>
            <a:pPr indent="0" marL="0">
              <a:buNone/>
            </a:pPr>
            <a:r>
              <a:rPr lang="en-US" sz="1500" dirty="0">
                <a:solidFill>
                  <a:schemeClr val="tx1"/>
                </a:solidFill>
              </a:rPr>
              <a:t>Our claim responses don’t keep up.</a:t>
            </a:r>
            <a:endParaRPr lang="en-US" sz="1500" dirty="0"/>
          </a:p>
        </p:txBody>
      </p:sp>
      <p:pic>
        <p:nvPicPr>
          <p:cNvPr id="13" name="Image 2" descr="preencoded.png">    </p:cNvPr>
          <p:cNvPicPr>
            <a:picLocks noChangeAspect="1"/>
          </p:cNvPicPr>
          <p:nvPr/>
        </p:nvPicPr>
        <p:blipFill>
          <a:blip r:embed="rId3"/>
          <a:stretch>
            <a:fillRect/>
          </a:stretch>
        </p:blipFill>
        <p:spPr>
          <a:xfrm>
            <a:off x="548640" y="3328416"/>
            <a:ext cx="182880" cy="182880"/>
          </a:xfrm>
          <a:prstGeom prst="rect">
            <a:avLst/>
          </a:prstGeom>
        </p:spPr>
      </p:pic>
      <p:sp>
        <p:nvSpPr>
          <p:cNvPr id="14" name="Text 9"/>
          <p:cNvSpPr txBox="1"/>
          <p:nvPr/>
        </p:nvSpPr>
        <p:spPr>
          <a:xfrm>
            <a:off x="859536" y="3291840"/>
            <a:ext cx="3712464" cy="502920"/>
          </a:xfrm>
          <a:prstGeom prst="rect">
            <a:avLst/>
          </a:prstGeom>
          <a:noFill/>
          <a:ln/>
        </p:spPr>
        <p:txBody>
          <a:bodyPr wrap="square" lIns="0" tIns="0" rIns="0" bIns="0" rtlCol="0" anchor="t"/>
          <a:lstStyle/>
          <a:p>
            <a:pPr indent="0" marL="0">
              <a:buNone/>
            </a:pPr>
            <a:r>
              <a:rPr lang="en-US" sz="1500" dirty="0">
                <a:solidFill>
                  <a:schemeClr val="tx1"/>
                </a:solidFill>
              </a:rPr>
              <a:t>Some manufacturers sign off without even walking the site.</a:t>
            </a:r>
            <a:endParaRPr lang="en-US" sz="1500" dirty="0"/>
          </a:p>
        </p:txBody>
      </p:sp>
      <p:sp>
        <p:nvSpPr>
          <p:cNvPr id="15" name="Repair panel"/>
          <p:cNvSpPr/>
          <p:nvPr/>
        </p:nvSpPr>
        <p:spPr>
          <a:xfrm>
            <a:off x="4937760" y="1463040"/>
            <a:ext cx="3657600" cy="3017520"/>
          </a:xfrm>
          <a:prstGeom prst="rect">
            <a:avLst/>
          </a:prstGeom>
          <a:solidFill>
            <a:schemeClr val="accent1"/>
          </a:solidFill>
          <a:ln w="12700">
            <a:solidFill>
              <a:schemeClr val="accent1"/>
            </a:solidFill>
            <a:prstDash val="solid"/>
          </a:ln>
        </p:spPr>
      </p:sp>
      <p:sp>
        <p:nvSpPr>
          <p:cNvPr id="16" name="Text 11"/>
          <p:cNvSpPr txBox="1"/>
          <p:nvPr/>
        </p:nvSpPr>
        <p:spPr>
          <a:xfrm>
            <a:off x="5166360" y="1645920"/>
            <a:ext cx="3200400" cy="274320"/>
          </a:xfrm>
          <a:prstGeom prst="rect">
            <a:avLst/>
          </a:prstGeom>
          <a:noFill/>
          <a:ln/>
        </p:spPr>
        <p:txBody>
          <a:bodyPr wrap="square" lIns="0" tIns="0" rIns="0" bIns="0" rtlCol="0" anchor="t"/>
          <a:lstStyle/>
          <a:p>
            <a:pPr indent="0" marL="0">
              <a:buNone/>
            </a:pPr>
            <a:r>
              <a:rPr lang="en-US" sz="1600" b="1" dirty="0">
                <a:solidFill>
                  <a:schemeClr val="bg1"/>
                </a:solidFill>
              </a:rPr>
              <a:t>The repair</a:t>
            </a:r>
            <a:endParaRPr lang="en-US" sz="1600" dirty="0"/>
          </a:p>
        </p:txBody>
      </p:sp>
      <p:pic>
        <p:nvPicPr>
          <p:cNvPr id="17" name="Image 3" descr="preencoded.png">    </p:cNvPr>
          <p:cNvPicPr>
            <a:picLocks noChangeAspect="1"/>
          </p:cNvPicPr>
          <p:nvPr/>
        </p:nvPicPr>
        <p:blipFill>
          <a:blip r:embed="rId4"/>
          <a:stretch>
            <a:fillRect/>
          </a:stretch>
        </p:blipFill>
        <p:spPr>
          <a:xfrm>
            <a:off x="5166360" y="2093976"/>
            <a:ext cx="182880" cy="182880"/>
          </a:xfrm>
          <a:prstGeom prst="rect">
            <a:avLst/>
          </a:prstGeom>
        </p:spPr>
      </p:pic>
      <p:sp>
        <p:nvSpPr>
          <p:cNvPr id="18" name="Text 12"/>
          <p:cNvSpPr txBox="1"/>
          <p:nvPr/>
        </p:nvSpPr>
        <p:spPr>
          <a:xfrm>
            <a:off x="5477256" y="2057400"/>
            <a:ext cx="2935224" cy="457200"/>
          </a:xfrm>
          <a:prstGeom prst="rect">
            <a:avLst/>
          </a:prstGeom>
          <a:noFill/>
          <a:ln/>
        </p:spPr>
        <p:txBody>
          <a:bodyPr wrap="square" lIns="0" tIns="0" rIns="0" bIns="0" rtlCol="0" anchor="t"/>
          <a:lstStyle/>
          <a:p>
            <a:pPr indent="0" marL="0">
              <a:buNone/>
            </a:pPr>
            <a:r>
              <a:rPr lang="en-US" sz="1400" dirty="0">
                <a:solidFill>
                  <a:schemeClr val="bg1"/>
                </a:solidFill>
              </a:rPr>
              <a:t>Acknowledge every claim by email within 4 hours.</a:t>
            </a:r>
            <a:endParaRPr lang="en-US" sz="1400" dirty="0"/>
          </a:p>
        </p:txBody>
      </p:sp>
      <p:pic>
        <p:nvPicPr>
          <p:cNvPr id="19" name="Image 4" descr="preencoded.png">    </p:cNvPr>
          <p:cNvPicPr>
            <a:picLocks noChangeAspect="1"/>
          </p:cNvPicPr>
          <p:nvPr/>
        </p:nvPicPr>
        <p:blipFill>
          <a:blip r:embed="rId5"/>
          <a:stretch>
            <a:fillRect/>
          </a:stretch>
        </p:blipFill>
        <p:spPr>
          <a:xfrm>
            <a:off x="5166360" y="2734056"/>
            <a:ext cx="182880" cy="182880"/>
          </a:xfrm>
          <a:prstGeom prst="rect">
            <a:avLst/>
          </a:prstGeom>
        </p:spPr>
      </p:pic>
      <p:sp>
        <p:nvSpPr>
          <p:cNvPr id="20" name="Text 13"/>
          <p:cNvSpPr txBox="1"/>
          <p:nvPr/>
        </p:nvSpPr>
        <p:spPr>
          <a:xfrm>
            <a:off x="5477256" y="2697480"/>
            <a:ext cx="2935224" cy="228600"/>
          </a:xfrm>
          <a:prstGeom prst="rect">
            <a:avLst/>
          </a:prstGeom>
          <a:noFill/>
          <a:ln/>
        </p:spPr>
        <p:txBody>
          <a:bodyPr wrap="square" lIns="0" tIns="0" rIns="0" bIns="0" rtlCol="0" anchor="t"/>
          <a:lstStyle/>
          <a:p>
            <a:pPr indent="0" marL="0">
              <a:buNone/>
            </a:pPr>
            <a:r>
              <a:rPr lang="en-US" sz="1400" dirty="0">
                <a:solidFill>
                  <a:schemeClr val="bg1"/>
                </a:solidFill>
              </a:rPr>
              <a:t>Visit the site within 4 days.</a:t>
            </a:r>
            <a:endParaRPr lang="en-US" sz="1400" dirty="0"/>
          </a:p>
        </p:txBody>
      </p:sp>
      <p:pic>
        <p:nvPicPr>
          <p:cNvPr id="21" name="Image 5" descr="preencoded.png">    </p:cNvPr>
          <p:cNvPicPr>
            <a:picLocks noChangeAspect="1"/>
          </p:cNvPicPr>
          <p:nvPr/>
        </p:nvPicPr>
        <p:blipFill>
          <a:blip r:embed="rId6"/>
          <a:stretch>
            <a:fillRect/>
          </a:stretch>
        </p:blipFill>
        <p:spPr>
          <a:xfrm>
            <a:off x="5166360" y="3145536"/>
            <a:ext cx="182880" cy="182880"/>
          </a:xfrm>
          <a:prstGeom prst="rect">
            <a:avLst/>
          </a:prstGeom>
        </p:spPr>
      </p:pic>
      <p:sp>
        <p:nvSpPr>
          <p:cNvPr id="22" name="Text 14"/>
          <p:cNvSpPr txBox="1"/>
          <p:nvPr/>
        </p:nvSpPr>
        <p:spPr>
          <a:xfrm>
            <a:off x="5477256" y="3108960"/>
            <a:ext cx="2935224" cy="457200"/>
          </a:xfrm>
          <a:prstGeom prst="rect">
            <a:avLst/>
          </a:prstGeom>
          <a:noFill/>
          <a:ln/>
        </p:spPr>
        <p:txBody>
          <a:bodyPr wrap="square" lIns="0" tIns="0" rIns="0" bIns="0" rtlCol="0" anchor="t"/>
          <a:lstStyle/>
          <a:p>
            <a:pPr indent="0" marL="0">
              <a:buNone/>
            </a:pPr>
            <a:r>
              <a:rPr lang="en-US" sz="1400" dirty="0">
                <a:solidFill>
                  <a:schemeClr val="bg1"/>
                </a:solidFill>
              </a:rPr>
              <a:t>Sign off fast. Walk the roof inside the 2-year window.</a:t>
            </a:r>
            <a:endParaRPr lang="en-US" sz="1400" dirty="0"/>
          </a:p>
        </p:txBody>
      </p:sp>
      <p:pic>
        <p:nvPicPr>
          <p:cNvPr id="23" name="Image 6" descr="preencoded.png">    </p:cNvPr>
          <p:cNvPicPr>
            <a:picLocks noChangeAspect="1"/>
          </p:cNvPicPr>
          <p:nvPr/>
        </p:nvPicPr>
        <p:blipFill>
          <a:blip r:embed="rId7"/>
          <a:stretch>
            <a:fillRect/>
          </a:stretch>
        </p:blipFill>
        <p:spPr>
          <a:xfrm>
            <a:off x="5166360" y="3785616"/>
            <a:ext cx="182880" cy="182880"/>
          </a:xfrm>
          <a:prstGeom prst="rect">
            <a:avLst/>
          </a:prstGeom>
        </p:spPr>
      </p:pic>
      <p:sp>
        <p:nvSpPr>
          <p:cNvPr id="24" name="Text 15"/>
          <p:cNvSpPr txBox="1"/>
          <p:nvPr/>
        </p:nvSpPr>
        <p:spPr>
          <a:xfrm>
            <a:off x="5477256" y="3749040"/>
            <a:ext cx="2935224" cy="457200"/>
          </a:xfrm>
          <a:prstGeom prst="rect">
            <a:avLst/>
          </a:prstGeom>
          <a:noFill/>
          <a:ln/>
        </p:spPr>
        <p:txBody>
          <a:bodyPr wrap="square" lIns="0" tIns="0" rIns="0" bIns="0" rtlCol="0" anchor="t"/>
          <a:lstStyle/>
          <a:p>
            <a:pPr indent="0" marL="0">
              <a:buNone/>
            </a:pPr>
            <a:r>
              <a:rPr lang="en-US" sz="1400" dirty="0">
                <a:solidFill>
                  <a:schemeClr val="bg1"/>
                </a:solidFill>
              </a:rPr>
              <a:t>Batch sign-offs 3+ hours from base to cut travel.</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6583680" cy="868680"/>
          </a:xfrm>
          <a:prstGeom prst="rect">
            <a:avLst/>
          </a:prstGeom>
          <a:noFill/>
          <a:ln/>
        </p:spPr>
        <p:txBody>
          <a:bodyPr wrap="square" lIns="0" tIns="0" rIns="0" bIns="0" rtlCol="0" anchor="t"/>
          <a:lstStyle/>
          <a:p>
            <a:pPr algn="l" indent="0" marL="0">
              <a:buNone/>
            </a:pPr>
            <a:r>
              <a:rPr lang="en-US" sz="2800" b="1" dirty="0">
                <a:solidFill>
                  <a:schemeClr val="tx2"/>
                </a:solidFill>
              </a:rPr>
              <a:t>Leak 3: Roofers say we’re unreliable</a:t>
            </a:r>
            <a:endParaRPr lang="en-US" sz="2800" dirty="0"/>
          </a:p>
        </p:txBody>
      </p:sp>
      <p:pic>
        <p:nvPicPr>
          <p:cNvPr id="3" name="Roof plan" descr="preencoded.png">    </p:cNvPr>
          <p:cNvPicPr>
            <a:picLocks noChangeAspect="1"/>
          </p:cNvPicPr>
          <p:nvPr/>
        </p:nvPicPr>
        <p:blipFill>
          <a:blip r:embed="rId1"/>
          <a:stretch>
            <a:fillRect/>
          </a:stretch>
        </p:blipFill>
        <p:spPr>
          <a:xfrm>
            <a:off x="7498080" y="384048"/>
            <a:ext cx="1097280" cy="731520"/>
          </a:xfrm>
          <a:prstGeom prst="rect">
            <a:avLst/>
          </a:prstGeom>
        </p:spPr>
      </p:pic>
      <p:sp>
        <p:nvSpPr>
          <p:cNvPr id="4" name="Leak marker 1"/>
          <p:cNvSpPr/>
          <p:nvPr/>
        </p:nvSpPr>
        <p:spPr>
          <a:xfrm>
            <a:off x="7642555" y="627278"/>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 name="Leak marker 2"/>
          <p:cNvSpPr/>
          <p:nvPr/>
        </p:nvSpPr>
        <p:spPr>
          <a:xfrm>
            <a:off x="8300923" y="59070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6" name="Leak marker 3"/>
          <p:cNvSpPr/>
          <p:nvPr/>
        </p:nvSpPr>
        <p:spPr>
          <a:xfrm>
            <a:off x="7955280" y="833933"/>
            <a:ext cx="182880" cy="18288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7" name="Leak marker 4"/>
          <p:cNvSpPr/>
          <p:nvPr/>
        </p:nvSpPr>
        <p:spPr>
          <a:xfrm>
            <a:off x="8421624" y="75895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8" name="Leak marker 5"/>
          <p:cNvSpPr/>
          <p:nvPr/>
        </p:nvSpPr>
        <p:spPr>
          <a:xfrm>
            <a:off x="7664501" y="905256"/>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9" name="Text 6"/>
          <p:cNvSpPr txBox="1"/>
          <p:nvPr/>
        </p:nvSpPr>
        <p:spPr>
          <a:xfrm>
            <a:off x="548640" y="1463040"/>
            <a:ext cx="4023360" cy="1554480"/>
          </a:xfrm>
          <a:prstGeom prst="rect">
            <a:avLst/>
          </a:prstGeom>
          <a:noFill/>
          <a:ln/>
        </p:spPr>
        <p:txBody>
          <a:bodyPr wrap="square" lIns="0" tIns="0" rIns="0" bIns="0" rtlCol="0" anchor="t"/>
          <a:lstStyle/>
          <a:p>
            <a:pPr indent="0" marL="0">
              <a:buNone/>
            </a:pPr>
            <a:r>
              <a:rPr lang="en-US" sz="2200" b="1" dirty="0">
                <a:solidFill>
                  <a:schemeClr val="tx2"/>
                </a:solidFill>
              </a:rPr>
              <a:t>Material shows up a week early. No one is there to sign for it. The roofer looks bad, and so do we.</a:t>
            </a:r>
            <a:endParaRPr lang="en-US" sz="2200" dirty="0"/>
          </a:p>
        </p:txBody>
      </p:sp>
      <p:pic>
        <p:nvPicPr>
          <p:cNvPr id="10" name="Image 1" descr="preencoded.png">    </p:cNvPr>
          <p:cNvPicPr>
            <a:picLocks noChangeAspect="1"/>
          </p:cNvPicPr>
          <p:nvPr/>
        </p:nvPicPr>
        <p:blipFill>
          <a:blip r:embed="rId2"/>
          <a:stretch>
            <a:fillRect/>
          </a:stretch>
        </p:blipFill>
        <p:spPr>
          <a:xfrm>
            <a:off x="548640" y="3282696"/>
            <a:ext cx="182880" cy="182880"/>
          </a:xfrm>
          <a:prstGeom prst="rect">
            <a:avLst/>
          </a:prstGeom>
        </p:spPr>
      </p:pic>
      <p:sp>
        <p:nvSpPr>
          <p:cNvPr id="11" name="Text 7"/>
          <p:cNvSpPr txBox="1"/>
          <p:nvPr/>
        </p:nvSpPr>
        <p:spPr>
          <a:xfrm>
            <a:off x="859536" y="3246120"/>
            <a:ext cx="3712464" cy="274320"/>
          </a:xfrm>
          <a:prstGeom prst="rect">
            <a:avLst/>
          </a:prstGeom>
          <a:noFill/>
          <a:ln/>
        </p:spPr>
        <p:txBody>
          <a:bodyPr wrap="square" lIns="0" tIns="0" rIns="0" bIns="0" rtlCol="0" anchor="t"/>
          <a:lstStyle/>
          <a:p>
            <a:pPr indent="0" marL="0">
              <a:buNone/>
            </a:pPr>
            <a:r>
              <a:rPr lang="en-US" sz="1500" dirty="0">
                <a:solidFill>
                  <a:schemeClr val="tx1"/>
                </a:solidFill>
              </a:rPr>
              <a:t>No notice and no tracking.</a:t>
            </a:r>
            <a:endParaRPr lang="en-US" sz="1500" dirty="0"/>
          </a:p>
        </p:txBody>
      </p:sp>
      <p:pic>
        <p:nvPicPr>
          <p:cNvPr id="12" name="Image 2" descr="preencoded.png">    </p:cNvPr>
          <p:cNvPicPr>
            <a:picLocks noChangeAspect="1"/>
          </p:cNvPicPr>
          <p:nvPr/>
        </p:nvPicPr>
        <p:blipFill>
          <a:blip r:embed="rId3"/>
          <a:stretch>
            <a:fillRect/>
          </a:stretch>
        </p:blipFill>
        <p:spPr>
          <a:xfrm>
            <a:off x="548640" y="3694176"/>
            <a:ext cx="182880" cy="182880"/>
          </a:xfrm>
          <a:prstGeom prst="rect">
            <a:avLst/>
          </a:prstGeom>
        </p:spPr>
      </p:pic>
      <p:sp>
        <p:nvSpPr>
          <p:cNvPr id="13" name="Text 8"/>
          <p:cNvSpPr txBox="1"/>
          <p:nvPr/>
        </p:nvSpPr>
        <p:spPr>
          <a:xfrm>
            <a:off x="859536" y="3657600"/>
            <a:ext cx="3712464" cy="274320"/>
          </a:xfrm>
          <a:prstGeom prst="rect">
            <a:avLst/>
          </a:prstGeom>
          <a:noFill/>
          <a:ln/>
        </p:spPr>
        <p:txBody>
          <a:bodyPr wrap="square" lIns="0" tIns="0" rIns="0" bIns="0" rtlCol="0" anchor="t"/>
          <a:lstStyle/>
          <a:p>
            <a:pPr indent="0" marL="0">
              <a:buNone/>
            </a:pPr>
            <a:r>
              <a:rPr lang="en-US" sz="1500" dirty="0">
                <a:solidFill>
                  <a:schemeClr val="tx1"/>
                </a:solidFill>
              </a:rPr>
              <a:t>If we can ship early, we do, without asking.</a:t>
            </a:r>
            <a:endParaRPr lang="en-US" sz="1500" dirty="0"/>
          </a:p>
        </p:txBody>
      </p:sp>
      <p:sp>
        <p:nvSpPr>
          <p:cNvPr id="14" name="Repair panel"/>
          <p:cNvSpPr/>
          <p:nvPr/>
        </p:nvSpPr>
        <p:spPr>
          <a:xfrm>
            <a:off x="4937760" y="1463040"/>
            <a:ext cx="3657600" cy="3017520"/>
          </a:xfrm>
          <a:prstGeom prst="rect">
            <a:avLst/>
          </a:prstGeom>
          <a:solidFill>
            <a:schemeClr val="accent1"/>
          </a:solidFill>
          <a:ln w="12700">
            <a:solidFill>
              <a:schemeClr val="accent1"/>
            </a:solidFill>
            <a:prstDash val="solid"/>
          </a:ln>
        </p:spPr>
      </p:sp>
      <p:sp>
        <p:nvSpPr>
          <p:cNvPr id="15" name="Text 10"/>
          <p:cNvSpPr txBox="1"/>
          <p:nvPr/>
        </p:nvSpPr>
        <p:spPr>
          <a:xfrm>
            <a:off x="5166360" y="1645920"/>
            <a:ext cx="3200400" cy="274320"/>
          </a:xfrm>
          <a:prstGeom prst="rect">
            <a:avLst/>
          </a:prstGeom>
          <a:noFill/>
          <a:ln/>
        </p:spPr>
        <p:txBody>
          <a:bodyPr wrap="square" lIns="0" tIns="0" rIns="0" bIns="0" rtlCol="0" anchor="t"/>
          <a:lstStyle/>
          <a:p>
            <a:pPr indent="0" marL="0">
              <a:buNone/>
            </a:pPr>
            <a:r>
              <a:rPr lang="en-US" sz="1600" b="1" dirty="0">
                <a:solidFill>
                  <a:schemeClr val="bg1"/>
                </a:solidFill>
              </a:rPr>
              <a:t>The repair</a:t>
            </a:r>
            <a:endParaRPr lang="en-US" sz="1600" dirty="0"/>
          </a:p>
        </p:txBody>
      </p:sp>
      <p:pic>
        <p:nvPicPr>
          <p:cNvPr id="16" name="Image 3" descr="preencoded.png">    </p:cNvPr>
          <p:cNvPicPr>
            <a:picLocks noChangeAspect="1"/>
          </p:cNvPicPr>
          <p:nvPr/>
        </p:nvPicPr>
        <p:blipFill>
          <a:blip r:embed="rId4"/>
          <a:stretch>
            <a:fillRect/>
          </a:stretch>
        </p:blipFill>
        <p:spPr>
          <a:xfrm>
            <a:off x="5166360" y="2093976"/>
            <a:ext cx="182880" cy="182880"/>
          </a:xfrm>
          <a:prstGeom prst="rect">
            <a:avLst/>
          </a:prstGeom>
        </p:spPr>
      </p:pic>
      <p:sp>
        <p:nvSpPr>
          <p:cNvPr id="17" name="Text 11"/>
          <p:cNvSpPr txBox="1"/>
          <p:nvPr/>
        </p:nvSpPr>
        <p:spPr>
          <a:xfrm>
            <a:off x="5477256" y="2057400"/>
            <a:ext cx="2935224" cy="228600"/>
          </a:xfrm>
          <a:prstGeom prst="rect">
            <a:avLst/>
          </a:prstGeom>
          <a:noFill/>
          <a:ln/>
        </p:spPr>
        <p:txBody>
          <a:bodyPr wrap="square" lIns="0" tIns="0" rIns="0" bIns="0" rtlCol="0" anchor="t"/>
          <a:lstStyle/>
          <a:p>
            <a:pPr indent="0" marL="0">
              <a:buNone/>
            </a:pPr>
            <a:r>
              <a:rPr lang="en-US" sz="1400" dirty="0">
                <a:solidFill>
                  <a:schemeClr val="bg1"/>
                </a:solidFill>
              </a:rPr>
              <a:t>Ask before shipping early.</a:t>
            </a:r>
            <a:endParaRPr lang="en-US" sz="1400" dirty="0"/>
          </a:p>
        </p:txBody>
      </p:sp>
      <p:pic>
        <p:nvPicPr>
          <p:cNvPr id="18" name="Image 4" descr="preencoded.png">    </p:cNvPr>
          <p:cNvPicPr>
            <a:picLocks noChangeAspect="1"/>
          </p:cNvPicPr>
          <p:nvPr/>
        </p:nvPicPr>
        <p:blipFill>
          <a:blip r:embed="rId5"/>
          <a:stretch>
            <a:fillRect/>
          </a:stretch>
        </p:blipFill>
        <p:spPr>
          <a:xfrm>
            <a:off x="5166360" y="2505456"/>
            <a:ext cx="182880" cy="182880"/>
          </a:xfrm>
          <a:prstGeom prst="rect">
            <a:avLst/>
          </a:prstGeom>
        </p:spPr>
      </p:pic>
      <p:sp>
        <p:nvSpPr>
          <p:cNvPr id="19" name="Text 12"/>
          <p:cNvSpPr txBox="1"/>
          <p:nvPr/>
        </p:nvSpPr>
        <p:spPr>
          <a:xfrm>
            <a:off x="5477256" y="2468880"/>
            <a:ext cx="2935224" cy="457200"/>
          </a:xfrm>
          <a:prstGeom prst="rect">
            <a:avLst/>
          </a:prstGeom>
          <a:noFill/>
          <a:ln/>
        </p:spPr>
        <p:txBody>
          <a:bodyPr wrap="square" lIns="0" tIns="0" rIns="0" bIns="0" rtlCol="0" anchor="t"/>
          <a:lstStyle/>
          <a:p>
            <a:pPr indent="0" marL="0">
              <a:buNone/>
            </a:pPr>
            <a:r>
              <a:rPr lang="en-US" sz="1400" dirty="0">
                <a:solidFill>
                  <a:schemeClr val="bg1"/>
                </a:solidFill>
              </a:rPr>
              <a:t>Put trackers on every pallet and share tracking.</a:t>
            </a:r>
            <a:endParaRPr lang="en-US" sz="1400" dirty="0"/>
          </a:p>
        </p:txBody>
      </p:sp>
      <p:pic>
        <p:nvPicPr>
          <p:cNvPr id="20" name="Image 5" descr="preencoded.png">    </p:cNvPr>
          <p:cNvPicPr>
            <a:picLocks noChangeAspect="1"/>
          </p:cNvPicPr>
          <p:nvPr/>
        </p:nvPicPr>
        <p:blipFill>
          <a:blip r:embed="rId6"/>
          <a:stretch>
            <a:fillRect/>
          </a:stretch>
        </p:blipFill>
        <p:spPr>
          <a:xfrm>
            <a:off x="5166360" y="3145536"/>
            <a:ext cx="182880" cy="182880"/>
          </a:xfrm>
          <a:prstGeom prst="rect">
            <a:avLst/>
          </a:prstGeom>
        </p:spPr>
      </p:pic>
      <p:sp>
        <p:nvSpPr>
          <p:cNvPr id="21" name="Text 13"/>
          <p:cNvSpPr txBox="1"/>
          <p:nvPr/>
        </p:nvSpPr>
        <p:spPr>
          <a:xfrm>
            <a:off x="5477256" y="3108960"/>
            <a:ext cx="2935224" cy="457200"/>
          </a:xfrm>
          <a:prstGeom prst="rect">
            <a:avLst/>
          </a:prstGeom>
          <a:noFill/>
          <a:ln/>
        </p:spPr>
        <p:txBody>
          <a:bodyPr wrap="square" lIns="0" tIns="0" rIns="0" bIns="0" rtlCol="0" anchor="t"/>
          <a:lstStyle/>
          <a:p>
            <a:pPr indent="0" marL="0">
              <a:buNone/>
            </a:pPr>
            <a:r>
              <a:rPr lang="en-US" sz="1400" dirty="0">
                <a:solidFill>
                  <a:schemeClr val="bg1"/>
                </a:solidFill>
              </a:rPr>
              <a:t>Daily CS updates, without being asked.</a:t>
            </a:r>
            <a:endParaRPr lang="en-US" sz="1400" dirty="0"/>
          </a:p>
        </p:txBody>
      </p:sp>
      <p:pic>
        <p:nvPicPr>
          <p:cNvPr id="22" name="Image 6" descr="preencoded.png">    </p:cNvPr>
          <p:cNvPicPr>
            <a:picLocks noChangeAspect="1"/>
          </p:cNvPicPr>
          <p:nvPr/>
        </p:nvPicPr>
        <p:blipFill>
          <a:blip r:embed="rId7"/>
          <a:stretch>
            <a:fillRect/>
          </a:stretch>
        </p:blipFill>
        <p:spPr>
          <a:xfrm>
            <a:off x="5166360" y="3785616"/>
            <a:ext cx="182880" cy="182880"/>
          </a:xfrm>
          <a:prstGeom prst="rect">
            <a:avLst/>
          </a:prstGeom>
        </p:spPr>
      </p:pic>
      <p:sp>
        <p:nvSpPr>
          <p:cNvPr id="23" name="Text 14"/>
          <p:cNvSpPr txBox="1"/>
          <p:nvPr/>
        </p:nvSpPr>
        <p:spPr>
          <a:xfrm>
            <a:off x="5477256" y="3749040"/>
            <a:ext cx="2935224" cy="457200"/>
          </a:xfrm>
          <a:prstGeom prst="rect">
            <a:avLst/>
          </a:prstGeom>
          <a:noFill/>
          <a:ln/>
        </p:spPr>
        <p:txBody>
          <a:bodyPr wrap="square" lIns="0" tIns="0" rIns="0" bIns="0" rtlCol="0" anchor="t"/>
          <a:lstStyle/>
          <a:p>
            <a:pPr indent="0" marL="0">
              <a:buNone/>
            </a:pPr>
            <a:r>
              <a:rPr lang="en-US" sz="1400" dirty="0">
                <a:solidFill>
                  <a:schemeClr val="bg1"/>
                </a:solidFill>
              </a:rPr>
              <a:t>Move roofers to distribution, and work out how to honor their price.</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6583680" cy="868680"/>
          </a:xfrm>
          <a:prstGeom prst="rect">
            <a:avLst/>
          </a:prstGeom>
          <a:noFill/>
          <a:ln/>
        </p:spPr>
        <p:txBody>
          <a:bodyPr wrap="square" lIns="0" tIns="0" rIns="0" bIns="0" rtlCol="0" anchor="t"/>
          <a:lstStyle/>
          <a:p>
            <a:pPr algn="l" indent="0" marL="0">
              <a:buNone/>
            </a:pPr>
            <a:r>
              <a:rPr lang="en-US" sz="2800" b="1" dirty="0">
                <a:solidFill>
                  <a:schemeClr val="tx2"/>
                </a:solidFill>
              </a:rPr>
              <a:t>Leak 4: No primer, no job</a:t>
            </a:r>
            <a:endParaRPr lang="en-US" sz="2800" dirty="0"/>
          </a:p>
        </p:txBody>
      </p:sp>
      <p:pic>
        <p:nvPicPr>
          <p:cNvPr id="3" name="Roof plan" descr="preencoded.png">    </p:cNvPr>
          <p:cNvPicPr>
            <a:picLocks noChangeAspect="1"/>
          </p:cNvPicPr>
          <p:nvPr/>
        </p:nvPicPr>
        <p:blipFill>
          <a:blip r:embed="rId1"/>
          <a:stretch>
            <a:fillRect/>
          </a:stretch>
        </p:blipFill>
        <p:spPr>
          <a:xfrm>
            <a:off x="7498080" y="384048"/>
            <a:ext cx="1097280" cy="731520"/>
          </a:xfrm>
          <a:prstGeom prst="rect">
            <a:avLst/>
          </a:prstGeom>
        </p:spPr>
      </p:pic>
      <p:sp>
        <p:nvSpPr>
          <p:cNvPr id="4" name="Leak marker 1"/>
          <p:cNvSpPr/>
          <p:nvPr/>
        </p:nvSpPr>
        <p:spPr>
          <a:xfrm>
            <a:off x="7642555" y="627278"/>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 name="Leak marker 2"/>
          <p:cNvSpPr/>
          <p:nvPr/>
        </p:nvSpPr>
        <p:spPr>
          <a:xfrm>
            <a:off x="8300923" y="59070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6" name="Leak marker 3"/>
          <p:cNvSpPr/>
          <p:nvPr/>
        </p:nvSpPr>
        <p:spPr>
          <a:xfrm>
            <a:off x="7982712" y="861365"/>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7" name="Leak marker 4"/>
          <p:cNvSpPr/>
          <p:nvPr/>
        </p:nvSpPr>
        <p:spPr>
          <a:xfrm>
            <a:off x="8394192" y="731520"/>
            <a:ext cx="182880" cy="18288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8" name="Leak marker 5"/>
          <p:cNvSpPr/>
          <p:nvPr/>
        </p:nvSpPr>
        <p:spPr>
          <a:xfrm>
            <a:off x="7664501" y="905256"/>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9" name="Text 6"/>
          <p:cNvSpPr txBox="1"/>
          <p:nvPr/>
        </p:nvSpPr>
        <p:spPr>
          <a:xfrm>
            <a:off x="548640" y="1463040"/>
            <a:ext cx="4023360" cy="1188720"/>
          </a:xfrm>
          <a:prstGeom prst="rect">
            <a:avLst/>
          </a:prstGeom>
          <a:noFill/>
          <a:ln/>
        </p:spPr>
        <p:txBody>
          <a:bodyPr wrap="square" lIns="0" tIns="0" rIns="0" bIns="0" rtlCol="0" anchor="t"/>
          <a:lstStyle/>
          <a:p>
            <a:pPr indent="0" marL="0">
              <a:buNone/>
            </a:pPr>
            <a:r>
              <a:rPr lang="en-US" sz="2200" b="1" dirty="0">
                <a:solidFill>
                  <a:schemeClr val="tx2"/>
                </a:solidFill>
              </a:rPr>
              <a:t>We can have trucks of 988. Without the primer, the job can’t start.</a:t>
            </a:r>
            <a:endParaRPr lang="en-US" sz="2200" dirty="0"/>
          </a:p>
        </p:txBody>
      </p:sp>
      <p:pic>
        <p:nvPicPr>
          <p:cNvPr id="10" name="Image 1" descr="preencoded.png">    </p:cNvPr>
          <p:cNvPicPr>
            <a:picLocks noChangeAspect="1"/>
          </p:cNvPicPr>
          <p:nvPr/>
        </p:nvPicPr>
        <p:blipFill>
          <a:blip r:embed="rId2"/>
          <a:stretch>
            <a:fillRect/>
          </a:stretch>
        </p:blipFill>
        <p:spPr>
          <a:xfrm>
            <a:off x="548640" y="2871216"/>
            <a:ext cx="182880" cy="182880"/>
          </a:xfrm>
          <a:prstGeom prst="rect">
            <a:avLst/>
          </a:prstGeom>
        </p:spPr>
      </p:pic>
      <p:sp>
        <p:nvSpPr>
          <p:cNvPr id="11" name="Text 7"/>
          <p:cNvSpPr txBox="1"/>
          <p:nvPr/>
        </p:nvSpPr>
        <p:spPr>
          <a:xfrm>
            <a:off x="859536" y="2834640"/>
            <a:ext cx="3712464" cy="502920"/>
          </a:xfrm>
          <a:prstGeom prst="rect">
            <a:avLst/>
          </a:prstGeom>
          <a:noFill/>
          <a:ln/>
        </p:spPr>
        <p:txBody>
          <a:bodyPr wrap="square" lIns="0" tIns="0" rIns="0" bIns="0" rtlCol="0" anchor="t"/>
          <a:lstStyle/>
          <a:p>
            <a:pPr indent="0" marL="0">
              <a:buNone/>
            </a:pPr>
            <a:r>
              <a:rPr lang="en-US" sz="1500" dirty="0">
                <a:solidFill>
                  <a:schemeClr val="tx1"/>
                </a:solidFill>
              </a:rPr>
              <a:t>Material isn’t ready to ship within 48 hours, and this isn’t new.</a:t>
            </a:r>
            <a:endParaRPr lang="en-US" sz="1500" dirty="0"/>
          </a:p>
        </p:txBody>
      </p:sp>
      <p:pic>
        <p:nvPicPr>
          <p:cNvPr id="12" name="Image 2" descr="preencoded.png">    </p:cNvPr>
          <p:cNvPicPr>
            <a:picLocks noChangeAspect="1"/>
          </p:cNvPicPr>
          <p:nvPr/>
        </p:nvPicPr>
        <p:blipFill>
          <a:blip r:embed="rId3"/>
          <a:stretch>
            <a:fillRect/>
          </a:stretch>
        </p:blipFill>
        <p:spPr>
          <a:xfrm>
            <a:off x="548640" y="3557016"/>
            <a:ext cx="182880" cy="182880"/>
          </a:xfrm>
          <a:prstGeom prst="rect">
            <a:avLst/>
          </a:prstGeom>
        </p:spPr>
      </p:pic>
      <p:sp>
        <p:nvSpPr>
          <p:cNvPr id="13" name="Text 8"/>
          <p:cNvSpPr txBox="1"/>
          <p:nvPr/>
        </p:nvSpPr>
        <p:spPr>
          <a:xfrm>
            <a:off x="859536" y="3520440"/>
            <a:ext cx="3712464" cy="502920"/>
          </a:xfrm>
          <a:prstGeom prst="rect">
            <a:avLst/>
          </a:prstGeom>
          <a:noFill/>
          <a:ln/>
        </p:spPr>
        <p:txBody>
          <a:bodyPr wrap="square" lIns="0" tIns="0" rIns="0" bIns="0" rtlCol="0" anchor="t"/>
          <a:lstStyle/>
          <a:p>
            <a:pPr indent="0" marL="0">
              <a:buNone/>
            </a:pPr>
            <a:r>
              <a:rPr lang="en-US" sz="1500" dirty="0">
                <a:solidFill>
                  <a:schemeClr val="tx1"/>
                </a:solidFill>
              </a:rPr>
              <a:t>No sprayable seam sealer for silicone. No cementitious coating for Arizona.</a:t>
            </a:r>
            <a:endParaRPr lang="en-US" sz="1500" dirty="0"/>
          </a:p>
        </p:txBody>
      </p:sp>
      <p:sp>
        <p:nvSpPr>
          <p:cNvPr id="14" name="Repair panel"/>
          <p:cNvSpPr/>
          <p:nvPr/>
        </p:nvSpPr>
        <p:spPr>
          <a:xfrm>
            <a:off x="4937760" y="1463040"/>
            <a:ext cx="3657600" cy="3017520"/>
          </a:xfrm>
          <a:prstGeom prst="rect">
            <a:avLst/>
          </a:prstGeom>
          <a:solidFill>
            <a:schemeClr val="accent1"/>
          </a:solidFill>
          <a:ln w="12700">
            <a:solidFill>
              <a:schemeClr val="accent1"/>
            </a:solidFill>
            <a:prstDash val="solid"/>
          </a:ln>
        </p:spPr>
      </p:sp>
      <p:sp>
        <p:nvSpPr>
          <p:cNvPr id="15" name="Text 10"/>
          <p:cNvSpPr txBox="1"/>
          <p:nvPr/>
        </p:nvSpPr>
        <p:spPr>
          <a:xfrm>
            <a:off x="5166360" y="1645920"/>
            <a:ext cx="3200400" cy="274320"/>
          </a:xfrm>
          <a:prstGeom prst="rect">
            <a:avLst/>
          </a:prstGeom>
          <a:noFill/>
          <a:ln/>
        </p:spPr>
        <p:txBody>
          <a:bodyPr wrap="square" lIns="0" tIns="0" rIns="0" bIns="0" rtlCol="0" anchor="t"/>
          <a:lstStyle/>
          <a:p>
            <a:pPr indent="0" marL="0">
              <a:buNone/>
            </a:pPr>
            <a:r>
              <a:rPr lang="en-US" sz="1600" b="1" dirty="0">
                <a:solidFill>
                  <a:schemeClr val="bg1"/>
                </a:solidFill>
              </a:rPr>
              <a:t>The repair</a:t>
            </a:r>
            <a:endParaRPr lang="en-US" sz="1600" dirty="0"/>
          </a:p>
        </p:txBody>
      </p:sp>
      <p:pic>
        <p:nvPicPr>
          <p:cNvPr id="16" name="Image 3" descr="preencoded.png">    </p:cNvPr>
          <p:cNvPicPr>
            <a:picLocks noChangeAspect="1"/>
          </p:cNvPicPr>
          <p:nvPr/>
        </p:nvPicPr>
        <p:blipFill>
          <a:blip r:embed="rId4"/>
          <a:stretch>
            <a:fillRect/>
          </a:stretch>
        </p:blipFill>
        <p:spPr>
          <a:xfrm>
            <a:off x="5166360" y="2093976"/>
            <a:ext cx="182880" cy="182880"/>
          </a:xfrm>
          <a:prstGeom prst="rect">
            <a:avLst/>
          </a:prstGeom>
        </p:spPr>
      </p:pic>
      <p:sp>
        <p:nvSpPr>
          <p:cNvPr id="17" name="Text 11"/>
          <p:cNvSpPr txBox="1"/>
          <p:nvPr/>
        </p:nvSpPr>
        <p:spPr>
          <a:xfrm>
            <a:off x="5477256" y="2057400"/>
            <a:ext cx="2935224" cy="457200"/>
          </a:xfrm>
          <a:prstGeom prst="rect">
            <a:avLst/>
          </a:prstGeom>
          <a:noFill/>
          <a:ln/>
        </p:spPr>
        <p:txBody>
          <a:bodyPr wrap="square" lIns="0" tIns="0" rIns="0" bIns="0" rtlCol="0" anchor="t"/>
          <a:lstStyle/>
          <a:p>
            <a:pPr indent="0" marL="0">
              <a:buNone/>
            </a:pPr>
            <a:r>
              <a:rPr lang="en-US" sz="1400" dirty="0">
                <a:solidFill>
                  <a:schemeClr val="bg1"/>
                </a:solidFill>
              </a:rPr>
              <a:t>Raise minimums on primer, bleed blockers and mastics.</a:t>
            </a:r>
            <a:endParaRPr lang="en-US" sz="1400" dirty="0"/>
          </a:p>
        </p:txBody>
      </p:sp>
      <p:pic>
        <p:nvPicPr>
          <p:cNvPr id="18" name="Image 4" descr="preencoded.png">    </p:cNvPr>
          <p:cNvPicPr>
            <a:picLocks noChangeAspect="1"/>
          </p:cNvPicPr>
          <p:nvPr/>
        </p:nvPicPr>
        <p:blipFill>
          <a:blip r:embed="rId5"/>
          <a:stretch>
            <a:fillRect/>
          </a:stretch>
        </p:blipFill>
        <p:spPr>
          <a:xfrm>
            <a:off x="5166360" y="2734056"/>
            <a:ext cx="182880" cy="182880"/>
          </a:xfrm>
          <a:prstGeom prst="rect">
            <a:avLst/>
          </a:prstGeom>
        </p:spPr>
      </p:pic>
      <p:sp>
        <p:nvSpPr>
          <p:cNvPr id="19" name="Text 12"/>
          <p:cNvSpPr txBox="1"/>
          <p:nvPr/>
        </p:nvSpPr>
        <p:spPr>
          <a:xfrm>
            <a:off x="5477256" y="2697480"/>
            <a:ext cx="2935224" cy="457200"/>
          </a:xfrm>
          <a:prstGeom prst="rect">
            <a:avLst/>
          </a:prstGeom>
          <a:noFill/>
          <a:ln/>
        </p:spPr>
        <p:txBody>
          <a:bodyPr wrap="square" lIns="0" tIns="0" rIns="0" bIns="0" rtlCol="0" anchor="t"/>
          <a:lstStyle/>
          <a:p>
            <a:pPr indent="0" marL="0">
              <a:buNone/>
            </a:pPr>
            <a:r>
              <a:rPr lang="en-US" sz="1400" dirty="0">
                <a:solidFill>
                  <a:schemeClr val="bg1"/>
                </a:solidFill>
              </a:rPr>
              <a:t>Ramp up production ahead of known storms and weather.</a:t>
            </a:r>
            <a:endParaRPr lang="en-US" sz="1400" dirty="0"/>
          </a:p>
        </p:txBody>
      </p:sp>
      <p:pic>
        <p:nvPicPr>
          <p:cNvPr id="20" name="Image 5" descr="preencoded.png">    </p:cNvPr>
          <p:cNvPicPr>
            <a:picLocks noChangeAspect="1"/>
          </p:cNvPicPr>
          <p:nvPr/>
        </p:nvPicPr>
        <p:blipFill>
          <a:blip r:embed="rId6"/>
          <a:stretch>
            <a:fillRect/>
          </a:stretch>
        </p:blipFill>
        <p:spPr>
          <a:xfrm>
            <a:off x="5166360" y="3374136"/>
            <a:ext cx="182880" cy="182880"/>
          </a:xfrm>
          <a:prstGeom prst="rect">
            <a:avLst/>
          </a:prstGeom>
        </p:spPr>
      </p:pic>
      <p:sp>
        <p:nvSpPr>
          <p:cNvPr id="21" name="Text 13"/>
          <p:cNvSpPr txBox="1"/>
          <p:nvPr/>
        </p:nvSpPr>
        <p:spPr>
          <a:xfrm>
            <a:off x="5477256" y="3337560"/>
            <a:ext cx="2935224" cy="457200"/>
          </a:xfrm>
          <a:prstGeom prst="rect">
            <a:avLst/>
          </a:prstGeom>
          <a:noFill/>
          <a:ln/>
        </p:spPr>
        <p:txBody>
          <a:bodyPr wrap="square" lIns="0" tIns="0" rIns="0" bIns="0" rtlCol="0" anchor="t"/>
          <a:lstStyle/>
          <a:p>
            <a:pPr indent="0" marL="0">
              <a:buNone/>
            </a:pPr>
            <a:r>
              <a:rPr lang="en-US" sz="1400" dirty="0">
                <a:solidFill>
                  <a:schemeClr val="bg1"/>
                </a:solidFill>
              </a:rPr>
              <a:t>Have accessories ready to ship within 48 hours.</a:t>
            </a:r>
            <a:endParaRPr lang="en-US" sz="1400" dirty="0"/>
          </a:p>
        </p:txBody>
      </p:sp>
      <p:pic>
        <p:nvPicPr>
          <p:cNvPr id="22" name="Image 6" descr="preencoded.png">    </p:cNvPr>
          <p:cNvPicPr>
            <a:picLocks noChangeAspect="1"/>
          </p:cNvPicPr>
          <p:nvPr/>
        </p:nvPicPr>
        <p:blipFill>
          <a:blip r:embed="rId7"/>
          <a:stretch>
            <a:fillRect/>
          </a:stretch>
        </p:blipFill>
        <p:spPr>
          <a:xfrm>
            <a:off x="5166360" y="4014216"/>
            <a:ext cx="182880" cy="182880"/>
          </a:xfrm>
          <a:prstGeom prst="rect">
            <a:avLst/>
          </a:prstGeom>
        </p:spPr>
      </p:pic>
      <p:sp>
        <p:nvSpPr>
          <p:cNvPr id="23" name="Text 14"/>
          <p:cNvSpPr txBox="1"/>
          <p:nvPr/>
        </p:nvSpPr>
        <p:spPr>
          <a:xfrm>
            <a:off x="5477256" y="3977640"/>
            <a:ext cx="2935224" cy="228600"/>
          </a:xfrm>
          <a:prstGeom prst="rect">
            <a:avLst/>
          </a:prstGeom>
          <a:noFill/>
          <a:ln/>
        </p:spPr>
        <p:txBody>
          <a:bodyPr wrap="square" lIns="0" tIns="0" rIns="0" bIns="0" rtlCol="0" anchor="t"/>
          <a:lstStyle/>
          <a:p>
            <a:pPr indent="0" marL="0">
              <a:buNone/>
            </a:pPr>
            <a:r>
              <a:rPr lang="en-US" sz="1400" dirty="0">
                <a:solidFill>
                  <a:schemeClr val="bg1"/>
                </a:solidFill>
              </a:rPr>
              <a:t>Name an owner for the system gaps.</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6583680" cy="868680"/>
          </a:xfrm>
          <a:prstGeom prst="rect">
            <a:avLst/>
          </a:prstGeom>
          <a:noFill/>
          <a:ln/>
        </p:spPr>
        <p:txBody>
          <a:bodyPr wrap="square" lIns="0" tIns="0" rIns="0" bIns="0" rtlCol="0" anchor="t"/>
          <a:lstStyle/>
          <a:p>
            <a:pPr algn="l" indent="0" marL="0">
              <a:buNone/>
            </a:pPr>
            <a:r>
              <a:rPr lang="en-US" sz="2800" b="1" dirty="0">
                <a:solidFill>
                  <a:schemeClr val="tx2"/>
                </a:solidFill>
              </a:rPr>
              <a:t>Leak 5: Good leads, too few of them</a:t>
            </a:r>
            <a:endParaRPr lang="en-US" sz="2800" dirty="0"/>
          </a:p>
        </p:txBody>
      </p:sp>
      <p:pic>
        <p:nvPicPr>
          <p:cNvPr id="3" name="Roof plan" descr="preencoded.png">    </p:cNvPr>
          <p:cNvPicPr>
            <a:picLocks noChangeAspect="1"/>
          </p:cNvPicPr>
          <p:nvPr/>
        </p:nvPicPr>
        <p:blipFill>
          <a:blip r:embed="rId1"/>
          <a:stretch>
            <a:fillRect/>
          </a:stretch>
        </p:blipFill>
        <p:spPr>
          <a:xfrm>
            <a:off x="7498080" y="384048"/>
            <a:ext cx="1097280" cy="731520"/>
          </a:xfrm>
          <a:prstGeom prst="rect">
            <a:avLst/>
          </a:prstGeom>
        </p:spPr>
      </p:pic>
      <p:sp>
        <p:nvSpPr>
          <p:cNvPr id="4" name="Leak marker 1"/>
          <p:cNvSpPr/>
          <p:nvPr/>
        </p:nvSpPr>
        <p:spPr>
          <a:xfrm>
            <a:off x="7642555" y="627278"/>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 name="Leak marker 2"/>
          <p:cNvSpPr/>
          <p:nvPr/>
        </p:nvSpPr>
        <p:spPr>
          <a:xfrm>
            <a:off x="8300923" y="59070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6" name="Leak marker 3"/>
          <p:cNvSpPr/>
          <p:nvPr/>
        </p:nvSpPr>
        <p:spPr>
          <a:xfrm>
            <a:off x="7982712" y="861365"/>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7" name="Leak marker 4"/>
          <p:cNvSpPr/>
          <p:nvPr/>
        </p:nvSpPr>
        <p:spPr>
          <a:xfrm>
            <a:off x="8421624" y="758952"/>
            <a:ext cx="128016" cy="128016"/>
          </a:xfrm>
          <a:prstGeom prst="ellipse">
            <a:avLst/>
          </a:prstGeom>
          <a:solidFill>
            <a:srgbClr val="BCBEC0"/>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8" name="Leak marker 5"/>
          <p:cNvSpPr/>
          <p:nvPr/>
        </p:nvSpPr>
        <p:spPr>
          <a:xfrm>
            <a:off x="7637069" y="877824"/>
            <a:ext cx="182880" cy="18288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9" name="Text 6"/>
          <p:cNvSpPr txBox="1"/>
          <p:nvPr/>
        </p:nvSpPr>
        <p:spPr>
          <a:xfrm>
            <a:off x="548640" y="1463040"/>
            <a:ext cx="4206240" cy="274320"/>
          </a:xfrm>
          <a:prstGeom prst="rect">
            <a:avLst/>
          </a:prstGeom>
          <a:noFill/>
          <a:ln/>
        </p:spPr>
        <p:txBody>
          <a:bodyPr wrap="square" lIns="0" tIns="0" rIns="0" bIns="0" rtlCol="0" anchor="t"/>
          <a:lstStyle/>
          <a:p>
            <a:pPr indent="0" marL="0">
              <a:buNone/>
            </a:pPr>
            <a:r>
              <a:rPr lang="en-US" sz="1300" b="1" dirty="0">
                <a:solidFill>
                  <a:srgbClr val="5F5D5E"/>
                </a:solidFill>
              </a:rPr>
              <a:t>What roofers live with</a:t>
            </a:r>
            <a:endParaRPr lang="en-US" sz="1300" dirty="0"/>
          </a:p>
        </p:txBody>
      </p:sp>
      <p:pic>
        <p:nvPicPr>
          <p:cNvPr id="10" name="Image 1" descr="preencoded.png">    </p:cNvPr>
          <p:cNvPicPr>
            <a:picLocks noChangeAspect="1"/>
          </p:cNvPicPr>
          <p:nvPr/>
        </p:nvPicPr>
        <p:blipFill>
          <a:blip r:embed="rId2"/>
          <a:stretch>
            <a:fillRect/>
          </a:stretch>
        </p:blipFill>
        <p:spPr>
          <a:xfrm>
            <a:off x="548640" y="1911096"/>
            <a:ext cx="182880" cy="182880"/>
          </a:xfrm>
          <a:prstGeom prst="rect">
            <a:avLst/>
          </a:prstGeom>
        </p:spPr>
      </p:pic>
      <p:sp>
        <p:nvSpPr>
          <p:cNvPr id="11" name="Text 7"/>
          <p:cNvSpPr txBox="1"/>
          <p:nvPr/>
        </p:nvSpPr>
        <p:spPr>
          <a:xfrm>
            <a:off x="859536" y="1874520"/>
            <a:ext cx="3712464" cy="493776"/>
          </a:xfrm>
          <a:prstGeom prst="rect">
            <a:avLst/>
          </a:prstGeom>
          <a:noFill/>
          <a:ln/>
        </p:spPr>
        <p:txBody>
          <a:bodyPr wrap="square" lIns="0" tIns="0" rIns="0" bIns="0" rtlCol="0" anchor="t"/>
          <a:lstStyle/>
          <a:p>
            <a:pPr indent="0" marL="0">
              <a:buNone/>
            </a:pPr>
            <a:r>
              <a:rPr lang="en-US" sz="1500" dirty="0">
                <a:solidFill>
                  <a:schemeClr val="tx1"/>
                </a:solidFill>
              </a:rPr>
              <a:t>Sherwin-Williams sends more leads, thanks to its paint contracts.</a:t>
            </a:r>
            <a:endParaRPr lang="en-US" sz="1500" dirty="0"/>
          </a:p>
        </p:txBody>
      </p:sp>
      <p:pic>
        <p:nvPicPr>
          <p:cNvPr id="12" name="Image 2" descr="preencoded.png">    </p:cNvPr>
          <p:cNvPicPr>
            <a:picLocks noChangeAspect="1"/>
          </p:cNvPicPr>
          <p:nvPr/>
        </p:nvPicPr>
        <p:blipFill>
          <a:blip r:embed="rId3"/>
          <a:stretch>
            <a:fillRect/>
          </a:stretch>
        </p:blipFill>
        <p:spPr>
          <a:xfrm>
            <a:off x="548640" y="2633472"/>
            <a:ext cx="182880" cy="182880"/>
          </a:xfrm>
          <a:prstGeom prst="rect">
            <a:avLst/>
          </a:prstGeom>
        </p:spPr>
      </p:pic>
      <p:sp>
        <p:nvSpPr>
          <p:cNvPr id="13" name="Text 8"/>
          <p:cNvSpPr txBox="1"/>
          <p:nvPr/>
        </p:nvSpPr>
        <p:spPr>
          <a:xfrm>
            <a:off x="859536" y="2596896"/>
            <a:ext cx="3712464" cy="493776"/>
          </a:xfrm>
          <a:prstGeom prst="rect">
            <a:avLst/>
          </a:prstGeom>
          <a:noFill/>
          <a:ln/>
        </p:spPr>
        <p:txBody>
          <a:bodyPr wrap="square" lIns="0" tIns="0" rIns="0" bIns="0" rtlCol="0" anchor="t"/>
          <a:lstStyle/>
          <a:p>
            <a:pPr indent="0" marL="0">
              <a:buNone/>
            </a:pPr>
            <a:r>
              <a:rPr lang="en-US" sz="1500" dirty="0">
                <a:solidFill>
                  <a:schemeClr val="tx1"/>
                </a:solidFill>
              </a:rPr>
              <a:t>Some manufacturers offer contractors discounted thermal moisture surveys.</a:t>
            </a:r>
            <a:endParaRPr lang="en-US" sz="1500" dirty="0"/>
          </a:p>
        </p:txBody>
      </p:sp>
      <p:pic>
        <p:nvPicPr>
          <p:cNvPr id="14" name="Image 3" descr="preencoded.png">    </p:cNvPr>
          <p:cNvPicPr>
            <a:picLocks noChangeAspect="1"/>
          </p:cNvPicPr>
          <p:nvPr/>
        </p:nvPicPr>
        <p:blipFill>
          <a:blip r:embed="rId4"/>
          <a:stretch>
            <a:fillRect/>
          </a:stretch>
        </p:blipFill>
        <p:spPr>
          <a:xfrm>
            <a:off x="548640" y="3355848"/>
            <a:ext cx="182880" cy="182880"/>
          </a:xfrm>
          <a:prstGeom prst="rect">
            <a:avLst/>
          </a:prstGeom>
        </p:spPr>
      </p:pic>
      <p:sp>
        <p:nvSpPr>
          <p:cNvPr id="15" name="Text 9"/>
          <p:cNvSpPr txBox="1"/>
          <p:nvPr/>
        </p:nvSpPr>
        <p:spPr>
          <a:xfrm>
            <a:off x="859536" y="3319272"/>
            <a:ext cx="3712464" cy="493776"/>
          </a:xfrm>
          <a:prstGeom prst="rect">
            <a:avLst/>
          </a:prstGeom>
          <a:noFill/>
          <a:ln/>
        </p:spPr>
        <p:txBody>
          <a:bodyPr wrap="square" lIns="0" tIns="0" rIns="0" bIns="0" rtlCol="0" anchor="t"/>
          <a:lstStyle/>
          <a:p>
            <a:pPr indent="0" marL="0">
              <a:buNone/>
            </a:pPr>
            <a:r>
              <a:rPr lang="en-US" sz="1500" dirty="0">
                <a:solidFill>
                  <a:schemeClr val="tx1"/>
                </a:solidFill>
              </a:rPr>
              <a:t>Our national accounts team spends its time firefighting and covering CS.</a:t>
            </a:r>
            <a:endParaRPr lang="en-US" sz="1500" dirty="0"/>
          </a:p>
        </p:txBody>
      </p:sp>
      <p:sp>
        <p:nvSpPr>
          <p:cNvPr id="16" name="Repair panel"/>
          <p:cNvSpPr/>
          <p:nvPr/>
        </p:nvSpPr>
        <p:spPr>
          <a:xfrm>
            <a:off x="4937760" y="1463040"/>
            <a:ext cx="3657600" cy="3017520"/>
          </a:xfrm>
          <a:prstGeom prst="rect">
            <a:avLst/>
          </a:prstGeom>
          <a:solidFill>
            <a:schemeClr val="accent1"/>
          </a:solidFill>
          <a:ln w="12700">
            <a:solidFill>
              <a:schemeClr val="accent1"/>
            </a:solidFill>
            <a:prstDash val="solid"/>
          </a:ln>
        </p:spPr>
      </p:sp>
      <p:sp>
        <p:nvSpPr>
          <p:cNvPr id="17" name="Text 11"/>
          <p:cNvSpPr txBox="1"/>
          <p:nvPr/>
        </p:nvSpPr>
        <p:spPr>
          <a:xfrm>
            <a:off x="5166360" y="1645920"/>
            <a:ext cx="3200400" cy="274320"/>
          </a:xfrm>
          <a:prstGeom prst="rect">
            <a:avLst/>
          </a:prstGeom>
          <a:noFill/>
          <a:ln/>
        </p:spPr>
        <p:txBody>
          <a:bodyPr wrap="square" lIns="0" tIns="0" rIns="0" bIns="0" rtlCol="0" anchor="t"/>
          <a:lstStyle/>
          <a:p>
            <a:pPr indent="0" marL="0">
              <a:buNone/>
            </a:pPr>
            <a:r>
              <a:rPr lang="en-US" sz="1600" b="1" dirty="0">
                <a:solidFill>
                  <a:schemeClr val="bg1"/>
                </a:solidFill>
              </a:rPr>
              <a:t>The repair</a:t>
            </a:r>
            <a:endParaRPr lang="en-US" sz="1600" dirty="0"/>
          </a:p>
        </p:txBody>
      </p:sp>
      <p:pic>
        <p:nvPicPr>
          <p:cNvPr id="18" name="Image 4" descr="preencoded.png">    </p:cNvPr>
          <p:cNvPicPr>
            <a:picLocks noChangeAspect="1"/>
          </p:cNvPicPr>
          <p:nvPr/>
        </p:nvPicPr>
        <p:blipFill>
          <a:blip r:embed="rId5"/>
          <a:stretch>
            <a:fillRect/>
          </a:stretch>
        </p:blipFill>
        <p:spPr>
          <a:xfrm>
            <a:off x="5166360" y="2093976"/>
            <a:ext cx="182880" cy="182880"/>
          </a:xfrm>
          <a:prstGeom prst="rect">
            <a:avLst/>
          </a:prstGeom>
        </p:spPr>
      </p:pic>
      <p:sp>
        <p:nvSpPr>
          <p:cNvPr id="19" name="Text 12"/>
          <p:cNvSpPr txBox="1"/>
          <p:nvPr/>
        </p:nvSpPr>
        <p:spPr>
          <a:xfrm>
            <a:off x="5477256" y="2057400"/>
            <a:ext cx="2935224" cy="457200"/>
          </a:xfrm>
          <a:prstGeom prst="rect">
            <a:avLst/>
          </a:prstGeom>
          <a:noFill/>
          <a:ln/>
        </p:spPr>
        <p:txBody>
          <a:bodyPr wrap="square" lIns="0" tIns="0" rIns="0" bIns="0" rtlCol="0" anchor="t"/>
          <a:lstStyle/>
          <a:p>
            <a:pPr indent="0" marL="0">
              <a:buNone/>
            </a:pPr>
            <a:r>
              <a:rPr lang="en-US" sz="1400" dirty="0">
                <a:solidFill>
                  <a:schemeClr val="bg1"/>
                </a:solidFill>
              </a:rPr>
              <a:t>Work with other Henry divisions on leads.</a:t>
            </a:r>
            <a:endParaRPr lang="en-US" sz="1400" dirty="0"/>
          </a:p>
        </p:txBody>
      </p:sp>
      <p:pic>
        <p:nvPicPr>
          <p:cNvPr id="20" name="Image 5" descr="preencoded.png">    </p:cNvPr>
          <p:cNvPicPr>
            <a:picLocks noChangeAspect="1"/>
          </p:cNvPicPr>
          <p:nvPr/>
        </p:nvPicPr>
        <p:blipFill>
          <a:blip r:embed="rId6"/>
          <a:stretch>
            <a:fillRect/>
          </a:stretch>
        </p:blipFill>
        <p:spPr>
          <a:xfrm>
            <a:off x="5166360" y="2734056"/>
            <a:ext cx="182880" cy="182880"/>
          </a:xfrm>
          <a:prstGeom prst="rect">
            <a:avLst/>
          </a:prstGeom>
        </p:spPr>
      </p:pic>
      <p:sp>
        <p:nvSpPr>
          <p:cNvPr id="21" name="Text 13"/>
          <p:cNvSpPr txBox="1"/>
          <p:nvPr/>
        </p:nvSpPr>
        <p:spPr>
          <a:xfrm>
            <a:off x="5477256" y="2697480"/>
            <a:ext cx="2935224" cy="457200"/>
          </a:xfrm>
          <a:prstGeom prst="rect">
            <a:avLst/>
          </a:prstGeom>
          <a:noFill/>
          <a:ln/>
        </p:spPr>
        <p:txBody>
          <a:bodyPr wrap="square" lIns="0" tIns="0" rIns="0" bIns="0" rtlCol="0" anchor="t"/>
          <a:lstStyle/>
          <a:p>
            <a:pPr indent="0" marL="0">
              <a:buNone/>
            </a:pPr>
            <a:r>
              <a:rPr lang="en-US" sz="1400" dirty="0">
                <a:solidFill>
                  <a:schemeClr val="bg1"/>
                </a:solidFill>
              </a:rPr>
              <a:t>Give the national accounts team its time back for lead generation.</a:t>
            </a:r>
            <a:endParaRPr lang="en-US" sz="1400" dirty="0"/>
          </a:p>
        </p:txBody>
      </p:sp>
      <p:pic>
        <p:nvPicPr>
          <p:cNvPr id="22" name="Image 6" descr="preencoded.png">    </p:cNvPr>
          <p:cNvPicPr>
            <a:picLocks noChangeAspect="1"/>
          </p:cNvPicPr>
          <p:nvPr/>
        </p:nvPicPr>
        <p:blipFill>
          <a:blip r:embed="rId7"/>
          <a:stretch>
            <a:fillRect/>
          </a:stretch>
        </p:blipFill>
        <p:spPr>
          <a:xfrm>
            <a:off x="5166360" y="3374136"/>
            <a:ext cx="182880" cy="182880"/>
          </a:xfrm>
          <a:prstGeom prst="rect">
            <a:avLst/>
          </a:prstGeom>
        </p:spPr>
      </p:pic>
      <p:sp>
        <p:nvSpPr>
          <p:cNvPr id="23" name="Text 14"/>
          <p:cNvSpPr txBox="1"/>
          <p:nvPr/>
        </p:nvSpPr>
        <p:spPr>
          <a:xfrm>
            <a:off x="5477256" y="3337560"/>
            <a:ext cx="2935224" cy="228600"/>
          </a:xfrm>
          <a:prstGeom prst="rect">
            <a:avLst/>
          </a:prstGeom>
          <a:noFill/>
          <a:ln/>
        </p:spPr>
        <p:txBody>
          <a:bodyPr wrap="square" lIns="0" tIns="0" rIns="0" bIns="0" rtlCol="0" anchor="t"/>
          <a:lstStyle/>
          <a:p>
            <a:pPr indent="0" marL="0">
              <a:buNone/>
            </a:pPr>
            <a:r>
              <a:rPr lang="en-US" sz="1400" dirty="0">
                <a:solidFill>
                  <a:schemeClr val="bg1"/>
                </a:solidFill>
              </a:rPr>
              <a:t>Moisture surveys: John T Hull.</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While we fix the leaks, protect what already works</a:t>
            </a:r>
            <a:endParaRPr lang="en-US" sz="2800" dirty="0"/>
          </a:p>
        </p:txBody>
      </p:sp>
      <p:sp>
        <p:nvSpPr>
          <p:cNvPr id="3" name="Shape 1"/>
          <p:cNvSpPr/>
          <p:nvPr/>
        </p:nvSpPr>
        <p:spPr>
          <a:xfrm>
            <a:off x="548640" y="1554480"/>
            <a:ext cx="502920" cy="502920"/>
          </a:xfrm>
          <a:prstGeom prst="ellipse">
            <a:avLst/>
          </a:prstGeom>
          <a:solidFill>
            <a:schemeClr val="accent4"/>
          </a:solidFill>
          <a:ln w="12700">
            <a:solidFill>
              <a:schemeClr val="accent4"/>
            </a:solidFill>
            <a:prstDash val="solid"/>
          </a:ln>
        </p:spPr>
      </p:sp>
      <p:pic>
        <p:nvPicPr>
          <p:cNvPr id="4" name="Image 0" descr="preencoded.png">    </p:cNvPr>
          <p:cNvPicPr>
            <a:picLocks noChangeAspect="1"/>
          </p:cNvPicPr>
          <p:nvPr/>
        </p:nvPicPr>
        <p:blipFill>
          <a:blip r:embed="rId1"/>
          <a:stretch>
            <a:fillRect/>
          </a:stretch>
        </p:blipFill>
        <p:spPr>
          <a:xfrm>
            <a:off x="685800" y="1691640"/>
            <a:ext cx="228600" cy="228600"/>
          </a:xfrm>
          <a:prstGeom prst="rect">
            <a:avLst/>
          </a:prstGeom>
        </p:spPr>
      </p:pic>
      <p:sp>
        <p:nvSpPr>
          <p:cNvPr id="5" name="Text 2"/>
          <p:cNvSpPr txBox="1"/>
          <p:nvPr/>
        </p:nvSpPr>
        <p:spPr>
          <a:xfrm>
            <a:off x="548640" y="2286000"/>
            <a:ext cx="1828800" cy="320040"/>
          </a:xfrm>
          <a:prstGeom prst="rect">
            <a:avLst/>
          </a:prstGeom>
          <a:noFill/>
          <a:ln/>
        </p:spPr>
        <p:txBody>
          <a:bodyPr wrap="square" lIns="0" tIns="0" rIns="0" bIns="0" rtlCol="0" anchor="t"/>
          <a:lstStyle/>
          <a:p>
            <a:pPr indent="0" marL="0">
              <a:buNone/>
            </a:pPr>
            <a:r>
              <a:rPr lang="en-US" sz="1700" b="1" dirty="0">
                <a:solidFill>
                  <a:schemeClr val="tx2"/>
                </a:solidFill>
              </a:rPr>
              <a:t>Core products</a:t>
            </a:r>
            <a:endParaRPr lang="en-US" sz="1700" dirty="0"/>
          </a:p>
        </p:txBody>
      </p:sp>
      <p:sp>
        <p:nvSpPr>
          <p:cNvPr id="6" name="Text 3"/>
          <p:cNvSpPr txBox="1"/>
          <p:nvPr/>
        </p:nvSpPr>
        <p:spPr>
          <a:xfrm>
            <a:off x="548640" y="2697480"/>
            <a:ext cx="1828800" cy="1097280"/>
          </a:xfrm>
          <a:prstGeom prst="rect">
            <a:avLst/>
          </a:prstGeom>
          <a:noFill/>
          <a:ln/>
        </p:spPr>
        <p:txBody>
          <a:bodyPr wrap="square" lIns="0" tIns="0" rIns="0" bIns="0" rtlCol="0" anchor="t"/>
          <a:lstStyle/>
          <a:p>
            <a:pPr indent="0" marL="0">
              <a:buNone/>
            </a:pPr>
            <a:r>
              <a:rPr lang="en-US" sz="1400" dirty="0">
                <a:solidFill>
                  <a:schemeClr val="tx1"/>
                </a:solidFill>
              </a:rPr>
              <a:t>Silicone and SPF lead on quality and price.</a:t>
            </a:r>
            <a:endParaRPr lang="en-US" sz="1400" dirty="0"/>
          </a:p>
        </p:txBody>
      </p:sp>
      <p:sp>
        <p:nvSpPr>
          <p:cNvPr id="7" name="Shape 4"/>
          <p:cNvSpPr/>
          <p:nvPr/>
        </p:nvSpPr>
        <p:spPr>
          <a:xfrm>
            <a:off x="2606040" y="1554480"/>
            <a:ext cx="502920" cy="502920"/>
          </a:xfrm>
          <a:prstGeom prst="ellipse">
            <a:avLst/>
          </a:prstGeom>
          <a:solidFill>
            <a:schemeClr val="accent4"/>
          </a:solidFill>
          <a:ln w="12700">
            <a:solidFill>
              <a:schemeClr val="accent4"/>
            </a:solidFill>
            <a:prstDash val="solid"/>
          </a:ln>
        </p:spPr>
      </p:sp>
      <p:pic>
        <p:nvPicPr>
          <p:cNvPr id="8" name="Image 1" descr="preencoded.png">    </p:cNvPr>
          <p:cNvPicPr>
            <a:picLocks noChangeAspect="1"/>
          </p:cNvPicPr>
          <p:nvPr/>
        </p:nvPicPr>
        <p:blipFill>
          <a:blip r:embed="rId2"/>
          <a:stretch>
            <a:fillRect/>
          </a:stretch>
        </p:blipFill>
        <p:spPr>
          <a:xfrm>
            <a:off x="2743200" y="1691640"/>
            <a:ext cx="228600" cy="228600"/>
          </a:xfrm>
          <a:prstGeom prst="rect">
            <a:avLst/>
          </a:prstGeom>
        </p:spPr>
      </p:pic>
      <p:sp>
        <p:nvSpPr>
          <p:cNvPr id="9" name="Text 5"/>
          <p:cNvSpPr txBox="1"/>
          <p:nvPr/>
        </p:nvSpPr>
        <p:spPr>
          <a:xfrm>
            <a:off x="2606040" y="2286000"/>
            <a:ext cx="1828800" cy="320040"/>
          </a:xfrm>
          <a:prstGeom prst="rect">
            <a:avLst/>
          </a:prstGeom>
          <a:noFill/>
          <a:ln/>
        </p:spPr>
        <p:txBody>
          <a:bodyPr wrap="square" lIns="0" tIns="0" rIns="0" bIns="0" rtlCol="0" anchor="t"/>
          <a:lstStyle/>
          <a:p>
            <a:pPr indent="0" marL="0">
              <a:buNone/>
            </a:pPr>
            <a:r>
              <a:rPr lang="en-US" sz="1700" b="1" dirty="0">
                <a:solidFill>
                  <a:schemeClr val="tx2"/>
                </a:solidFill>
              </a:rPr>
              <a:t>Leads that close</a:t>
            </a:r>
            <a:endParaRPr lang="en-US" sz="1700" dirty="0"/>
          </a:p>
        </p:txBody>
      </p:sp>
      <p:sp>
        <p:nvSpPr>
          <p:cNvPr id="10" name="Text 6"/>
          <p:cNvSpPr txBox="1"/>
          <p:nvPr/>
        </p:nvSpPr>
        <p:spPr>
          <a:xfrm>
            <a:off x="2606040" y="2697480"/>
            <a:ext cx="1828800" cy="1097280"/>
          </a:xfrm>
          <a:prstGeom prst="rect">
            <a:avLst/>
          </a:prstGeom>
          <a:noFill/>
          <a:ln/>
        </p:spPr>
        <p:txBody>
          <a:bodyPr wrap="square" lIns="0" tIns="0" rIns="0" bIns="0" rtlCol="0" anchor="t"/>
          <a:lstStyle/>
          <a:p>
            <a:pPr indent="0" marL="0">
              <a:buNone/>
            </a:pPr>
            <a:r>
              <a:rPr lang="en-US" sz="1400" dirty="0">
                <a:solidFill>
                  <a:schemeClr val="tx1"/>
                </a:solidFill>
              </a:rPr>
              <a:t>National account leads close at a high rate.</a:t>
            </a:r>
            <a:endParaRPr lang="en-US" sz="1400" dirty="0"/>
          </a:p>
        </p:txBody>
      </p:sp>
      <p:sp>
        <p:nvSpPr>
          <p:cNvPr id="11" name="Shape 7"/>
          <p:cNvSpPr/>
          <p:nvPr/>
        </p:nvSpPr>
        <p:spPr>
          <a:xfrm>
            <a:off x="4663440" y="1554480"/>
            <a:ext cx="502920" cy="502920"/>
          </a:xfrm>
          <a:prstGeom prst="ellipse">
            <a:avLst/>
          </a:prstGeom>
          <a:solidFill>
            <a:schemeClr val="accent4"/>
          </a:solidFill>
          <a:ln w="12700">
            <a:solidFill>
              <a:schemeClr val="accent4"/>
            </a:solidFill>
            <a:prstDash val="solid"/>
          </a:ln>
        </p:spPr>
      </p:sp>
      <p:pic>
        <p:nvPicPr>
          <p:cNvPr id="12" name="Image 2" descr="preencoded.png">    </p:cNvPr>
          <p:cNvPicPr>
            <a:picLocks noChangeAspect="1"/>
          </p:cNvPicPr>
          <p:nvPr/>
        </p:nvPicPr>
        <p:blipFill>
          <a:blip r:embed="rId3"/>
          <a:stretch>
            <a:fillRect/>
          </a:stretch>
        </p:blipFill>
        <p:spPr>
          <a:xfrm>
            <a:off x="4800600" y="1691640"/>
            <a:ext cx="228600" cy="228600"/>
          </a:xfrm>
          <a:prstGeom prst="rect">
            <a:avLst/>
          </a:prstGeom>
        </p:spPr>
      </p:pic>
      <p:sp>
        <p:nvSpPr>
          <p:cNvPr id="13" name="Text 8"/>
          <p:cNvSpPr txBox="1"/>
          <p:nvPr/>
        </p:nvSpPr>
        <p:spPr>
          <a:xfrm>
            <a:off x="4663440" y="2286000"/>
            <a:ext cx="1828800" cy="320040"/>
          </a:xfrm>
          <a:prstGeom prst="rect">
            <a:avLst/>
          </a:prstGeom>
          <a:noFill/>
          <a:ln/>
        </p:spPr>
        <p:txBody>
          <a:bodyPr wrap="square" lIns="0" tIns="0" rIns="0" bIns="0" rtlCol="0" anchor="t"/>
          <a:lstStyle/>
          <a:p>
            <a:pPr indent="0" marL="0">
              <a:buNone/>
            </a:pPr>
            <a:r>
              <a:rPr lang="en-US" sz="1700" b="1" dirty="0">
                <a:solidFill>
                  <a:schemeClr val="tx2"/>
                </a:solidFill>
              </a:rPr>
              <a:t>Flexible on specs</a:t>
            </a:r>
            <a:endParaRPr lang="en-US" sz="1700" dirty="0"/>
          </a:p>
        </p:txBody>
      </p:sp>
      <p:sp>
        <p:nvSpPr>
          <p:cNvPr id="14" name="Text 9"/>
          <p:cNvSpPr txBox="1"/>
          <p:nvPr/>
        </p:nvSpPr>
        <p:spPr>
          <a:xfrm>
            <a:off x="4663440" y="2697480"/>
            <a:ext cx="1828800" cy="1097280"/>
          </a:xfrm>
          <a:prstGeom prst="rect">
            <a:avLst/>
          </a:prstGeom>
          <a:noFill/>
          <a:ln/>
        </p:spPr>
        <p:txBody>
          <a:bodyPr wrap="square" lIns="0" tIns="0" rIns="0" bIns="0" rtlCol="0" anchor="t"/>
          <a:lstStyle/>
          <a:p>
            <a:pPr indent="0" marL="0">
              <a:buNone/>
            </a:pPr>
            <a:r>
              <a:rPr lang="en-US" sz="1400" dirty="0">
                <a:solidFill>
                  <a:schemeClr val="tx1"/>
                </a:solidFill>
              </a:rPr>
              <a:t>Others ask for less. We stay willing to flex on scope and specs.</a:t>
            </a:r>
            <a:endParaRPr lang="en-US" sz="1400" dirty="0"/>
          </a:p>
        </p:txBody>
      </p:sp>
      <p:sp>
        <p:nvSpPr>
          <p:cNvPr id="15" name="Shape 10"/>
          <p:cNvSpPr/>
          <p:nvPr/>
        </p:nvSpPr>
        <p:spPr>
          <a:xfrm>
            <a:off x="6720840" y="1554480"/>
            <a:ext cx="502920" cy="502920"/>
          </a:xfrm>
          <a:prstGeom prst="ellipse">
            <a:avLst/>
          </a:prstGeom>
          <a:solidFill>
            <a:schemeClr val="accent4"/>
          </a:solidFill>
          <a:ln w="12700">
            <a:solidFill>
              <a:schemeClr val="accent4"/>
            </a:solidFill>
            <a:prstDash val="solid"/>
          </a:ln>
        </p:spPr>
      </p:sp>
      <p:pic>
        <p:nvPicPr>
          <p:cNvPr id="16" name="Image 3" descr="preencoded.png">    </p:cNvPr>
          <p:cNvPicPr>
            <a:picLocks noChangeAspect="1"/>
          </p:cNvPicPr>
          <p:nvPr/>
        </p:nvPicPr>
        <p:blipFill>
          <a:blip r:embed="rId4"/>
          <a:stretch>
            <a:fillRect/>
          </a:stretch>
        </p:blipFill>
        <p:spPr>
          <a:xfrm>
            <a:off x="6858000" y="1691640"/>
            <a:ext cx="228600" cy="228600"/>
          </a:xfrm>
          <a:prstGeom prst="rect">
            <a:avLst/>
          </a:prstGeom>
        </p:spPr>
      </p:pic>
      <p:sp>
        <p:nvSpPr>
          <p:cNvPr id="17" name="Text 11"/>
          <p:cNvSpPr txBox="1"/>
          <p:nvPr/>
        </p:nvSpPr>
        <p:spPr>
          <a:xfrm>
            <a:off x="6720840" y="2286000"/>
            <a:ext cx="1828800" cy="320040"/>
          </a:xfrm>
          <a:prstGeom prst="rect">
            <a:avLst/>
          </a:prstGeom>
          <a:noFill/>
          <a:ln/>
        </p:spPr>
        <p:txBody>
          <a:bodyPr wrap="square" lIns="0" tIns="0" rIns="0" bIns="0" rtlCol="0" anchor="t"/>
          <a:lstStyle/>
          <a:p>
            <a:pPr indent="0" marL="0">
              <a:buNone/>
            </a:pPr>
            <a:r>
              <a:rPr lang="en-US" sz="1700" b="1" dirty="0">
                <a:solidFill>
                  <a:schemeClr val="tx2"/>
                </a:solidFill>
              </a:rPr>
              <a:t>Few failures</a:t>
            </a:r>
            <a:endParaRPr lang="en-US" sz="1700" dirty="0"/>
          </a:p>
        </p:txBody>
      </p:sp>
      <p:sp>
        <p:nvSpPr>
          <p:cNvPr id="18" name="Text 12"/>
          <p:cNvSpPr txBox="1"/>
          <p:nvPr/>
        </p:nvSpPr>
        <p:spPr>
          <a:xfrm>
            <a:off x="6720840" y="2697480"/>
            <a:ext cx="1828800" cy="1097280"/>
          </a:xfrm>
          <a:prstGeom prst="rect">
            <a:avLst/>
          </a:prstGeom>
          <a:noFill/>
          <a:ln/>
        </p:spPr>
        <p:txBody>
          <a:bodyPr wrap="square" lIns="0" tIns="0" rIns="0" bIns="0" rtlCol="0" anchor="t"/>
          <a:lstStyle/>
          <a:p>
            <a:pPr indent="0" marL="0">
              <a:buNone/>
            </a:pPr>
            <a:r>
              <a:rPr lang="en-US" sz="1400" dirty="0">
                <a:solidFill>
                  <a:schemeClr val="tx1"/>
                </a:solidFill>
              </a:rPr>
              <a:t>One failure ends future work with a building owner. Keep innovating.</a:t>
            </a:r>
            <a:endParaRPr lang="en-US" sz="14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Four promises every roofer can count on</a:t>
            </a:r>
            <a:endParaRPr lang="en-US" sz="2800" dirty="0"/>
          </a:p>
        </p:txBody>
      </p:sp>
      <p:sp>
        <p:nvSpPr>
          <p:cNvPr id="3" name="Text 1"/>
          <p:cNvSpPr txBox="1"/>
          <p:nvPr/>
        </p:nvSpPr>
        <p:spPr>
          <a:xfrm>
            <a:off x="548640" y="1371600"/>
            <a:ext cx="2103120" cy="228600"/>
          </a:xfrm>
          <a:prstGeom prst="rect">
            <a:avLst/>
          </a:prstGeom>
          <a:noFill/>
          <a:ln/>
        </p:spPr>
        <p:txBody>
          <a:bodyPr wrap="square" lIns="0" tIns="0" rIns="0" bIns="0" rtlCol="0" anchor="t"/>
          <a:lstStyle/>
          <a:p>
            <a:pPr indent="0" marL="0">
              <a:buNone/>
            </a:pPr>
            <a:r>
              <a:rPr lang="en-US" sz="1100" b="1" dirty="0">
                <a:solidFill>
                  <a:srgbClr val="5F5D5E"/>
                </a:solidFill>
              </a:rPr>
              <a:t>Promise</a:t>
            </a:r>
            <a:endParaRPr lang="en-US" sz="1100" dirty="0"/>
          </a:p>
        </p:txBody>
      </p:sp>
      <p:sp>
        <p:nvSpPr>
          <p:cNvPr id="4" name="Text 2"/>
          <p:cNvSpPr txBox="1"/>
          <p:nvPr/>
        </p:nvSpPr>
        <p:spPr>
          <a:xfrm>
            <a:off x="2743200" y="1371600"/>
            <a:ext cx="4206240" cy="228600"/>
          </a:xfrm>
          <a:prstGeom prst="rect">
            <a:avLst/>
          </a:prstGeom>
          <a:noFill/>
          <a:ln/>
        </p:spPr>
        <p:txBody>
          <a:bodyPr wrap="square" lIns="0" tIns="0" rIns="0" bIns="0" rtlCol="0" anchor="t"/>
          <a:lstStyle/>
          <a:p>
            <a:pPr indent="0" marL="0">
              <a:buNone/>
            </a:pPr>
            <a:r>
              <a:rPr lang="en-US" sz="1100" b="1" dirty="0">
                <a:solidFill>
                  <a:srgbClr val="5F5D5E"/>
                </a:solidFill>
              </a:rPr>
              <a:t>What it means</a:t>
            </a:r>
            <a:endParaRPr lang="en-US" sz="1100" dirty="0"/>
          </a:p>
        </p:txBody>
      </p:sp>
      <p:sp>
        <p:nvSpPr>
          <p:cNvPr id="5" name="Text 3"/>
          <p:cNvSpPr txBox="1"/>
          <p:nvPr/>
        </p:nvSpPr>
        <p:spPr>
          <a:xfrm>
            <a:off x="7406640" y="1371600"/>
            <a:ext cx="1188720" cy="228600"/>
          </a:xfrm>
          <a:prstGeom prst="rect">
            <a:avLst/>
          </a:prstGeom>
          <a:noFill/>
          <a:ln/>
        </p:spPr>
        <p:txBody>
          <a:bodyPr wrap="square" lIns="0" tIns="0" rIns="0" bIns="0" rtlCol="0" anchor="t"/>
          <a:lstStyle/>
          <a:p>
            <a:pPr indent="0" marL="0">
              <a:buNone/>
            </a:pPr>
            <a:r>
              <a:rPr lang="en-US" sz="1100" b="1" dirty="0">
                <a:solidFill>
                  <a:srgbClr val="5F5D5E"/>
                </a:solidFill>
              </a:rPr>
              <a:t>Plugs</a:t>
            </a:r>
            <a:endParaRPr lang="en-US" sz="1100" dirty="0"/>
          </a:p>
        </p:txBody>
      </p:sp>
      <p:sp>
        <p:nvSpPr>
          <p:cNvPr id="6" name="Shape 4"/>
          <p:cNvSpPr/>
          <p:nvPr/>
        </p:nvSpPr>
        <p:spPr>
          <a:xfrm>
            <a:off x="548640" y="1636776"/>
            <a:ext cx="8046720" cy="0"/>
          </a:xfrm>
          <a:prstGeom prst="line">
            <a:avLst/>
          </a:prstGeom>
          <a:noFill/>
          <a:ln w="12700">
            <a:solidFill>
              <a:srgbClr val="BCBEC0"/>
            </a:solidFill>
            <a:prstDash val="solid"/>
          </a:ln>
        </p:spPr>
      </p:sp>
      <p:sp>
        <p:nvSpPr>
          <p:cNvPr id="7" name="Text 5"/>
          <p:cNvSpPr txBox="1"/>
          <p:nvPr/>
        </p:nvSpPr>
        <p:spPr>
          <a:xfrm>
            <a:off x="548640" y="1709928"/>
            <a:ext cx="2103120" cy="548640"/>
          </a:xfrm>
          <a:prstGeom prst="rect">
            <a:avLst/>
          </a:prstGeom>
          <a:noFill/>
          <a:ln/>
        </p:spPr>
        <p:txBody>
          <a:bodyPr wrap="square" lIns="0" tIns="0" rIns="0" bIns="0" rtlCol="0" anchor="ctr"/>
          <a:lstStyle/>
          <a:p>
            <a:pPr indent="0" marL="0">
              <a:buNone/>
            </a:pPr>
            <a:r>
              <a:rPr lang="en-US" sz="3000" b="1" dirty="0">
                <a:solidFill>
                  <a:schemeClr val="accent1"/>
                </a:solidFill>
              </a:rPr>
              <a:t>4 hours</a:t>
            </a:r>
            <a:endParaRPr lang="en-US" sz="3000" dirty="0"/>
          </a:p>
        </p:txBody>
      </p:sp>
      <p:sp>
        <p:nvSpPr>
          <p:cNvPr id="8" name="Text 6"/>
          <p:cNvSpPr txBox="1"/>
          <p:nvPr/>
        </p:nvSpPr>
        <p:spPr>
          <a:xfrm>
            <a:off x="2743200" y="1709928"/>
            <a:ext cx="4389120" cy="548640"/>
          </a:xfrm>
          <a:prstGeom prst="rect">
            <a:avLst/>
          </a:prstGeom>
          <a:noFill/>
          <a:ln/>
        </p:spPr>
        <p:txBody>
          <a:bodyPr wrap="square" lIns="0" tIns="0" rIns="0" bIns="0" rtlCol="0" anchor="ctr"/>
          <a:lstStyle/>
          <a:p>
            <a:pPr indent="0" marL="0">
              <a:buNone/>
            </a:pPr>
            <a:r>
              <a:rPr lang="en-US" sz="1500" dirty="0">
                <a:solidFill>
                  <a:schemeClr val="tx1"/>
                </a:solidFill>
              </a:rPr>
              <a:t>To answer every email and acknowledge every warranty claim</a:t>
            </a:r>
            <a:endParaRPr lang="en-US" sz="1500" dirty="0"/>
          </a:p>
        </p:txBody>
      </p:sp>
      <p:sp>
        <p:nvSpPr>
          <p:cNvPr id="9" name="Leak marker 1"/>
          <p:cNvSpPr/>
          <p:nvPr/>
        </p:nvSpPr>
        <p:spPr>
          <a:xfrm>
            <a:off x="7424928" y="1847088"/>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10" name="Leak marker 2"/>
          <p:cNvSpPr/>
          <p:nvPr/>
        </p:nvSpPr>
        <p:spPr>
          <a:xfrm>
            <a:off x="7808976" y="1847088"/>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11" name="Shape 9"/>
          <p:cNvSpPr/>
          <p:nvPr/>
        </p:nvSpPr>
        <p:spPr>
          <a:xfrm>
            <a:off x="548640" y="2322576"/>
            <a:ext cx="8046720" cy="0"/>
          </a:xfrm>
          <a:prstGeom prst="line">
            <a:avLst/>
          </a:prstGeom>
          <a:noFill/>
          <a:ln w="12700">
            <a:solidFill>
              <a:srgbClr val="BCBEC0"/>
            </a:solidFill>
            <a:prstDash val="solid"/>
          </a:ln>
        </p:spPr>
      </p:sp>
      <p:sp>
        <p:nvSpPr>
          <p:cNvPr id="12" name="Text 10"/>
          <p:cNvSpPr txBox="1"/>
          <p:nvPr/>
        </p:nvSpPr>
        <p:spPr>
          <a:xfrm>
            <a:off x="548640" y="2395728"/>
            <a:ext cx="2103120" cy="548640"/>
          </a:xfrm>
          <a:prstGeom prst="rect">
            <a:avLst/>
          </a:prstGeom>
          <a:noFill/>
          <a:ln/>
        </p:spPr>
        <p:txBody>
          <a:bodyPr wrap="square" lIns="0" tIns="0" rIns="0" bIns="0" rtlCol="0" anchor="ctr"/>
          <a:lstStyle/>
          <a:p>
            <a:pPr indent="0" marL="0">
              <a:buNone/>
            </a:pPr>
            <a:r>
              <a:rPr lang="en-US" sz="3000" b="1" dirty="0">
                <a:solidFill>
                  <a:schemeClr val="accent1"/>
                </a:solidFill>
              </a:rPr>
              <a:t>4 days</a:t>
            </a:r>
            <a:endParaRPr lang="en-US" sz="3000" dirty="0"/>
          </a:p>
        </p:txBody>
      </p:sp>
      <p:sp>
        <p:nvSpPr>
          <p:cNvPr id="13" name="Text 11"/>
          <p:cNvSpPr txBox="1"/>
          <p:nvPr/>
        </p:nvSpPr>
        <p:spPr>
          <a:xfrm>
            <a:off x="2743200" y="2395728"/>
            <a:ext cx="4389120" cy="548640"/>
          </a:xfrm>
          <a:prstGeom prst="rect">
            <a:avLst/>
          </a:prstGeom>
          <a:noFill/>
          <a:ln/>
        </p:spPr>
        <p:txBody>
          <a:bodyPr wrap="square" lIns="0" tIns="0" rIns="0" bIns="0" rtlCol="0" anchor="ctr"/>
          <a:lstStyle/>
          <a:p>
            <a:pPr indent="0" marL="0">
              <a:buNone/>
            </a:pPr>
            <a:r>
              <a:rPr lang="en-US" sz="1500" dirty="0">
                <a:solidFill>
                  <a:schemeClr val="tx1"/>
                </a:solidFill>
              </a:rPr>
              <a:t>To visit the site on a warranty claim</a:t>
            </a:r>
            <a:endParaRPr lang="en-US" sz="1500" dirty="0"/>
          </a:p>
        </p:txBody>
      </p:sp>
      <p:sp>
        <p:nvSpPr>
          <p:cNvPr id="14" name="Leak marker 2"/>
          <p:cNvSpPr/>
          <p:nvPr/>
        </p:nvSpPr>
        <p:spPr>
          <a:xfrm>
            <a:off x="7424928" y="2532888"/>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15" name="Shape 13"/>
          <p:cNvSpPr/>
          <p:nvPr/>
        </p:nvSpPr>
        <p:spPr>
          <a:xfrm>
            <a:off x="548640" y="3008376"/>
            <a:ext cx="8046720" cy="0"/>
          </a:xfrm>
          <a:prstGeom prst="line">
            <a:avLst/>
          </a:prstGeom>
          <a:noFill/>
          <a:ln w="12700">
            <a:solidFill>
              <a:srgbClr val="BCBEC0"/>
            </a:solidFill>
            <a:prstDash val="solid"/>
          </a:ln>
        </p:spPr>
      </p:sp>
      <p:sp>
        <p:nvSpPr>
          <p:cNvPr id="16" name="Text 14"/>
          <p:cNvSpPr txBox="1"/>
          <p:nvPr/>
        </p:nvSpPr>
        <p:spPr>
          <a:xfrm>
            <a:off x="548640" y="3081528"/>
            <a:ext cx="2103120" cy="548640"/>
          </a:xfrm>
          <a:prstGeom prst="rect">
            <a:avLst/>
          </a:prstGeom>
          <a:noFill/>
          <a:ln/>
        </p:spPr>
        <p:txBody>
          <a:bodyPr wrap="square" lIns="0" tIns="0" rIns="0" bIns="0" rtlCol="0" anchor="ctr"/>
          <a:lstStyle/>
          <a:p>
            <a:pPr indent="0" marL="0">
              <a:buNone/>
            </a:pPr>
            <a:r>
              <a:rPr lang="en-US" sz="3000" b="1" dirty="0">
                <a:solidFill>
                  <a:schemeClr val="accent1"/>
                </a:solidFill>
              </a:rPr>
              <a:t>48 hours</a:t>
            </a:r>
            <a:endParaRPr lang="en-US" sz="3000" dirty="0"/>
          </a:p>
        </p:txBody>
      </p:sp>
      <p:sp>
        <p:nvSpPr>
          <p:cNvPr id="17" name="Text 15"/>
          <p:cNvSpPr txBox="1"/>
          <p:nvPr/>
        </p:nvSpPr>
        <p:spPr>
          <a:xfrm>
            <a:off x="2743200" y="3081528"/>
            <a:ext cx="4389120" cy="548640"/>
          </a:xfrm>
          <a:prstGeom prst="rect">
            <a:avLst/>
          </a:prstGeom>
          <a:noFill/>
          <a:ln/>
        </p:spPr>
        <p:txBody>
          <a:bodyPr wrap="square" lIns="0" tIns="0" rIns="0" bIns="0" rtlCol="0" anchor="ctr"/>
          <a:lstStyle/>
          <a:p>
            <a:pPr indent="0" marL="0">
              <a:buNone/>
            </a:pPr>
            <a:r>
              <a:rPr lang="en-US" sz="1500" dirty="0">
                <a:solidFill>
                  <a:schemeClr val="tx1"/>
                </a:solidFill>
              </a:rPr>
              <a:t>To have material ready to ship, accessories included</a:t>
            </a:r>
            <a:endParaRPr lang="en-US" sz="1500" dirty="0"/>
          </a:p>
        </p:txBody>
      </p:sp>
      <p:sp>
        <p:nvSpPr>
          <p:cNvPr id="18" name="Leak marker 4"/>
          <p:cNvSpPr/>
          <p:nvPr/>
        </p:nvSpPr>
        <p:spPr>
          <a:xfrm>
            <a:off x="7424928" y="3218688"/>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19" name="Shape 17"/>
          <p:cNvSpPr/>
          <p:nvPr/>
        </p:nvSpPr>
        <p:spPr>
          <a:xfrm>
            <a:off x="548640" y="3694176"/>
            <a:ext cx="8046720" cy="0"/>
          </a:xfrm>
          <a:prstGeom prst="line">
            <a:avLst/>
          </a:prstGeom>
          <a:noFill/>
          <a:ln w="12700">
            <a:solidFill>
              <a:srgbClr val="BCBEC0"/>
            </a:solidFill>
            <a:prstDash val="solid"/>
          </a:ln>
        </p:spPr>
      </p:sp>
      <p:sp>
        <p:nvSpPr>
          <p:cNvPr id="20" name="Text 18"/>
          <p:cNvSpPr txBox="1"/>
          <p:nvPr/>
        </p:nvSpPr>
        <p:spPr>
          <a:xfrm>
            <a:off x="548640" y="3767328"/>
            <a:ext cx="2103120" cy="548640"/>
          </a:xfrm>
          <a:prstGeom prst="rect">
            <a:avLst/>
          </a:prstGeom>
          <a:noFill/>
          <a:ln/>
        </p:spPr>
        <p:txBody>
          <a:bodyPr wrap="square" lIns="0" tIns="0" rIns="0" bIns="0" rtlCol="0" anchor="ctr"/>
          <a:lstStyle/>
          <a:p>
            <a:pPr indent="0" marL="0">
              <a:buNone/>
            </a:pPr>
            <a:r>
              <a:rPr lang="en-US" sz="3000" b="1" dirty="0">
                <a:solidFill>
                  <a:schemeClr val="accent1"/>
                </a:solidFill>
              </a:rPr>
              <a:t>Daily</a:t>
            </a:r>
            <a:endParaRPr lang="en-US" sz="3000" dirty="0"/>
          </a:p>
        </p:txBody>
      </p:sp>
      <p:sp>
        <p:nvSpPr>
          <p:cNvPr id="21" name="Text 19"/>
          <p:cNvSpPr txBox="1"/>
          <p:nvPr/>
        </p:nvSpPr>
        <p:spPr>
          <a:xfrm>
            <a:off x="2743200" y="3767328"/>
            <a:ext cx="4389120" cy="548640"/>
          </a:xfrm>
          <a:prstGeom prst="rect">
            <a:avLst/>
          </a:prstGeom>
          <a:noFill/>
          <a:ln/>
        </p:spPr>
        <p:txBody>
          <a:bodyPr wrap="square" lIns="0" tIns="0" rIns="0" bIns="0" rtlCol="0" anchor="ctr"/>
          <a:lstStyle/>
          <a:p>
            <a:pPr indent="0" marL="0">
              <a:buNone/>
            </a:pPr>
            <a:r>
              <a:rPr lang="en-US" sz="1500" dirty="0">
                <a:solidFill>
                  <a:schemeClr val="tx1"/>
                </a:solidFill>
              </a:rPr>
              <a:t>Order updates from CS, without the roofer asking</a:t>
            </a:r>
            <a:endParaRPr lang="en-US" sz="1500" dirty="0"/>
          </a:p>
        </p:txBody>
      </p:sp>
      <p:sp>
        <p:nvSpPr>
          <p:cNvPr id="22" name="Leak marker 3"/>
          <p:cNvSpPr/>
          <p:nvPr/>
        </p:nvSpPr>
        <p:spPr>
          <a:xfrm>
            <a:off x="7424928" y="3904488"/>
            <a:ext cx="274320" cy="274320"/>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23" name="Shape 21"/>
          <p:cNvSpPr/>
          <p:nvPr/>
        </p:nvSpPr>
        <p:spPr>
          <a:xfrm>
            <a:off x="548640" y="4379976"/>
            <a:ext cx="8046720" cy="0"/>
          </a:xfrm>
          <a:prstGeom prst="line">
            <a:avLst/>
          </a:prstGeom>
          <a:noFill/>
          <a:ln w="12700">
            <a:solidFill>
              <a:srgbClr val="BCBEC0"/>
            </a:solidFill>
            <a:prstDash val="solid"/>
          </a:ln>
        </p:spPr>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bg1"/>
                </a:solidFill>
              </a:rPr>
              <a:t>Decision today: approve the repairs and name an owner for each leak</a:t>
            </a:r>
            <a:endParaRPr lang="en-US" sz="2800" dirty="0"/>
          </a:p>
        </p:txBody>
      </p:sp>
      <p:sp>
        <p:nvSpPr>
          <p:cNvPr id="3" name="Text 1"/>
          <p:cNvSpPr txBox="1"/>
          <p:nvPr/>
        </p:nvSpPr>
        <p:spPr>
          <a:xfrm>
            <a:off x="548640" y="1417320"/>
            <a:ext cx="1920240" cy="228600"/>
          </a:xfrm>
          <a:prstGeom prst="rect">
            <a:avLst/>
          </a:prstGeom>
          <a:noFill/>
          <a:ln/>
        </p:spPr>
        <p:txBody>
          <a:bodyPr wrap="square" lIns="0" tIns="0" rIns="0" bIns="0" rtlCol="0" anchor="t"/>
          <a:lstStyle/>
          <a:p>
            <a:pPr indent="0" marL="0">
              <a:buNone/>
            </a:pPr>
            <a:r>
              <a:rPr lang="en-US" sz="1100" b="1" dirty="0">
                <a:solidFill>
                  <a:srgbClr val="9AD1D4"/>
                </a:solidFill>
              </a:rPr>
              <a:t>Leak</a:t>
            </a:r>
            <a:endParaRPr lang="en-US" sz="1100" dirty="0"/>
          </a:p>
        </p:txBody>
      </p:sp>
      <p:sp>
        <p:nvSpPr>
          <p:cNvPr id="4" name="Text 2"/>
          <p:cNvSpPr txBox="1"/>
          <p:nvPr/>
        </p:nvSpPr>
        <p:spPr>
          <a:xfrm>
            <a:off x="2514600" y="1417320"/>
            <a:ext cx="3017520" cy="228600"/>
          </a:xfrm>
          <a:prstGeom prst="rect">
            <a:avLst/>
          </a:prstGeom>
          <a:noFill/>
          <a:ln/>
        </p:spPr>
        <p:txBody>
          <a:bodyPr wrap="square" lIns="0" tIns="0" rIns="0" bIns="0" rtlCol="0" anchor="t"/>
          <a:lstStyle/>
          <a:p>
            <a:pPr indent="0" marL="0">
              <a:buNone/>
            </a:pPr>
            <a:r>
              <a:rPr lang="en-US" sz="1100" b="1" dirty="0">
                <a:solidFill>
                  <a:srgbClr val="9AD1D4"/>
                </a:solidFill>
              </a:rPr>
              <a:t>Repair</a:t>
            </a:r>
            <a:endParaRPr lang="en-US" sz="1100" dirty="0"/>
          </a:p>
        </p:txBody>
      </p:sp>
      <p:sp>
        <p:nvSpPr>
          <p:cNvPr id="5" name="Text 3"/>
          <p:cNvSpPr txBox="1"/>
          <p:nvPr/>
        </p:nvSpPr>
        <p:spPr>
          <a:xfrm>
            <a:off x="5623560" y="1417320"/>
            <a:ext cx="1737360" cy="228600"/>
          </a:xfrm>
          <a:prstGeom prst="rect">
            <a:avLst/>
          </a:prstGeom>
          <a:noFill/>
          <a:ln/>
        </p:spPr>
        <p:txBody>
          <a:bodyPr wrap="square" lIns="0" tIns="0" rIns="0" bIns="0" rtlCol="0" anchor="t"/>
          <a:lstStyle/>
          <a:p>
            <a:pPr indent="0" marL="0">
              <a:buNone/>
            </a:pPr>
            <a:r>
              <a:rPr lang="en-US" sz="1100" b="1" dirty="0">
                <a:solidFill>
                  <a:srgbClr val="9AD1D4"/>
                </a:solidFill>
              </a:rPr>
              <a:t>We measure</a:t>
            </a:r>
            <a:endParaRPr lang="en-US" sz="1100" dirty="0"/>
          </a:p>
        </p:txBody>
      </p:sp>
      <p:sp>
        <p:nvSpPr>
          <p:cNvPr id="6" name="Text 4"/>
          <p:cNvSpPr txBox="1"/>
          <p:nvPr/>
        </p:nvSpPr>
        <p:spPr>
          <a:xfrm>
            <a:off x="7406640" y="1417320"/>
            <a:ext cx="1188720" cy="228600"/>
          </a:xfrm>
          <a:prstGeom prst="rect">
            <a:avLst/>
          </a:prstGeom>
          <a:noFill/>
          <a:ln/>
        </p:spPr>
        <p:txBody>
          <a:bodyPr wrap="square" lIns="0" tIns="0" rIns="0" bIns="0" rtlCol="0" anchor="t"/>
          <a:lstStyle/>
          <a:p>
            <a:pPr indent="0" marL="0">
              <a:buNone/>
            </a:pPr>
            <a:r>
              <a:rPr lang="en-US" sz="1100" b="1" dirty="0">
                <a:solidFill>
                  <a:srgbClr val="9AD1D4"/>
                </a:solidFill>
              </a:rPr>
              <a:t>Owner</a:t>
            </a:r>
            <a:endParaRPr lang="en-US" sz="1100" dirty="0"/>
          </a:p>
        </p:txBody>
      </p:sp>
      <p:sp>
        <p:nvSpPr>
          <p:cNvPr id="7" name="Shape 5"/>
          <p:cNvSpPr/>
          <p:nvPr/>
        </p:nvSpPr>
        <p:spPr>
          <a:xfrm>
            <a:off x="548640" y="1682496"/>
            <a:ext cx="8046720" cy="0"/>
          </a:xfrm>
          <a:prstGeom prst="line">
            <a:avLst/>
          </a:prstGeom>
          <a:noFill/>
          <a:ln w="9525">
            <a:solidFill>
              <a:srgbClr val="9AD1D4">
                <a:alpha val="50000"/>
              </a:srgbClr>
            </a:solidFill>
            <a:prstDash val="solid"/>
          </a:ln>
        </p:spPr>
      </p:sp>
      <p:sp>
        <p:nvSpPr>
          <p:cNvPr id="8" name="Leak marker 1"/>
          <p:cNvSpPr/>
          <p:nvPr/>
        </p:nvSpPr>
        <p:spPr>
          <a:xfrm>
            <a:off x="548640" y="1810512"/>
            <a:ext cx="256032" cy="256032"/>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9" name="Text 7"/>
          <p:cNvSpPr txBox="1"/>
          <p:nvPr/>
        </p:nvSpPr>
        <p:spPr>
          <a:xfrm>
            <a:off x="960120" y="1737360"/>
            <a:ext cx="1463040" cy="411480"/>
          </a:xfrm>
          <a:prstGeom prst="rect">
            <a:avLst/>
          </a:prstGeom>
          <a:noFill/>
          <a:ln/>
        </p:spPr>
        <p:txBody>
          <a:bodyPr wrap="square" lIns="0" tIns="0" rIns="0" bIns="0" rtlCol="0" anchor="ctr"/>
          <a:lstStyle/>
          <a:p>
            <a:pPr indent="0" marL="0">
              <a:buNone/>
            </a:pPr>
            <a:r>
              <a:rPr lang="en-US" sz="1500" b="1" dirty="0">
                <a:solidFill>
                  <a:schemeClr val="bg1"/>
                </a:solidFill>
              </a:rPr>
              <a:t>Service</a:t>
            </a:r>
            <a:endParaRPr lang="en-US" sz="1500" dirty="0"/>
          </a:p>
        </p:txBody>
      </p:sp>
      <p:sp>
        <p:nvSpPr>
          <p:cNvPr id="10" name="Text 8"/>
          <p:cNvSpPr txBox="1"/>
          <p:nvPr/>
        </p:nvSpPr>
        <p:spPr>
          <a:xfrm>
            <a:off x="2514600" y="1737360"/>
            <a:ext cx="2971800" cy="411480"/>
          </a:xfrm>
          <a:prstGeom prst="rect">
            <a:avLst/>
          </a:prstGeom>
          <a:noFill/>
          <a:ln/>
        </p:spPr>
        <p:txBody>
          <a:bodyPr wrap="square" lIns="0" tIns="0" rIns="0" bIns="0" rtlCol="0" anchor="ctr"/>
          <a:lstStyle/>
          <a:p>
            <a:pPr indent="0" marL="0">
              <a:buNone/>
            </a:pPr>
            <a:r>
              <a:rPr lang="en-US" sz="1300" dirty="0">
                <a:solidFill>
                  <a:schemeClr val="bg1"/>
                </a:solidFill>
              </a:rPr>
              <a:t>4-hour replies; inventory visible at every plant</a:t>
            </a:r>
            <a:endParaRPr lang="en-US" sz="1300" dirty="0"/>
          </a:p>
        </p:txBody>
      </p:sp>
      <p:sp>
        <p:nvSpPr>
          <p:cNvPr id="11" name="Text 9"/>
          <p:cNvSpPr txBox="1"/>
          <p:nvPr/>
        </p:nvSpPr>
        <p:spPr>
          <a:xfrm>
            <a:off x="5623560" y="1737360"/>
            <a:ext cx="1691640" cy="411480"/>
          </a:xfrm>
          <a:prstGeom prst="rect">
            <a:avLst/>
          </a:prstGeom>
          <a:noFill/>
          <a:ln/>
        </p:spPr>
        <p:txBody>
          <a:bodyPr wrap="square" lIns="0" tIns="0" rIns="0" bIns="0" rtlCol="0" anchor="ctr"/>
          <a:lstStyle/>
          <a:p>
            <a:pPr indent="0" marL="0">
              <a:buNone/>
            </a:pPr>
            <a:r>
              <a:rPr lang="en-US" sz="1300" dirty="0">
                <a:solidFill>
                  <a:srgbClr val="9AD1D4"/>
                </a:solidFill>
              </a:rPr>
              <a:t>Email response time</a:t>
            </a:r>
            <a:endParaRPr lang="en-US" sz="1300" dirty="0"/>
          </a:p>
        </p:txBody>
      </p:sp>
      <p:sp>
        <p:nvSpPr>
          <p:cNvPr id="12" name="Shape 10"/>
          <p:cNvSpPr/>
          <p:nvPr/>
        </p:nvSpPr>
        <p:spPr>
          <a:xfrm>
            <a:off x="7406640" y="2066544"/>
            <a:ext cx="1188720" cy="0"/>
          </a:xfrm>
          <a:prstGeom prst="line">
            <a:avLst/>
          </a:prstGeom>
          <a:noFill/>
          <a:ln w="15875">
            <a:solidFill>
              <a:schemeClr val="bg1"/>
            </a:solidFill>
            <a:prstDash val="solid"/>
          </a:ln>
        </p:spPr>
      </p:sp>
      <p:sp>
        <p:nvSpPr>
          <p:cNvPr id="13" name="Shape 11"/>
          <p:cNvSpPr/>
          <p:nvPr/>
        </p:nvSpPr>
        <p:spPr>
          <a:xfrm>
            <a:off x="548640" y="2231136"/>
            <a:ext cx="8046720" cy="0"/>
          </a:xfrm>
          <a:prstGeom prst="line">
            <a:avLst/>
          </a:prstGeom>
          <a:noFill/>
          <a:ln w="9525">
            <a:solidFill>
              <a:srgbClr val="9AD1D4">
                <a:alpha val="50000"/>
              </a:srgbClr>
            </a:solidFill>
            <a:prstDash val="solid"/>
          </a:ln>
        </p:spPr>
      </p:sp>
      <p:sp>
        <p:nvSpPr>
          <p:cNvPr id="14" name="Leak marker 2"/>
          <p:cNvSpPr/>
          <p:nvPr/>
        </p:nvSpPr>
        <p:spPr>
          <a:xfrm>
            <a:off x="548640" y="2359152"/>
            <a:ext cx="256032" cy="256032"/>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15" name="Text 13"/>
          <p:cNvSpPr txBox="1"/>
          <p:nvPr/>
        </p:nvSpPr>
        <p:spPr>
          <a:xfrm>
            <a:off x="960120" y="2286000"/>
            <a:ext cx="1463040" cy="411480"/>
          </a:xfrm>
          <a:prstGeom prst="rect">
            <a:avLst/>
          </a:prstGeom>
          <a:noFill/>
          <a:ln/>
        </p:spPr>
        <p:txBody>
          <a:bodyPr wrap="square" lIns="0" tIns="0" rIns="0" bIns="0" rtlCol="0" anchor="ctr"/>
          <a:lstStyle/>
          <a:p>
            <a:pPr indent="0" marL="0">
              <a:buNone/>
            </a:pPr>
            <a:r>
              <a:rPr lang="en-US" sz="1500" b="1" dirty="0">
                <a:solidFill>
                  <a:schemeClr val="bg1"/>
                </a:solidFill>
              </a:rPr>
              <a:t>Warranty</a:t>
            </a:r>
            <a:endParaRPr lang="en-US" sz="1500" dirty="0"/>
          </a:p>
        </p:txBody>
      </p:sp>
      <p:sp>
        <p:nvSpPr>
          <p:cNvPr id="16" name="Text 14"/>
          <p:cNvSpPr txBox="1"/>
          <p:nvPr/>
        </p:nvSpPr>
        <p:spPr>
          <a:xfrm>
            <a:off x="2514600" y="2286000"/>
            <a:ext cx="2971800" cy="411480"/>
          </a:xfrm>
          <a:prstGeom prst="rect">
            <a:avLst/>
          </a:prstGeom>
          <a:noFill/>
          <a:ln/>
        </p:spPr>
        <p:txBody>
          <a:bodyPr wrap="square" lIns="0" tIns="0" rIns="0" bIns="0" rtlCol="0" anchor="ctr"/>
          <a:lstStyle/>
          <a:p>
            <a:pPr indent="0" marL="0">
              <a:buNone/>
            </a:pPr>
            <a:r>
              <a:rPr lang="en-US" sz="1300" dirty="0">
                <a:solidFill>
                  <a:schemeClr val="bg1"/>
                </a:solidFill>
              </a:rPr>
              <a:t>4-hour acknowledgement; 4-day site visit</a:t>
            </a:r>
            <a:endParaRPr lang="en-US" sz="1300" dirty="0"/>
          </a:p>
        </p:txBody>
      </p:sp>
      <p:sp>
        <p:nvSpPr>
          <p:cNvPr id="17" name="Text 15"/>
          <p:cNvSpPr txBox="1"/>
          <p:nvPr/>
        </p:nvSpPr>
        <p:spPr>
          <a:xfrm>
            <a:off x="5623560" y="2286000"/>
            <a:ext cx="1691640" cy="411480"/>
          </a:xfrm>
          <a:prstGeom prst="rect">
            <a:avLst/>
          </a:prstGeom>
          <a:noFill/>
          <a:ln/>
        </p:spPr>
        <p:txBody>
          <a:bodyPr wrap="square" lIns="0" tIns="0" rIns="0" bIns="0" rtlCol="0" anchor="ctr"/>
          <a:lstStyle/>
          <a:p>
            <a:pPr indent="0" marL="0">
              <a:buNone/>
            </a:pPr>
            <a:r>
              <a:rPr lang="en-US" sz="1300" dirty="0">
                <a:solidFill>
                  <a:srgbClr val="9AD1D4"/>
                </a:solidFill>
              </a:rPr>
              <a:t>Claim response time</a:t>
            </a:r>
            <a:endParaRPr lang="en-US" sz="1300" dirty="0"/>
          </a:p>
        </p:txBody>
      </p:sp>
      <p:sp>
        <p:nvSpPr>
          <p:cNvPr id="18" name="Shape 16"/>
          <p:cNvSpPr/>
          <p:nvPr/>
        </p:nvSpPr>
        <p:spPr>
          <a:xfrm>
            <a:off x="7406640" y="2615184"/>
            <a:ext cx="1188720" cy="0"/>
          </a:xfrm>
          <a:prstGeom prst="line">
            <a:avLst/>
          </a:prstGeom>
          <a:noFill/>
          <a:ln w="15875">
            <a:solidFill>
              <a:schemeClr val="bg1"/>
            </a:solidFill>
            <a:prstDash val="solid"/>
          </a:ln>
        </p:spPr>
      </p:sp>
      <p:sp>
        <p:nvSpPr>
          <p:cNvPr id="19" name="Shape 17"/>
          <p:cNvSpPr/>
          <p:nvPr/>
        </p:nvSpPr>
        <p:spPr>
          <a:xfrm>
            <a:off x="548640" y="2779776"/>
            <a:ext cx="8046720" cy="0"/>
          </a:xfrm>
          <a:prstGeom prst="line">
            <a:avLst/>
          </a:prstGeom>
          <a:noFill/>
          <a:ln w="9525">
            <a:solidFill>
              <a:srgbClr val="9AD1D4">
                <a:alpha val="50000"/>
              </a:srgbClr>
            </a:solidFill>
            <a:prstDash val="solid"/>
          </a:ln>
        </p:spPr>
      </p:sp>
      <p:sp>
        <p:nvSpPr>
          <p:cNvPr id="20" name="Leak marker 3"/>
          <p:cNvSpPr/>
          <p:nvPr/>
        </p:nvSpPr>
        <p:spPr>
          <a:xfrm>
            <a:off x="548640" y="2907792"/>
            <a:ext cx="256032" cy="256032"/>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21" name="Text 19"/>
          <p:cNvSpPr txBox="1"/>
          <p:nvPr/>
        </p:nvSpPr>
        <p:spPr>
          <a:xfrm>
            <a:off x="960120" y="2834640"/>
            <a:ext cx="1463040" cy="411480"/>
          </a:xfrm>
          <a:prstGeom prst="rect">
            <a:avLst/>
          </a:prstGeom>
          <a:noFill/>
          <a:ln/>
        </p:spPr>
        <p:txBody>
          <a:bodyPr wrap="square" lIns="0" tIns="0" rIns="0" bIns="0" rtlCol="0" anchor="ctr"/>
          <a:lstStyle/>
          <a:p>
            <a:pPr indent="0" marL="0">
              <a:buNone/>
            </a:pPr>
            <a:r>
              <a:rPr lang="en-US" sz="1500" b="1" dirty="0">
                <a:solidFill>
                  <a:schemeClr val="bg1"/>
                </a:solidFill>
              </a:rPr>
              <a:t>Logistics</a:t>
            </a:r>
            <a:endParaRPr lang="en-US" sz="1500" dirty="0"/>
          </a:p>
        </p:txBody>
      </p:sp>
      <p:sp>
        <p:nvSpPr>
          <p:cNvPr id="22" name="Text 20"/>
          <p:cNvSpPr txBox="1"/>
          <p:nvPr/>
        </p:nvSpPr>
        <p:spPr>
          <a:xfrm>
            <a:off x="2514600" y="2834640"/>
            <a:ext cx="2971800" cy="411480"/>
          </a:xfrm>
          <a:prstGeom prst="rect">
            <a:avLst/>
          </a:prstGeom>
          <a:noFill/>
          <a:ln/>
        </p:spPr>
        <p:txBody>
          <a:bodyPr wrap="square" lIns="0" tIns="0" rIns="0" bIns="0" rtlCol="0" anchor="ctr"/>
          <a:lstStyle/>
          <a:p>
            <a:pPr indent="0" marL="0">
              <a:buNone/>
            </a:pPr>
            <a:r>
              <a:rPr lang="en-US" sz="1300" dirty="0">
                <a:solidFill>
                  <a:schemeClr val="bg1"/>
                </a:solidFill>
              </a:rPr>
              <a:t>Notice before shipping; trackers; daily updates</a:t>
            </a:r>
            <a:endParaRPr lang="en-US" sz="1300" dirty="0"/>
          </a:p>
        </p:txBody>
      </p:sp>
      <p:sp>
        <p:nvSpPr>
          <p:cNvPr id="23" name="Text 21"/>
          <p:cNvSpPr txBox="1"/>
          <p:nvPr/>
        </p:nvSpPr>
        <p:spPr>
          <a:xfrm>
            <a:off x="5623560" y="2834640"/>
            <a:ext cx="1691640" cy="411480"/>
          </a:xfrm>
          <a:prstGeom prst="rect">
            <a:avLst/>
          </a:prstGeom>
          <a:noFill/>
          <a:ln/>
        </p:spPr>
        <p:txBody>
          <a:bodyPr wrap="square" lIns="0" tIns="0" rIns="0" bIns="0" rtlCol="0" anchor="ctr"/>
          <a:lstStyle/>
          <a:p>
            <a:pPr indent="0" marL="0">
              <a:buNone/>
            </a:pPr>
            <a:r>
              <a:rPr lang="en-US" sz="1300" dirty="0">
                <a:solidFill>
                  <a:srgbClr val="9AD1D4"/>
                </a:solidFill>
              </a:rPr>
              <a:t>Notified, on-time deliveries</a:t>
            </a:r>
            <a:endParaRPr lang="en-US" sz="1300" dirty="0"/>
          </a:p>
        </p:txBody>
      </p:sp>
      <p:sp>
        <p:nvSpPr>
          <p:cNvPr id="24" name="Shape 22"/>
          <p:cNvSpPr/>
          <p:nvPr/>
        </p:nvSpPr>
        <p:spPr>
          <a:xfrm>
            <a:off x="7406640" y="3163824"/>
            <a:ext cx="1188720" cy="0"/>
          </a:xfrm>
          <a:prstGeom prst="line">
            <a:avLst/>
          </a:prstGeom>
          <a:noFill/>
          <a:ln w="15875">
            <a:solidFill>
              <a:schemeClr val="bg1"/>
            </a:solidFill>
            <a:prstDash val="solid"/>
          </a:ln>
        </p:spPr>
      </p:sp>
      <p:sp>
        <p:nvSpPr>
          <p:cNvPr id="25" name="Shape 23"/>
          <p:cNvSpPr/>
          <p:nvPr/>
        </p:nvSpPr>
        <p:spPr>
          <a:xfrm>
            <a:off x="548640" y="3328416"/>
            <a:ext cx="8046720" cy="0"/>
          </a:xfrm>
          <a:prstGeom prst="line">
            <a:avLst/>
          </a:prstGeom>
          <a:noFill/>
          <a:ln w="9525">
            <a:solidFill>
              <a:srgbClr val="9AD1D4">
                <a:alpha val="50000"/>
              </a:srgbClr>
            </a:solidFill>
            <a:prstDash val="solid"/>
          </a:ln>
        </p:spPr>
      </p:sp>
      <p:sp>
        <p:nvSpPr>
          <p:cNvPr id="26" name="Leak marker 4"/>
          <p:cNvSpPr/>
          <p:nvPr/>
        </p:nvSpPr>
        <p:spPr>
          <a:xfrm>
            <a:off x="548640" y="3456432"/>
            <a:ext cx="256032" cy="256032"/>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27" name="Text 25"/>
          <p:cNvSpPr txBox="1"/>
          <p:nvPr/>
        </p:nvSpPr>
        <p:spPr>
          <a:xfrm>
            <a:off x="960120" y="3383280"/>
            <a:ext cx="1463040" cy="411480"/>
          </a:xfrm>
          <a:prstGeom prst="rect">
            <a:avLst/>
          </a:prstGeom>
          <a:noFill/>
          <a:ln/>
        </p:spPr>
        <p:txBody>
          <a:bodyPr wrap="square" lIns="0" tIns="0" rIns="0" bIns="0" rtlCol="0" anchor="ctr"/>
          <a:lstStyle/>
          <a:p>
            <a:pPr indent="0" marL="0">
              <a:buNone/>
            </a:pPr>
            <a:r>
              <a:rPr lang="en-US" sz="1500" b="1" dirty="0">
                <a:solidFill>
                  <a:schemeClr val="bg1"/>
                </a:solidFill>
              </a:rPr>
              <a:t>Material</a:t>
            </a:r>
            <a:endParaRPr lang="en-US" sz="1500" dirty="0"/>
          </a:p>
        </p:txBody>
      </p:sp>
      <p:sp>
        <p:nvSpPr>
          <p:cNvPr id="28" name="Text 26"/>
          <p:cNvSpPr txBox="1"/>
          <p:nvPr/>
        </p:nvSpPr>
        <p:spPr>
          <a:xfrm>
            <a:off x="2514600" y="3383280"/>
            <a:ext cx="2971800" cy="411480"/>
          </a:xfrm>
          <a:prstGeom prst="rect">
            <a:avLst/>
          </a:prstGeom>
          <a:noFill/>
          <a:ln/>
        </p:spPr>
        <p:txBody>
          <a:bodyPr wrap="square" lIns="0" tIns="0" rIns="0" bIns="0" rtlCol="0" anchor="ctr"/>
          <a:lstStyle/>
          <a:p>
            <a:pPr indent="0" marL="0">
              <a:buNone/>
            </a:pPr>
            <a:r>
              <a:rPr lang="en-US" sz="1300" dirty="0">
                <a:solidFill>
                  <a:schemeClr val="bg1"/>
                </a:solidFill>
              </a:rPr>
              <a:t>Accessories ready to ship in 48 hours</a:t>
            </a:r>
            <a:endParaRPr lang="en-US" sz="1300" dirty="0"/>
          </a:p>
        </p:txBody>
      </p:sp>
      <p:sp>
        <p:nvSpPr>
          <p:cNvPr id="29" name="Text 27"/>
          <p:cNvSpPr txBox="1"/>
          <p:nvPr/>
        </p:nvSpPr>
        <p:spPr>
          <a:xfrm>
            <a:off x="5623560" y="3383280"/>
            <a:ext cx="1691640" cy="411480"/>
          </a:xfrm>
          <a:prstGeom prst="rect">
            <a:avLst/>
          </a:prstGeom>
          <a:noFill/>
          <a:ln/>
        </p:spPr>
        <p:txBody>
          <a:bodyPr wrap="square" lIns="0" tIns="0" rIns="0" bIns="0" rtlCol="0" anchor="ctr"/>
          <a:lstStyle/>
          <a:p>
            <a:pPr indent="0" marL="0">
              <a:buNone/>
            </a:pPr>
            <a:r>
              <a:rPr lang="en-US" sz="1300" dirty="0">
                <a:solidFill>
                  <a:srgbClr val="9AD1D4"/>
                </a:solidFill>
              </a:rPr>
              <a:t>Orders ready in 48 hours</a:t>
            </a:r>
            <a:endParaRPr lang="en-US" sz="1300" dirty="0"/>
          </a:p>
        </p:txBody>
      </p:sp>
      <p:sp>
        <p:nvSpPr>
          <p:cNvPr id="30" name="Shape 28"/>
          <p:cNvSpPr/>
          <p:nvPr/>
        </p:nvSpPr>
        <p:spPr>
          <a:xfrm>
            <a:off x="7406640" y="3712464"/>
            <a:ext cx="1188720" cy="0"/>
          </a:xfrm>
          <a:prstGeom prst="line">
            <a:avLst/>
          </a:prstGeom>
          <a:noFill/>
          <a:ln w="15875">
            <a:solidFill>
              <a:schemeClr val="bg1"/>
            </a:solidFill>
            <a:prstDash val="solid"/>
          </a:ln>
        </p:spPr>
      </p:sp>
      <p:sp>
        <p:nvSpPr>
          <p:cNvPr id="31" name="Shape 29"/>
          <p:cNvSpPr/>
          <p:nvPr/>
        </p:nvSpPr>
        <p:spPr>
          <a:xfrm>
            <a:off x="548640" y="3877056"/>
            <a:ext cx="8046720" cy="0"/>
          </a:xfrm>
          <a:prstGeom prst="line">
            <a:avLst/>
          </a:prstGeom>
          <a:noFill/>
          <a:ln w="9525">
            <a:solidFill>
              <a:srgbClr val="9AD1D4">
                <a:alpha val="50000"/>
              </a:srgbClr>
            </a:solidFill>
            <a:prstDash val="solid"/>
          </a:ln>
        </p:spPr>
      </p:sp>
      <p:sp>
        <p:nvSpPr>
          <p:cNvPr id="32" name="Leak marker 5"/>
          <p:cNvSpPr/>
          <p:nvPr/>
        </p:nvSpPr>
        <p:spPr>
          <a:xfrm>
            <a:off x="548640" y="4005072"/>
            <a:ext cx="256032" cy="256032"/>
          </a:xfrm>
          <a:prstGeom prst="ellipse">
            <a:avLst/>
          </a:prstGeom>
          <a:solidFill>
            <a:schemeClr val="accent3"/>
          </a:solidFill>
          <a:ln w="19050">
            <a:solidFill>
              <a:schemeClr val="bg1"/>
            </a:solid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33" name="Text 31"/>
          <p:cNvSpPr txBox="1"/>
          <p:nvPr/>
        </p:nvSpPr>
        <p:spPr>
          <a:xfrm>
            <a:off x="960120" y="3931920"/>
            <a:ext cx="1463040" cy="411480"/>
          </a:xfrm>
          <a:prstGeom prst="rect">
            <a:avLst/>
          </a:prstGeom>
          <a:noFill/>
          <a:ln/>
        </p:spPr>
        <p:txBody>
          <a:bodyPr wrap="square" lIns="0" tIns="0" rIns="0" bIns="0" rtlCol="0" anchor="ctr"/>
          <a:lstStyle/>
          <a:p>
            <a:pPr indent="0" marL="0">
              <a:buNone/>
            </a:pPr>
            <a:r>
              <a:rPr lang="en-US" sz="1500" b="1" dirty="0">
                <a:solidFill>
                  <a:schemeClr val="bg1"/>
                </a:solidFill>
              </a:rPr>
              <a:t>Leads</a:t>
            </a:r>
            <a:endParaRPr lang="en-US" sz="1500" dirty="0"/>
          </a:p>
        </p:txBody>
      </p:sp>
      <p:sp>
        <p:nvSpPr>
          <p:cNvPr id="34" name="Text 32"/>
          <p:cNvSpPr txBox="1"/>
          <p:nvPr/>
        </p:nvSpPr>
        <p:spPr>
          <a:xfrm>
            <a:off x="2514600" y="3931920"/>
            <a:ext cx="2971800" cy="411480"/>
          </a:xfrm>
          <a:prstGeom prst="rect">
            <a:avLst/>
          </a:prstGeom>
          <a:noFill/>
          <a:ln/>
        </p:spPr>
        <p:txBody>
          <a:bodyPr wrap="square" lIns="0" tIns="0" rIns="0" bIns="0" rtlCol="0" anchor="ctr"/>
          <a:lstStyle/>
          <a:p>
            <a:pPr indent="0" marL="0">
              <a:buNone/>
            </a:pPr>
            <a:r>
              <a:rPr lang="en-US" sz="1300" dirty="0">
                <a:solidFill>
                  <a:schemeClr val="bg1"/>
                </a:solidFill>
              </a:rPr>
              <a:t>Division partnerships; team time for leads</a:t>
            </a:r>
            <a:endParaRPr lang="en-US" sz="1300" dirty="0"/>
          </a:p>
        </p:txBody>
      </p:sp>
      <p:sp>
        <p:nvSpPr>
          <p:cNvPr id="35" name="Text 33"/>
          <p:cNvSpPr txBox="1"/>
          <p:nvPr/>
        </p:nvSpPr>
        <p:spPr>
          <a:xfrm>
            <a:off x="5623560" y="3931920"/>
            <a:ext cx="1691640" cy="411480"/>
          </a:xfrm>
          <a:prstGeom prst="rect">
            <a:avLst/>
          </a:prstGeom>
          <a:noFill/>
          <a:ln/>
        </p:spPr>
        <p:txBody>
          <a:bodyPr wrap="square" lIns="0" tIns="0" rIns="0" bIns="0" rtlCol="0" anchor="ctr"/>
          <a:lstStyle/>
          <a:p>
            <a:pPr indent="0" marL="0">
              <a:buNone/>
            </a:pPr>
            <a:r>
              <a:rPr lang="en-US" sz="1300" dirty="0">
                <a:solidFill>
                  <a:srgbClr val="9AD1D4"/>
                </a:solidFill>
              </a:rPr>
              <a:t>Leads delivered</a:t>
            </a:r>
            <a:endParaRPr lang="en-US" sz="1300" dirty="0"/>
          </a:p>
        </p:txBody>
      </p:sp>
      <p:sp>
        <p:nvSpPr>
          <p:cNvPr id="36" name="Shape 34"/>
          <p:cNvSpPr/>
          <p:nvPr/>
        </p:nvSpPr>
        <p:spPr>
          <a:xfrm>
            <a:off x="7406640" y="4261104"/>
            <a:ext cx="1188720" cy="0"/>
          </a:xfrm>
          <a:prstGeom prst="line">
            <a:avLst/>
          </a:prstGeom>
          <a:noFill/>
          <a:ln w="15875">
            <a:solidFill>
              <a:schemeClr val="bg1"/>
            </a:solidFill>
            <a:prstDash val="solid"/>
          </a:ln>
        </p:spPr>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D1D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8046720" cy="868680"/>
          </a:xfrm>
          <a:prstGeom prst="rect">
            <a:avLst/>
          </a:prstGeom>
          <a:noFill/>
          <a:ln/>
        </p:spPr>
        <p:txBody>
          <a:bodyPr wrap="square" lIns="0" tIns="0" rIns="0" bIns="0" rtlCol="0" anchor="t"/>
          <a:lstStyle/>
          <a:p>
            <a:pPr algn="l" indent="0" marL="0">
              <a:buNone/>
            </a:pPr>
            <a:r>
              <a:rPr lang="en-US" sz="2800" b="1" dirty="0">
                <a:solidFill>
                  <a:schemeClr val="tx2"/>
                </a:solidFill>
              </a:rPr>
              <a:t>Appendix: full inspection results</a:t>
            </a:r>
            <a:endParaRPr lang="en-US" sz="2800" dirty="0"/>
          </a:p>
        </p:txBody>
      </p:sp>
      <p:sp>
        <p:nvSpPr>
          <p:cNvPr id="3" name="Product quality"/>
          <p:cNvSpPr/>
          <p:nvPr/>
        </p:nvSpPr>
        <p:spPr>
          <a:xfrm>
            <a:off x="548640" y="1097280"/>
            <a:ext cx="2560320" cy="1536192"/>
          </a:xfrm>
          <a:prstGeom prst="rect">
            <a:avLst/>
          </a:prstGeom>
          <a:solidFill>
            <a:schemeClr val="bg2"/>
          </a:solidFill>
          <a:ln w="12700">
            <a:solidFill>
              <a:schemeClr val="bg2"/>
            </a:solidFill>
            <a:prstDash val="solid"/>
          </a:ln>
        </p:spPr>
      </p:sp>
      <p:sp>
        <p:nvSpPr>
          <p:cNvPr id="4" name="Text 2"/>
          <p:cNvSpPr txBox="1"/>
          <p:nvPr/>
        </p:nvSpPr>
        <p:spPr>
          <a:xfrm>
            <a:off x="685800" y="1207008"/>
            <a:ext cx="1554480" cy="228600"/>
          </a:xfrm>
          <a:prstGeom prst="rect">
            <a:avLst/>
          </a:prstGeom>
          <a:noFill/>
          <a:ln/>
        </p:spPr>
        <p:txBody>
          <a:bodyPr wrap="square" lIns="0" tIns="0" rIns="0" bIns="0" rtlCol="0" anchor="t"/>
          <a:lstStyle/>
          <a:p>
            <a:pPr indent="0" marL="0">
              <a:buNone/>
            </a:pPr>
            <a:r>
              <a:rPr lang="en-US" sz="1300" b="1" dirty="0">
                <a:solidFill>
                  <a:schemeClr val="tx2"/>
                </a:solidFill>
              </a:rPr>
              <a:t>Product quality</a:t>
            </a:r>
            <a:endParaRPr lang="en-US" sz="1300" dirty="0"/>
          </a:p>
        </p:txBody>
      </p:sp>
      <p:sp>
        <p:nvSpPr>
          <p:cNvPr id="5" name="Status Strength"/>
          <p:cNvSpPr/>
          <p:nvPr/>
        </p:nvSpPr>
        <p:spPr>
          <a:xfrm>
            <a:off x="2240280" y="1216152"/>
            <a:ext cx="731520" cy="210312"/>
          </a:xfrm>
          <a:prstGeom prst="roundRect">
            <a:avLst>
              <a:gd name="adj" fmla="val 47826"/>
            </a:avLst>
          </a:prstGeom>
          <a:solidFill>
            <a:schemeClr val="accent4"/>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6" name="Shape 4"/>
          <p:cNvSpPr/>
          <p:nvPr/>
        </p:nvSpPr>
        <p:spPr>
          <a:xfrm>
            <a:off x="704088" y="1563624"/>
            <a:ext cx="109728" cy="109728"/>
          </a:xfrm>
          <a:prstGeom prst="ellipse">
            <a:avLst/>
          </a:prstGeom>
          <a:solidFill>
            <a:schemeClr val="accent4"/>
          </a:solidFill>
          <a:ln w="12700">
            <a:solidFill>
              <a:schemeClr val="accent4"/>
            </a:solidFill>
            <a:prstDash val="solid"/>
          </a:ln>
        </p:spPr>
      </p:sp>
      <p:sp>
        <p:nvSpPr>
          <p:cNvPr id="7" name="Text 5"/>
          <p:cNvSpPr txBox="1"/>
          <p:nvPr/>
        </p:nvSpPr>
        <p:spPr>
          <a:xfrm>
            <a:off x="896112" y="1527048"/>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a:t>
            </a:r>
            <a:endParaRPr lang="en-US" sz="1100" dirty="0"/>
          </a:p>
        </p:txBody>
      </p:sp>
      <p:sp>
        <p:nvSpPr>
          <p:cNvPr id="8" name="Shape 6"/>
          <p:cNvSpPr/>
          <p:nvPr/>
        </p:nvSpPr>
        <p:spPr>
          <a:xfrm>
            <a:off x="704088" y="1741932"/>
            <a:ext cx="109728" cy="109728"/>
          </a:xfrm>
          <a:prstGeom prst="ellipse">
            <a:avLst/>
          </a:prstGeom>
          <a:solidFill>
            <a:schemeClr val="accent4"/>
          </a:solidFill>
          <a:ln w="12700">
            <a:solidFill>
              <a:schemeClr val="accent4"/>
            </a:solidFill>
            <a:prstDash val="solid"/>
          </a:ln>
        </p:spPr>
      </p:sp>
      <p:sp>
        <p:nvSpPr>
          <p:cNvPr id="9" name="Text 7"/>
          <p:cNvSpPr txBox="1"/>
          <p:nvPr/>
        </p:nvSpPr>
        <p:spPr>
          <a:xfrm>
            <a:off x="896112" y="1705356"/>
            <a:ext cx="2103120" cy="173736"/>
          </a:xfrm>
          <a:prstGeom prst="rect">
            <a:avLst/>
          </a:prstGeom>
          <a:noFill/>
          <a:ln/>
        </p:spPr>
        <p:txBody>
          <a:bodyPr wrap="square" lIns="0" tIns="0" rIns="0" bIns="0" rtlCol="0" anchor="t"/>
          <a:lstStyle/>
          <a:p>
            <a:pPr indent="0" marL="0">
              <a:buNone/>
            </a:pPr>
            <a:r>
              <a:rPr lang="en-US" sz="1100" dirty="0">
                <a:solidFill>
                  <a:schemeClr val="tx1"/>
                </a:solidFill>
              </a:rPr>
              <a:t>SPF</a:t>
            </a:r>
            <a:endParaRPr lang="en-US" sz="1100" dirty="0"/>
          </a:p>
        </p:txBody>
      </p:sp>
      <p:sp>
        <p:nvSpPr>
          <p:cNvPr id="10" name="Shape 8"/>
          <p:cNvSpPr/>
          <p:nvPr/>
        </p:nvSpPr>
        <p:spPr>
          <a:xfrm>
            <a:off x="704088" y="1920240"/>
            <a:ext cx="109728" cy="109728"/>
          </a:xfrm>
          <a:prstGeom prst="ellipse">
            <a:avLst/>
          </a:prstGeom>
          <a:solidFill>
            <a:schemeClr val="accent5"/>
          </a:solidFill>
          <a:ln w="12700">
            <a:solidFill>
              <a:schemeClr val="accent5"/>
            </a:solidFill>
            <a:prstDash val="solid"/>
          </a:ln>
        </p:spPr>
      </p:sp>
      <p:sp>
        <p:nvSpPr>
          <p:cNvPr id="11" name="Text 9"/>
          <p:cNvSpPr txBox="1"/>
          <p:nvPr/>
        </p:nvSpPr>
        <p:spPr>
          <a:xfrm>
            <a:off x="896112" y="188366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a:t>
            </a:r>
            <a:endParaRPr lang="en-US" sz="1100" dirty="0"/>
          </a:p>
        </p:txBody>
      </p:sp>
      <p:sp>
        <p:nvSpPr>
          <p:cNvPr id="12" name="Shape 10"/>
          <p:cNvSpPr/>
          <p:nvPr/>
        </p:nvSpPr>
        <p:spPr>
          <a:xfrm>
            <a:off x="704088" y="2098548"/>
            <a:ext cx="109728" cy="109728"/>
          </a:xfrm>
          <a:prstGeom prst="ellipse">
            <a:avLst/>
          </a:prstGeom>
          <a:solidFill>
            <a:schemeClr val="accent3"/>
          </a:solidFill>
          <a:ln w="12700">
            <a:solidFill>
              <a:schemeClr val="accent3"/>
            </a:solidFill>
            <a:prstDash val="solid"/>
          </a:ln>
        </p:spPr>
      </p:sp>
      <p:sp>
        <p:nvSpPr>
          <p:cNvPr id="13" name="Text 11"/>
          <p:cNvSpPr txBox="1"/>
          <p:nvPr/>
        </p:nvSpPr>
        <p:spPr>
          <a:xfrm>
            <a:off x="896112" y="2061972"/>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 clumping</a:t>
            </a:r>
            <a:endParaRPr lang="en-US" sz="1100" dirty="0"/>
          </a:p>
        </p:txBody>
      </p:sp>
      <p:sp>
        <p:nvSpPr>
          <p:cNvPr id="14" name="Shape 12"/>
          <p:cNvSpPr/>
          <p:nvPr/>
        </p:nvSpPr>
        <p:spPr>
          <a:xfrm>
            <a:off x="704088" y="2276856"/>
            <a:ext cx="109728" cy="109728"/>
          </a:xfrm>
          <a:prstGeom prst="ellipse">
            <a:avLst/>
          </a:prstGeom>
          <a:solidFill>
            <a:schemeClr val="accent6"/>
          </a:solidFill>
          <a:ln w="12700">
            <a:solidFill>
              <a:schemeClr val="accent6"/>
            </a:solidFill>
            <a:prstDash val="solid"/>
          </a:ln>
        </p:spPr>
      </p:sp>
      <p:sp>
        <p:nvSpPr>
          <p:cNvPr id="15" name="Text 13"/>
          <p:cNvSpPr txBox="1"/>
          <p:nvPr/>
        </p:nvSpPr>
        <p:spPr>
          <a:xfrm>
            <a:off x="896112" y="2240280"/>
            <a:ext cx="2103120" cy="173736"/>
          </a:xfrm>
          <a:prstGeom prst="rect">
            <a:avLst/>
          </a:prstGeom>
          <a:noFill/>
          <a:ln/>
        </p:spPr>
        <p:txBody>
          <a:bodyPr wrap="square" lIns="0" tIns="0" rIns="0" bIns="0" rtlCol="0" anchor="t"/>
          <a:lstStyle/>
          <a:p>
            <a:pPr indent="0" marL="0">
              <a:buNone/>
            </a:pPr>
            <a:r>
              <a:rPr lang="en-US" sz="1100" dirty="0">
                <a:solidFill>
                  <a:schemeClr val="tx1"/>
                </a:solidFill>
              </a:rPr>
              <a:t>Seam treatments</a:t>
            </a:r>
            <a:endParaRPr lang="en-US" sz="1100" dirty="0"/>
          </a:p>
        </p:txBody>
      </p:sp>
      <p:sp>
        <p:nvSpPr>
          <p:cNvPr id="16" name="Shape 14"/>
          <p:cNvSpPr/>
          <p:nvPr/>
        </p:nvSpPr>
        <p:spPr>
          <a:xfrm>
            <a:off x="704088" y="2455164"/>
            <a:ext cx="109728" cy="109728"/>
          </a:xfrm>
          <a:prstGeom prst="ellipse">
            <a:avLst/>
          </a:prstGeom>
          <a:solidFill>
            <a:schemeClr val="accent3"/>
          </a:solidFill>
          <a:ln w="12700">
            <a:solidFill>
              <a:schemeClr val="accent3"/>
            </a:solidFill>
            <a:prstDash val="solid"/>
          </a:ln>
        </p:spPr>
      </p:sp>
      <p:sp>
        <p:nvSpPr>
          <p:cNvPr id="17" name="Text 15"/>
          <p:cNvSpPr txBox="1"/>
          <p:nvPr/>
        </p:nvSpPr>
        <p:spPr>
          <a:xfrm>
            <a:off x="896112" y="2418588"/>
            <a:ext cx="2103120" cy="173736"/>
          </a:xfrm>
          <a:prstGeom prst="rect">
            <a:avLst/>
          </a:prstGeom>
          <a:noFill/>
          <a:ln/>
        </p:spPr>
        <p:txBody>
          <a:bodyPr wrap="square" lIns="0" tIns="0" rIns="0" bIns="0" rtlCol="0" anchor="t"/>
          <a:lstStyle/>
          <a:p>
            <a:pPr indent="0" marL="0">
              <a:buNone/>
            </a:pPr>
            <a:r>
              <a:rPr lang="en-US" sz="1100" dirty="0">
                <a:solidFill>
                  <a:schemeClr val="tx1"/>
                </a:solidFill>
              </a:rPr>
              <a:t>Urethane system</a:t>
            </a:r>
            <a:endParaRPr lang="en-US" sz="1100" dirty="0"/>
          </a:p>
        </p:txBody>
      </p:sp>
      <p:sp>
        <p:nvSpPr>
          <p:cNvPr id="18" name="Availability"/>
          <p:cNvSpPr/>
          <p:nvPr/>
        </p:nvSpPr>
        <p:spPr>
          <a:xfrm>
            <a:off x="3291840" y="1097280"/>
            <a:ext cx="2560320" cy="1536192"/>
          </a:xfrm>
          <a:prstGeom prst="rect">
            <a:avLst/>
          </a:prstGeom>
          <a:solidFill>
            <a:schemeClr val="bg2"/>
          </a:solidFill>
          <a:ln w="12700">
            <a:solidFill>
              <a:schemeClr val="bg2"/>
            </a:solidFill>
            <a:prstDash val="solid"/>
          </a:ln>
        </p:spPr>
      </p:sp>
      <p:sp>
        <p:nvSpPr>
          <p:cNvPr id="19" name="Text 17"/>
          <p:cNvSpPr txBox="1"/>
          <p:nvPr/>
        </p:nvSpPr>
        <p:spPr>
          <a:xfrm>
            <a:off x="3429000" y="1207008"/>
            <a:ext cx="1554480" cy="228600"/>
          </a:xfrm>
          <a:prstGeom prst="rect">
            <a:avLst/>
          </a:prstGeom>
          <a:noFill/>
          <a:ln/>
        </p:spPr>
        <p:txBody>
          <a:bodyPr wrap="square" lIns="0" tIns="0" rIns="0" bIns="0" rtlCol="0" anchor="t"/>
          <a:lstStyle/>
          <a:p>
            <a:pPr indent="0" marL="0">
              <a:buNone/>
            </a:pPr>
            <a:r>
              <a:rPr lang="en-US" sz="1300" b="1" dirty="0">
                <a:solidFill>
                  <a:schemeClr val="tx2"/>
                </a:solidFill>
              </a:rPr>
              <a:t>Availability</a:t>
            </a:r>
            <a:endParaRPr lang="en-US" sz="1300" dirty="0"/>
          </a:p>
        </p:txBody>
      </p:sp>
      <p:sp>
        <p:nvSpPr>
          <p:cNvPr id="20" name="Status Watch"/>
          <p:cNvSpPr/>
          <p:nvPr/>
        </p:nvSpPr>
        <p:spPr>
          <a:xfrm>
            <a:off x="4983480" y="1216152"/>
            <a:ext cx="731520" cy="210312"/>
          </a:xfrm>
          <a:prstGeom prst="roundRect">
            <a:avLst>
              <a:gd name="adj" fmla="val 47826"/>
            </a:avLst>
          </a:prstGeom>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21" name="Shape 19"/>
          <p:cNvSpPr/>
          <p:nvPr/>
        </p:nvSpPr>
        <p:spPr>
          <a:xfrm>
            <a:off x="3447288" y="1563624"/>
            <a:ext cx="109728" cy="109728"/>
          </a:xfrm>
          <a:prstGeom prst="ellipse">
            <a:avLst/>
          </a:prstGeom>
          <a:solidFill>
            <a:schemeClr val="accent4"/>
          </a:solidFill>
          <a:ln w="12700">
            <a:solidFill>
              <a:schemeClr val="accent4"/>
            </a:solidFill>
            <a:prstDash val="solid"/>
          </a:ln>
        </p:spPr>
      </p:sp>
      <p:sp>
        <p:nvSpPr>
          <p:cNvPr id="22" name="Text 20"/>
          <p:cNvSpPr txBox="1"/>
          <p:nvPr/>
        </p:nvSpPr>
        <p:spPr>
          <a:xfrm>
            <a:off x="3639312" y="1527048"/>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a:t>
            </a:r>
            <a:endParaRPr lang="en-US" sz="1100" dirty="0"/>
          </a:p>
        </p:txBody>
      </p:sp>
      <p:sp>
        <p:nvSpPr>
          <p:cNvPr id="23" name="Shape 21"/>
          <p:cNvSpPr/>
          <p:nvPr/>
        </p:nvSpPr>
        <p:spPr>
          <a:xfrm>
            <a:off x="3447288" y="1741932"/>
            <a:ext cx="109728" cy="109728"/>
          </a:xfrm>
          <a:prstGeom prst="ellipse">
            <a:avLst/>
          </a:prstGeom>
          <a:solidFill>
            <a:schemeClr val="accent5"/>
          </a:solidFill>
          <a:ln w="12700">
            <a:solidFill>
              <a:schemeClr val="accent5"/>
            </a:solidFill>
            <a:prstDash val="solid"/>
          </a:ln>
        </p:spPr>
      </p:sp>
      <p:sp>
        <p:nvSpPr>
          <p:cNvPr id="24" name="Text 22"/>
          <p:cNvSpPr txBox="1"/>
          <p:nvPr/>
        </p:nvSpPr>
        <p:spPr>
          <a:xfrm>
            <a:off x="3639312" y="1705356"/>
            <a:ext cx="2103120" cy="173736"/>
          </a:xfrm>
          <a:prstGeom prst="rect">
            <a:avLst/>
          </a:prstGeom>
          <a:noFill/>
          <a:ln/>
        </p:spPr>
        <p:txBody>
          <a:bodyPr wrap="square" lIns="0" tIns="0" rIns="0" bIns="0" rtlCol="0" anchor="t"/>
          <a:lstStyle/>
          <a:p>
            <a:pPr indent="0" marL="0">
              <a:buNone/>
            </a:pPr>
            <a:r>
              <a:rPr lang="en-US" sz="1100" dirty="0">
                <a:solidFill>
                  <a:schemeClr val="tx1"/>
                </a:solidFill>
              </a:rPr>
              <a:t>Accessories</a:t>
            </a:r>
            <a:endParaRPr lang="en-US" sz="1100" dirty="0"/>
          </a:p>
        </p:txBody>
      </p:sp>
      <p:sp>
        <p:nvSpPr>
          <p:cNvPr id="25" name="Shape 23"/>
          <p:cNvSpPr/>
          <p:nvPr/>
        </p:nvSpPr>
        <p:spPr>
          <a:xfrm>
            <a:off x="3447288" y="1920240"/>
            <a:ext cx="109728" cy="109728"/>
          </a:xfrm>
          <a:prstGeom prst="ellipse">
            <a:avLst/>
          </a:prstGeom>
          <a:solidFill>
            <a:schemeClr val="accent6"/>
          </a:solidFill>
          <a:ln w="12700">
            <a:solidFill>
              <a:schemeClr val="accent6"/>
            </a:solidFill>
            <a:prstDash val="solid"/>
          </a:ln>
        </p:spPr>
      </p:sp>
      <p:sp>
        <p:nvSpPr>
          <p:cNvPr id="26" name="Text 24"/>
          <p:cNvSpPr txBox="1"/>
          <p:nvPr/>
        </p:nvSpPr>
        <p:spPr>
          <a:xfrm>
            <a:off x="3639312" y="188366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a:t>
            </a:r>
            <a:endParaRPr lang="en-US" sz="1100" dirty="0"/>
          </a:p>
        </p:txBody>
      </p:sp>
      <p:sp>
        <p:nvSpPr>
          <p:cNvPr id="27" name="Shape 25"/>
          <p:cNvSpPr/>
          <p:nvPr/>
        </p:nvSpPr>
        <p:spPr>
          <a:xfrm>
            <a:off x="3447288" y="2098548"/>
            <a:ext cx="109728" cy="109728"/>
          </a:xfrm>
          <a:prstGeom prst="ellipse">
            <a:avLst/>
          </a:prstGeom>
          <a:solidFill>
            <a:schemeClr val="accent6"/>
          </a:solidFill>
          <a:ln w="12700">
            <a:solidFill>
              <a:schemeClr val="accent6"/>
            </a:solidFill>
            <a:prstDash val="solid"/>
          </a:ln>
        </p:spPr>
      </p:sp>
      <p:sp>
        <p:nvSpPr>
          <p:cNvPr id="28" name="Text 26"/>
          <p:cNvSpPr txBox="1"/>
          <p:nvPr/>
        </p:nvSpPr>
        <p:spPr>
          <a:xfrm>
            <a:off x="3639312" y="2061972"/>
            <a:ext cx="2103120" cy="173736"/>
          </a:xfrm>
          <a:prstGeom prst="rect">
            <a:avLst/>
          </a:prstGeom>
          <a:noFill/>
          <a:ln/>
        </p:spPr>
        <p:txBody>
          <a:bodyPr wrap="square" lIns="0" tIns="0" rIns="0" bIns="0" rtlCol="0" anchor="t"/>
          <a:lstStyle/>
          <a:p>
            <a:pPr indent="0" marL="0">
              <a:buNone/>
            </a:pPr>
            <a:r>
              <a:rPr lang="en-US" sz="1100" dirty="0">
                <a:solidFill>
                  <a:schemeClr val="tx1"/>
                </a:solidFill>
              </a:rPr>
              <a:t>Primers and bleed blockers</a:t>
            </a:r>
            <a:endParaRPr lang="en-US" sz="1100" dirty="0"/>
          </a:p>
        </p:txBody>
      </p:sp>
      <p:sp>
        <p:nvSpPr>
          <p:cNvPr id="29" name="Leads and pricing"/>
          <p:cNvSpPr/>
          <p:nvPr/>
        </p:nvSpPr>
        <p:spPr>
          <a:xfrm>
            <a:off x="6035040" y="1097280"/>
            <a:ext cx="2560320" cy="1536192"/>
          </a:xfrm>
          <a:prstGeom prst="rect">
            <a:avLst/>
          </a:prstGeom>
          <a:solidFill>
            <a:schemeClr val="bg2"/>
          </a:solidFill>
          <a:ln w="12700">
            <a:solidFill>
              <a:schemeClr val="bg2"/>
            </a:solidFill>
            <a:prstDash val="solid"/>
          </a:ln>
        </p:spPr>
      </p:sp>
      <p:sp>
        <p:nvSpPr>
          <p:cNvPr id="30" name="Text 28"/>
          <p:cNvSpPr txBox="1"/>
          <p:nvPr/>
        </p:nvSpPr>
        <p:spPr>
          <a:xfrm>
            <a:off x="6172200" y="1207008"/>
            <a:ext cx="1554480" cy="228600"/>
          </a:xfrm>
          <a:prstGeom prst="rect">
            <a:avLst/>
          </a:prstGeom>
          <a:noFill/>
          <a:ln/>
        </p:spPr>
        <p:txBody>
          <a:bodyPr wrap="square" lIns="0" tIns="0" rIns="0" bIns="0" rtlCol="0" anchor="t"/>
          <a:lstStyle/>
          <a:p>
            <a:pPr indent="0" marL="0">
              <a:buNone/>
            </a:pPr>
            <a:r>
              <a:rPr lang="en-US" sz="1300" b="1" dirty="0">
                <a:solidFill>
                  <a:schemeClr val="tx2"/>
                </a:solidFill>
              </a:rPr>
              <a:t>Leads and pricing</a:t>
            </a:r>
            <a:endParaRPr lang="en-US" sz="1300" dirty="0"/>
          </a:p>
        </p:txBody>
      </p:sp>
      <p:sp>
        <p:nvSpPr>
          <p:cNvPr id="31" name="Status Strength"/>
          <p:cNvSpPr/>
          <p:nvPr/>
        </p:nvSpPr>
        <p:spPr>
          <a:xfrm>
            <a:off x="7726680" y="1216152"/>
            <a:ext cx="731520" cy="210312"/>
          </a:xfrm>
          <a:prstGeom prst="roundRect">
            <a:avLst>
              <a:gd name="adj" fmla="val 47826"/>
            </a:avLst>
          </a:prstGeom>
          <a:solidFill>
            <a:schemeClr val="accent4"/>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32" name="Shape 30"/>
          <p:cNvSpPr/>
          <p:nvPr/>
        </p:nvSpPr>
        <p:spPr>
          <a:xfrm>
            <a:off x="6190488" y="1563624"/>
            <a:ext cx="109728" cy="109728"/>
          </a:xfrm>
          <a:prstGeom prst="ellipse">
            <a:avLst/>
          </a:prstGeom>
          <a:solidFill>
            <a:schemeClr val="accent4"/>
          </a:solidFill>
          <a:ln w="12700">
            <a:solidFill>
              <a:schemeClr val="accent4"/>
            </a:solidFill>
            <a:prstDash val="solid"/>
          </a:ln>
        </p:spPr>
      </p:sp>
      <p:sp>
        <p:nvSpPr>
          <p:cNvPr id="33" name="Text 31"/>
          <p:cNvSpPr txBox="1"/>
          <p:nvPr/>
        </p:nvSpPr>
        <p:spPr>
          <a:xfrm>
            <a:off x="6382512" y="1527048"/>
            <a:ext cx="2103120" cy="173736"/>
          </a:xfrm>
          <a:prstGeom prst="rect">
            <a:avLst/>
          </a:prstGeom>
          <a:noFill/>
          <a:ln/>
        </p:spPr>
        <p:txBody>
          <a:bodyPr wrap="square" lIns="0" tIns="0" rIns="0" bIns="0" rtlCol="0" anchor="t"/>
          <a:lstStyle/>
          <a:p>
            <a:pPr indent="0" marL="0">
              <a:buNone/>
            </a:pPr>
            <a:r>
              <a:rPr lang="en-US" sz="1100" dirty="0">
                <a:solidFill>
                  <a:schemeClr val="tx1"/>
                </a:solidFill>
              </a:rPr>
              <a:t>Henry-provided leads</a:t>
            </a:r>
            <a:endParaRPr lang="en-US" sz="1100" dirty="0"/>
          </a:p>
        </p:txBody>
      </p:sp>
      <p:sp>
        <p:nvSpPr>
          <p:cNvPr id="34" name="Shape 32"/>
          <p:cNvSpPr/>
          <p:nvPr/>
        </p:nvSpPr>
        <p:spPr>
          <a:xfrm>
            <a:off x="6190488" y="1741932"/>
            <a:ext cx="109728" cy="109728"/>
          </a:xfrm>
          <a:prstGeom prst="ellipse">
            <a:avLst/>
          </a:prstGeom>
          <a:solidFill>
            <a:schemeClr val="accent4"/>
          </a:solidFill>
          <a:ln w="12700">
            <a:solidFill>
              <a:schemeClr val="accent4"/>
            </a:solidFill>
            <a:prstDash val="solid"/>
          </a:ln>
        </p:spPr>
      </p:sp>
      <p:sp>
        <p:nvSpPr>
          <p:cNvPr id="35" name="Text 33"/>
          <p:cNvSpPr txBox="1"/>
          <p:nvPr/>
        </p:nvSpPr>
        <p:spPr>
          <a:xfrm>
            <a:off x="6382512" y="1705356"/>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 price</a:t>
            </a:r>
            <a:endParaRPr lang="en-US" sz="1100" dirty="0"/>
          </a:p>
        </p:txBody>
      </p:sp>
      <p:sp>
        <p:nvSpPr>
          <p:cNvPr id="36" name="Shape 34"/>
          <p:cNvSpPr/>
          <p:nvPr/>
        </p:nvSpPr>
        <p:spPr>
          <a:xfrm>
            <a:off x="6190488" y="1920240"/>
            <a:ext cx="109728" cy="109728"/>
          </a:xfrm>
          <a:prstGeom prst="ellipse">
            <a:avLst/>
          </a:prstGeom>
          <a:solidFill>
            <a:schemeClr val="accent4"/>
          </a:solidFill>
          <a:ln w="12700">
            <a:solidFill>
              <a:schemeClr val="accent4"/>
            </a:solidFill>
            <a:prstDash val="solid"/>
          </a:ln>
        </p:spPr>
      </p:sp>
      <p:sp>
        <p:nvSpPr>
          <p:cNvPr id="37" name="Text 35"/>
          <p:cNvSpPr txBox="1"/>
          <p:nvPr/>
        </p:nvSpPr>
        <p:spPr>
          <a:xfrm>
            <a:off x="6382512" y="188366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 price</a:t>
            </a:r>
            <a:endParaRPr lang="en-US" sz="1100" dirty="0"/>
          </a:p>
        </p:txBody>
      </p:sp>
      <p:sp>
        <p:nvSpPr>
          <p:cNvPr id="38" name="Shape 36"/>
          <p:cNvSpPr/>
          <p:nvPr/>
        </p:nvSpPr>
        <p:spPr>
          <a:xfrm>
            <a:off x="6190488" y="2098548"/>
            <a:ext cx="109728" cy="109728"/>
          </a:xfrm>
          <a:prstGeom prst="ellipse">
            <a:avLst/>
          </a:prstGeom>
          <a:solidFill>
            <a:schemeClr val="accent5"/>
          </a:solidFill>
          <a:ln w="12700">
            <a:solidFill>
              <a:schemeClr val="accent5"/>
            </a:solidFill>
            <a:prstDash val="solid"/>
          </a:ln>
        </p:spPr>
      </p:sp>
      <p:sp>
        <p:nvSpPr>
          <p:cNvPr id="39" name="Text 37"/>
          <p:cNvSpPr txBox="1"/>
          <p:nvPr/>
        </p:nvSpPr>
        <p:spPr>
          <a:xfrm>
            <a:off x="6382512" y="2061972"/>
            <a:ext cx="2103120" cy="173736"/>
          </a:xfrm>
          <a:prstGeom prst="rect">
            <a:avLst/>
          </a:prstGeom>
          <a:noFill/>
          <a:ln/>
        </p:spPr>
        <p:txBody>
          <a:bodyPr wrap="square" lIns="0" tIns="0" rIns="0" bIns="0" rtlCol="0" anchor="t"/>
          <a:lstStyle/>
          <a:p>
            <a:pPr indent="0" marL="0">
              <a:buNone/>
            </a:pPr>
            <a:r>
              <a:rPr lang="en-US" sz="1100" dirty="0">
                <a:solidFill>
                  <a:schemeClr val="tx1"/>
                </a:solidFill>
              </a:rPr>
              <a:t>SPF price</a:t>
            </a:r>
            <a:endParaRPr lang="en-US" sz="1100" dirty="0"/>
          </a:p>
        </p:txBody>
      </p:sp>
      <p:sp>
        <p:nvSpPr>
          <p:cNvPr id="40" name="Shape 38"/>
          <p:cNvSpPr/>
          <p:nvPr/>
        </p:nvSpPr>
        <p:spPr>
          <a:xfrm>
            <a:off x="6190488" y="2276856"/>
            <a:ext cx="109728" cy="109728"/>
          </a:xfrm>
          <a:prstGeom prst="ellipse">
            <a:avLst/>
          </a:prstGeom>
          <a:solidFill>
            <a:schemeClr val="accent5"/>
          </a:solidFill>
          <a:ln w="12700">
            <a:solidFill>
              <a:schemeClr val="accent5"/>
            </a:solidFill>
            <a:prstDash val="solid"/>
          </a:ln>
        </p:spPr>
      </p:sp>
      <p:sp>
        <p:nvSpPr>
          <p:cNvPr id="41" name="Text 39"/>
          <p:cNvSpPr txBox="1"/>
          <p:nvPr/>
        </p:nvSpPr>
        <p:spPr>
          <a:xfrm>
            <a:off x="6382512" y="2240280"/>
            <a:ext cx="2103120" cy="173736"/>
          </a:xfrm>
          <a:prstGeom prst="rect">
            <a:avLst/>
          </a:prstGeom>
          <a:noFill/>
          <a:ln/>
        </p:spPr>
        <p:txBody>
          <a:bodyPr wrap="square" lIns="0" tIns="0" rIns="0" bIns="0" rtlCol="0" anchor="t"/>
          <a:lstStyle/>
          <a:p>
            <a:pPr indent="0" marL="0">
              <a:buNone/>
            </a:pPr>
            <a:r>
              <a:rPr lang="en-US" sz="1100" dirty="0">
                <a:solidFill>
                  <a:schemeClr val="tx1"/>
                </a:solidFill>
              </a:rPr>
              <a:t>Emulsion price</a:t>
            </a:r>
            <a:endParaRPr lang="en-US" sz="1100" dirty="0"/>
          </a:p>
        </p:txBody>
      </p:sp>
      <p:sp>
        <p:nvSpPr>
          <p:cNvPr id="42" name="Logistics"/>
          <p:cNvSpPr/>
          <p:nvPr/>
        </p:nvSpPr>
        <p:spPr>
          <a:xfrm>
            <a:off x="548640" y="2743200"/>
            <a:ext cx="2560320" cy="1536192"/>
          </a:xfrm>
          <a:prstGeom prst="rect">
            <a:avLst/>
          </a:prstGeom>
          <a:solidFill>
            <a:schemeClr val="bg2"/>
          </a:solidFill>
          <a:ln w="12700">
            <a:solidFill>
              <a:schemeClr val="bg2"/>
            </a:solidFill>
            <a:prstDash val="solid"/>
          </a:ln>
        </p:spPr>
      </p:sp>
      <p:sp>
        <p:nvSpPr>
          <p:cNvPr id="43" name="Text 41"/>
          <p:cNvSpPr txBox="1"/>
          <p:nvPr/>
        </p:nvSpPr>
        <p:spPr>
          <a:xfrm>
            <a:off x="685800" y="2852928"/>
            <a:ext cx="1554480" cy="228600"/>
          </a:xfrm>
          <a:prstGeom prst="rect">
            <a:avLst/>
          </a:prstGeom>
          <a:noFill/>
          <a:ln/>
        </p:spPr>
        <p:txBody>
          <a:bodyPr wrap="square" lIns="0" tIns="0" rIns="0" bIns="0" rtlCol="0" anchor="t"/>
          <a:lstStyle/>
          <a:p>
            <a:pPr indent="0" marL="0">
              <a:buNone/>
            </a:pPr>
            <a:r>
              <a:rPr lang="en-US" sz="1300" b="1" dirty="0">
                <a:solidFill>
                  <a:schemeClr val="tx2"/>
                </a:solidFill>
              </a:rPr>
              <a:t>Logistics</a:t>
            </a:r>
            <a:endParaRPr lang="en-US" sz="1300" dirty="0"/>
          </a:p>
        </p:txBody>
      </p:sp>
      <p:sp>
        <p:nvSpPr>
          <p:cNvPr id="44" name="Status At risk"/>
          <p:cNvSpPr/>
          <p:nvPr/>
        </p:nvSpPr>
        <p:spPr>
          <a:xfrm>
            <a:off x="2240280" y="2862072"/>
            <a:ext cx="731520" cy="210312"/>
          </a:xfrm>
          <a:prstGeom prst="roundRect">
            <a:avLst>
              <a:gd name="adj" fmla="val 47826"/>
            </a:avLst>
          </a:prstGeom>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45" name="Shape 43"/>
          <p:cNvSpPr/>
          <p:nvPr/>
        </p:nvSpPr>
        <p:spPr>
          <a:xfrm>
            <a:off x="704088" y="3209544"/>
            <a:ext cx="109728" cy="109728"/>
          </a:xfrm>
          <a:prstGeom prst="ellipse">
            <a:avLst/>
          </a:prstGeom>
          <a:solidFill>
            <a:schemeClr val="accent6"/>
          </a:solidFill>
          <a:ln w="12700">
            <a:solidFill>
              <a:schemeClr val="accent6"/>
            </a:solidFill>
            <a:prstDash val="solid"/>
          </a:ln>
        </p:spPr>
      </p:sp>
      <p:sp>
        <p:nvSpPr>
          <p:cNvPr id="46" name="Text 44"/>
          <p:cNvSpPr txBox="1"/>
          <p:nvPr/>
        </p:nvSpPr>
        <p:spPr>
          <a:xfrm>
            <a:off x="896112" y="3172968"/>
            <a:ext cx="2103120" cy="173736"/>
          </a:xfrm>
          <a:prstGeom prst="rect">
            <a:avLst/>
          </a:prstGeom>
          <a:noFill/>
          <a:ln/>
        </p:spPr>
        <p:txBody>
          <a:bodyPr wrap="square" lIns="0" tIns="0" rIns="0" bIns="0" rtlCol="0" anchor="t"/>
          <a:lstStyle/>
          <a:p>
            <a:pPr indent="0" marL="0">
              <a:buNone/>
            </a:pPr>
            <a:r>
              <a:rPr lang="en-US" sz="1100" dirty="0">
                <a:solidFill>
                  <a:schemeClr val="tx1"/>
                </a:solidFill>
              </a:rPr>
              <a:t>Tracking info</a:t>
            </a:r>
            <a:endParaRPr lang="en-US" sz="1100" dirty="0"/>
          </a:p>
        </p:txBody>
      </p:sp>
      <p:sp>
        <p:nvSpPr>
          <p:cNvPr id="47" name="Shape 45"/>
          <p:cNvSpPr/>
          <p:nvPr/>
        </p:nvSpPr>
        <p:spPr>
          <a:xfrm>
            <a:off x="704088" y="3387852"/>
            <a:ext cx="109728" cy="109728"/>
          </a:xfrm>
          <a:prstGeom prst="ellipse">
            <a:avLst/>
          </a:prstGeom>
          <a:solidFill>
            <a:schemeClr val="accent3"/>
          </a:solidFill>
          <a:ln w="12700">
            <a:solidFill>
              <a:schemeClr val="accent3"/>
            </a:solidFill>
            <a:prstDash val="solid"/>
          </a:ln>
        </p:spPr>
      </p:sp>
      <p:sp>
        <p:nvSpPr>
          <p:cNvPr id="48" name="Text 46"/>
          <p:cNvSpPr txBox="1"/>
          <p:nvPr/>
        </p:nvSpPr>
        <p:spPr>
          <a:xfrm>
            <a:off x="896112" y="3351276"/>
            <a:ext cx="2103120" cy="173736"/>
          </a:xfrm>
          <a:prstGeom prst="rect">
            <a:avLst/>
          </a:prstGeom>
          <a:noFill/>
          <a:ln/>
        </p:spPr>
        <p:txBody>
          <a:bodyPr wrap="square" lIns="0" tIns="0" rIns="0" bIns="0" rtlCol="0" anchor="t"/>
          <a:lstStyle/>
          <a:p>
            <a:pPr indent="0" marL="0">
              <a:buNone/>
            </a:pPr>
            <a:r>
              <a:rPr lang="en-US" sz="1100" dirty="0">
                <a:solidFill>
                  <a:schemeClr val="tx1"/>
                </a:solidFill>
              </a:rPr>
              <a:t>On-time delivery</a:t>
            </a:r>
            <a:endParaRPr lang="en-US" sz="1100" dirty="0"/>
          </a:p>
        </p:txBody>
      </p:sp>
      <p:sp>
        <p:nvSpPr>
          <p:cNvPr id="49" name="Shape 47"/>
          <p:cNvSpPr/>
          <p:nvPr/>
        </p:nvSpPr>
        <p:spPr>
          <a:xfrm>
            <a:off x="704088" y="3566160"/>
            <a:ext cx="109728" cy="109728"/>
          </a:xfrm>
          <a:prstGeom prst="ellipse">
            <a:avLst/>
          </a:prstGeom>
          <a:solidFill>
            <a:schemeClr val="accent5"/>
          </a:solidFill>
          <a:ln w="12700">
            <a:solidFill>
              <a:schemeClr val="accent5"/>
            </a:solidFill>
            <a:prstDash val="solid"/>
          </a:ln>
        </p:spPr>
      </p:sp>
      <p:sp>
        <p:nvSpPr>
          <p:cNvPr id="50" name="Text 48"/>
          <p:cNvSpPr txBox="1"/>
          <p:nvPr/>
        </p:nvSpPr>
        <p:spPr>
          <a:xfrm>
            <a:off x="896112" y="3529584"/>
            <a:ext cx="2103120" cy="173736"/>
          </a:xfrm>
          <a:prstGeom prst="rect">
            <a:avLst/>
          </a:prstGeom>
          <a:noFill/>
          <a:ln/>
        </p:spPr>
        <p:txBody>
          <a:bodyPr wrap="square" lIns="0" tIns="0" rIns="0" bIns="0" rtlCol="0" anchor="t"/>
          <a:lstStyle/>
          <a:p>
            <a:pPr indent="0" marL="0">
              <a:buNone/>
            </a:pPr>
            <a:r>
              <a:rPr lang="en-US" sz="1100" dirty="0">
                <a:solidFill>
                  <a:schemeClr val="tx1"/>
                </a:solidFill>
              </a:rPr>
              <a:t>Delivered undamaged</a:t>
            </a:r>
            <a:endParaRPr lang="en-US" sz="1100" dirty="0"/>
          </a:p>
        </p:txBody>
      </p:sp>
      <p:sp>
        <p:nvSpPr>
          <p:cNvPr id="51" name="Customer service"/>
          <p:cNvSpPr/>
          <p:nvPr/>
        </p:nvSpPr>
        <p:spPr>
          <a:xfrm>
            <a:off x="3291840" y="2743200"/>
            <a:ext cx="2560320" cy="1536192"/>
          </a:xfrm>
          <a:prstGeom prst="rect">
            <a:avLst/>
          </a:prstGeom>
          <a:solidFill>
            <a:schemeClr val="bg2"/>
          </a:solidFill>
          <a:ln w="12700">
            <a:solidFill>
              <a:schemeClr val="bg2"/>
            </a:solidFill>
            <a:prstDash val="solid"/>
          </a:ln>
        </p:spPr>
      </p:sp>
      <p:sp>
        <p:nvSpPr>
          <p:cNvPr id="52" name="Text 50"/>
          <p:cNvSpPr txBox="1"/>
          <p:nvPr/>
        </p:nvSpPr>
        <p:spPr>
          <a:xfrm>
            <a:off x="3429000" y="2852928"/>
            <a:ext cx="1554480" cy="228600"/>
          </a:xfrm>
          <a:prstGeom prst="rect">
            <a:avLst/>
          </a:prstGeom>
          <a:noFill/>
          <a:ln/>
        </p:spPr>
        <p:txBody>
          <a:bodyPr wrap="square" lIns="0" tIns="0" rIns="0" bIns="0" rtlCol="0" anchor="t"/>
          <a:lstStyle/>
          <a:p>
            <a:pPr indent="0" marL="0">
              <a:buNone/>
            </a:pPr>
            <a:r>
              <a:rPr lang="en-US" sz="1300" b="1" dirty="0">
                <a:solidFill>
                  <a:schemeClr val="tx2"/>
                </a:solidFill>
              </a:rPr>
              <a:t>Customer service</a:t>
            </a:r>
            <a:endParaRPr lang="en-US" sz="1300" dirty="0"/>
          </a:p>
        </p:txBody>
      </p:sp>
      <p:sp>
        <p:nvSpPr>
          <p:cNvPr id="53" name="Status At risk"/>
          <p:cNvSpPr/>
          <p:nvPr/>
        </p:nvSpPr>
        <p:spPr>
          <a:xfrm>
            <a:off x="4983480" y="2862072"/>
            <a:ext cx="731520" cy="210312"/>
          </a:xfrm>
          <a:prstGeom prst="roundRect">
            <a:avLst>
              <a:gd name="adj" fmla="val 47826"/>
            </a:avLst>
          </a:prstGeom>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4" name="Shape 52"/>
          <p:cNvSpPr/>
          <p:nvPr/>
        </p:nvSpPr>
        <p:spPr>
          <a:xfrm>
            <a:off x="3447288" y="3209544"/>
            <a:ext cx="109728" cy="109728"/>
          </a:xfrm>
          <a:prstGeom prst="ellipse">
            <a:avLst/>
          </a:prstGeom>
          <a:solidFill>
            <a:schemeClr val="accent3"/>
          </a:solidFill>
          <a:ln w="12700">
            <a:solidFill>
              <a:schemeClr val="accent3"/>
            </a:solidFill>
            <a:prstDash val="solid"/>
          </a:ln>
        </p:spPr>
      </p:sp>
      <p:sp>
        <p:nvSpPr>
          <p:cNvPr id="55" name="Text 53"/>
          <p:cNvSpPr txBox="1"/>
          <p:nvPr/>
        </p:nvSpPr>
        <p:spPr>
          <a:xfrm>
            <a:off x="3639312" y="3172968"/>
            <a:ext cx="2103120" cy="173736"/>
          </a:xfrm>
          <a:prstGeom prst="rect">
            <a:avLst/>
          </a:prstGeom>
          <a:noFill/>
          <a:ln/>
        </p:spPr>
        <p:txBody>
          <a:bodyPr wrap="square" lIns="0" tIns="0" rIns="0" bIns="0" rtlCol="0" anchor="t"/>
          <a:lstStyle/>
          <a:p>
            <a:pPr indent="0" marL="0">
              <a:buNone/>
            </a:pPr>
            <a:r>
              <a:rPr lang="en-US" sz="1100" dirty="0">
                <a:solidFill>
                  <a:schemeClr val="tx1"/>
                </a:solidFill>
              </a:rPr>
              <a:t>We ask for SKU numbers</a:t>
            </a:r>
            <a:endParaRPr lang="en-US" sz="1100" dirty="0"/>
          </a:p>
        </p:txBody>
      </p:sp>
      <p:sp>
        <p:nvSpPr>
          <p:cNvPr id="56" name="Shape 54"/>
          <p:cNvSpPr/>
          <p:nvPr/>
        </p:nvSpPr>
        <p:spPr>
          <a:xfrm>
            <a:off x="3447288" y="3387852"/>
            <a:ext cx="109728" cy="109728"/>
          </a:xfrm>
          <a:prstGeom prst="ellipse">
            <a:avLst/>
          </a:prstGeom>
          <a:solidFill>
            <a:schemeClr val="accent5"/>
          </a:solidFill>
          <a:ln w="12700">
            <a:solidFill>
              <a:schemeClr val="accent5"/>
            </a:solidFill>
            <a:prstDash val="solid"/>
          </a:ln>
        </p:spPr>
      </p:sp>
      <p:sp>
        <p:nvSpPr>
          <p:cNvPr id="57" name="Text 55"/>
          <p:cNvSpPr txBox="1"/>
          <p:nvPr/>
        </p:nvSpPr>
        <p:spPr>
          <a:xfrm>
            <a:off x="3639312" y="3351276"/>
            <a:ext cx="2103120" cy="173736"/>
          </a:xfrm>
          <a:prstGeom prst="rect">
            <a:avLst/>
          </a:prstGeom>
          <a:noFill/>
          <a:ln/>
        </p:spPr>
        <p:txBody>
          <a:bodyPr wrap="square" lIns="0" tIns="0" rIns="0" bIns="0" rtlCol="0" anchor="t"/>
          <a:lstStyle/>
          <a:p>
            <a:pPr indent="0" marL="0">
              <a:buNone/>
            </a:pPr>
            <a:r>
              <a:rPr lang="en-US" sz="1100" dirty="0">
                <a:solidFill>
                  <a:schemeClr val="tx1"/>
                </a:solidFill>
              </a:rPr>
              <a:t>We ask for our form</a:t>
            </a:r>
            <a:endParaRPr lang="en-US" sz="1100" dirty="0"/>
          </a:p>
        </p:txBody>
      </p:sp>
      <p:sp>
        <p:nvSpPr>
          <p:cNvPr id="58" name="Shape 56"/>
          <p:cNvSpPr/>
          <p:nvPr/>
        </p:nvSpPr>
        <p:spPr>
          <a:xfrm>
            <a:off x="3447288" y="3566160"/>
            <a:ext cx="109728" cy="109728"/>
          </a:xfrm>
          <a:prstGeom prst="ellipse">
            <a:avLst/>
          </a:prstGeom>
          <a:solidFill>
            <a:schemeClr val="accent3"/>
          </a:solidFill>
          <a:ln w="12700">
            <a:solidFill>
              <a:schemeClr val="accent3"/>
            </a:solidFill>
            <a:prstDash val="solid"/>
          </a:ln>
        </p:spPr>
      </p:sp>
      <p:sp>
        <p:nvSpPr>
          <p:cNvPr id="59" name="Text 57"/>
          <p:cNvSpPr txBox="1"/>
          <p:nvPr/>
        </p:nvSpPr>
        <p:spPr>
          <a:xfrm>
            <a:off x="3639312" y="3529584"/>
            <a:ext cx="2103120" cy="173736"/>
          </a:xfrm>
          <a:prstGeom prst="rect">
            <a:avLst/>
          </a:prstGeom>
          <a:noFill/>
          <a:ln/>
        </p:spPr>
        <p:txBody>
          <a:bodyPr wrap="square" lIns="0" tIns="0" rIns="0" bIns="0" rtlCol="0" anchor="t"/>
          <a:lstStyle/>
          <a:p>
            <a:pPr indent="0" marL="0">
              <a:buNone/>
            </a:pPr>
            <a:r>
              <a:rPr lang="en-US" sz="1100" dirty="0">
                <a:solidFill>
                  <a:schemeClr val="tx1"/>
                </a:solidFill>
              </a:rPr>
              <a:t>Tracking without asking</a:t>
            </a:r>
            <a:endParaRPr lang="en-US" sz="1100" dirty="0"/>
          </a:p>
        </p:txBody>
      </p:sp>
      <p:sp>
        <p:nvSpPr>
          <p:cNvPr id="60" name="Shape 58"/>
          <p:cNvSpPr/>
          <p:nvPr/>
        </p:nvSpPr>
        <p:spPr>
          <a:xfrm>
            <a:off x="3447288" y="3744468"/>
            <a:ext cx="109728" cy="109728"/>
          </a:xfrm>
          <a:prstGeom prst="ellipse">
            <a:avLst/>
          </a:prstGeom>
          <a:solidFill>
            <a:schemeClr val="accent3"/>
          </a:solidFill>
          <a:ln w="12700">
            <a:solidFill>
              <a:schemeClr val="accent3"/>
            </a:solidFill>
            <a:prstDash val="solid"/>
          </a:ln>
        </p:spPr>
      </p:sp>
      <p:sp>
        <p:nvSpPr>
          <p:cNvPr id="61" name="Text 59"/>
          <p:cNvSpPr txBox="1"/>
          <p:nvPr/>
        </p:nvSpPr>
        <p:spPr>
          <a:xfrm>
            <a:off x="3639312" y="3707892"/>
            <a:ext cx="2103120" cy="173736"/>
          </a:xfrm>
          <a:prstGeom prst="rect">
            <a:avLst/>
          </a:prstGeom>
          <a:noFill/>
          <a:ln/>
        </p:spPr>
        <p:txBody>
          <a:bodyPr wrap="square" lIns="0" tIns="0" rIns="0" bIns="0" rtlCol="0" anchor="t"/>
          <a:lstStyle/>
          <a:p>
            <a:pPr indent="0" marL="0">
              <a:buNone/>
            </a:pPr>
            <a:r>
              <a:rPr lang="en-US" sz="1100" dirty="0">
                <a:solidFill>
                  <a:schemeClr val="tx1"/>
                </a:solidFill>
              </a:rPr>
              <a:t>Keeping jobs on schedule</a:t>
            </a:r>
            <a:endParaRPr lang="en-US" sz="1100" dirty="0"/>
          </a:p>
        </p:txBody>
      </p:sp>
      <p:sp>
        <p:nvSpPr>
          <p:cNvPr id="62" name="Shape 60"/>
          <p:cNvSpPr/>
          <p:nvPr/>
        </p:nvSpPr>
        <p:spPr>
          <a:xfrm>
            <a:off x="3447288" y="3922776"/>
            <a:ext cx="109728" cy="109728"/>
          </a:xfrm>
          <a:prstGeom prst="ellipse">
            <a:avLst/>
          </a:prstGeom>
          <a:solidFill>
            <a:schemeClr val="accent5"/>
          </a:solidFill>
          <a:ln w="12700">
            <a:solidFill>
              <a:schemeClr val="accent5"/>
            </a:solidFill>
            <a:prstDash val="solid"/>
          </a:ln>
        </p:spPr>
      </p:sp>
      <p:sp>
        <p:nvSpPr>
          <p:cNvPr id="63" name="Text 61"/>
          <p:cNvSpPr txBox="1"/>
          <p:nvPr/>
        </p:nvSpPr>
        <p:spPr>
          <a:xfrm>
            <a:off x="3639312" y="3886200"/>
            <a:ext cx="2103120" cy="173736"/>
          </a:xfrm>
          <a:prstGeom prst="rect">
            <a:avLst/>
          </a:prstGeom>
          <a:noFill/>
          <a:ln/>
        </p:spPr>
        <p:txBody>
          <a:bodyPr wrap="square" lIns="0" tIns="0" rIns="0" bIns="0" rtlCol="0" anchor="t"/>
          <a:lstStyle/>
          <a:p>
            <a:pPr indent="0" marL="0">
              <a:buNone/>
            </a:pPr>
            <a:r>
              <a:rPr lang="en-US" sz="1100" dirty="0">
                <a:solidFill>
                  <a:schemeClr val="tx1"/>
                </a:solidFill>
              </a:rPr>
              <a:t>Attitude</a:t>
            </a:r>
            <a:endParaRPr lang="en-US" sz="1100" dirty="0"/>
          </a:p>
        </p:txBody>
      </p:sp>
      <p:sp>
        <p:nvSpPr>
          <p:cNvPr id="64" name="Shape 62"/>
          <p:cNvSpPr/>
          <p:nvPr/>
        </p:nvSpPr>
        <p:spPr>
          <a:xfrm>
            <a:off x="3447288" y="4101084"/>
            <a:ext cx="109728" cy="109728"/>
          </a:xfrm>
          <a:prstGeom prst="ellipse">
            <a:avLst/>
          </a:prstGeom>
          <a:solidFill>
            <a:schemeClr val="accent3"/>
          </a:solidFill>
          <a:ln w="12700">
            <a:solidFill>
              <a:schemeClr val="accent3"/>
            </a:solidFill>
            <a:prstDash val="solid"/>
          </a:ln>
        </p:spPr>
      </p:sp>
      <p:sp>
        <p:nvSpPr>
          <p:cNvPr id="65" name="Text 63"/>
          <p:cNvSpPr txBox="1"/>
          <p:nvPr/>
        </p:nvSpPr>
        <p:spPr>
          <a:xfrm>
            <a:off x="3639312" y="4064508"/>
            <a:ext cx="2103120" cy="173736"/>
          </a:xfrm>
          <a:prstGeom prst="rect">
            <a:avLst/>
          </a:prstGeom>
          <a:noFill/>
          <a:ln/>
        </p:spPr>
        <p:txBody>
          <a:bodyPr wrap="square" lIns="0" tIns="0" rIns="0" bIns="0" rtlCol="0" anchor="t"/>
          <a:lstStyle/>
          <a:p>
            <a:pPr indent="0" marL="0">
              <a:buNone/>
            </a:pPr>
            <a:r>
              <a:rPr lang="en-US" sz="1100" dirty="0">
                <a:solidFill>
                  <a:schemeClr val="tx1"/>
                </a:solidFill>
              </a:rPr>
              <a:t>Reps reachable by email</a:t>
            </a:r>
            <a:endParaRPr lang="en-US" sz="1100" dirty="0"/>
          </a:p>
        </p:txBody>
      </p:sp>
      <p:sp>
        <p:nvSpPr>
          <p:cNvPr id="66" name="Warranty"/>
          <p:cNvSpPr/>
          <p:nvPr/>
        </p:nvSpPr>
        <p:spPr>
          <a:xfrm>
            <a:off x="6035040" y="2743200"/>
            <a:ext cx="2560320" cy="1536192"/>
          </a:xfrm>
          <a:prstGeom prst="rect">
            <a:avLst/>
          </a:prstGeom>
          <a:solidFill>
            <a:schemeClr val="bg2"/>
          </a:solidFill>
          <a:ln w="12700">
            <a:solidFill>
              <a:schemeClr val="bg2"/>
            </a:solidFill>
            <a:prstDash val="solid"/>
          </a:ln>
        </p:spPr>
      </p:sp>
      <p:sp>
        <p:nvSpPr>
          <p:cNvPr id="67" name="Text 65"/>
          <p:cNvSpPr txBox="1"/>
          <p:nvPr/>
        </p:nvSpPr>
        <p:spPr>
          <a:xfrm>
            <a:off x="6172200" y="2852928"/>
            <a:ext cx="1554480" cy="228600"/>
          </a:xfrm>
          <a:prstGeom prst="rect">
            <a:avLst/>
          </a:prstGeom>
          <a:noFill/>
          <a:ln/>
        </p:spPr>
        <p:txBody>
          <a:bodyPr wrap="square" lIns="0" tIns="0" rIns="0" bIns="0" rtlCol="0" anchor="t"/>
          <a:lstStyle/>
          <a:p>
            <a:pPr indent="0" marL="0">
              <a:buNone/>
            </a:pPr>
            <a:r>
              <a:rPr lang="en-US" sz="1300" b="1" dirty="0">
                <a:solidFill>
                  <a:schemeClr val="tx2"/>
                </a:solidFill>
              </a:rPr>
              <a:t>Warranty</a:t>
            </a:r>
            <a:endParaRPr lang="en-US" sz="1300" dirty="0"/>
          </a:p>
        </p:txBody>
      </p:sp>
      <p:sp>
        <p:nvSpPr>
          <p:cNvPr id="68" name="Status Watch"/>
          <p:cNvSpPr/>
          <p:nvPr/>
        </p:nvSpPr>
        <p:spPr>
          <a:xfrm>
            <a:off x="7726680" y="2862072"/>
            <a:ext cx="731520" cy="210312"/>
          </a:xfrm>
          <a:prstGeom prst="roundRect">
            <a:avLst>
              <a:gd name="adj" fmla="val 47826"/>
            </a:avLst>
          </a:prstGeom>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69" name="Shape 67"/>
          <p:cNvSpPr/>
          <p:nvPr/>
        </p:nvSpPr>
        <p:spPr>
          <a:xfrm>
            <a:off x="6190488" y="3209544"/>
            <a:ext cx="109728" cy="109728"/>
          </a:xfrm>
          <a:prstGeom prst="ellipse">
            <a:avLst/>
          </a:prstGeom>
          <a:solidFill>
            <a:schemeClr val="accent4"/>
          </a:solidFill>
          <a:ln w="12700">
            <a:solidFill>
              <a:schemeClr val="accent4"/>
            </a:solidFill>
            <a:prstDash val="solid"/>
          </a:ln>
        </p:spPr>
      </p:sp>
      <p:sp>
        <p:nvSpPr>
          <p:cNvPr id="70" name="Text 68"/>
          <p:cNvSpPr txBox="1"/>
          <p:nvPr/>
        </p:nvSpPr>
        <p:spPr>
          <a:xfrm>
            <a:off x="6382512" y="3172968"/>
            <a:ext cx="2103120" cy="173736"/>
          </a:xfrm>
          <a:prstGeom prst="rect">
            <a:avLst/>
          </a:prstGeom>
          <a:noFill/>
          <a:ln/>
        </p:spPr>
        <p:txBody>
          <a:bodyPr wrap="square" lIns="0" tIns="0" rIns="0" bIns="0" rtlCol="0" anchor="t"/>
          <a:lstStyle/>
          <a:p>
            <a:pPr indent="0" marL="0">
              <a:buNone/>
            </a:pPr>
            <a:r>
              <a:rPr lang="en-US" sz="1100" dirty="0">
                <a:solidFill>
                  <a:schemeClr val="tx1"/>
                </a:solidFill>
              </a:rPr>
              <a:t>Means something to owners</a:t>
            </a:r>
            <a:endParaRPr lang="en-US" sz="1100" dirty="0"/>
          </a:p>
        </p:txBody>
      </p:sp>
      <p:sp>
        <p:nvSpPr>
          <p:cNvPr id="71" name="Shape 69"/>
          <p:cNvSpPr/>
          <p:nvPr/>
        </p:nvSpPr>
        <p:spPr>
          <a:xfrm>
            <a:off x="6190488" y="3387852"/>
            <a:ext cx="109728" cy="109728"/>
          </a:xfrm>
          <a:prstGeom prst="ellipse">
            <a:avLst/>
          </a:prstGeom>
          <a:solidFill>
            <a:schemeClr val="accent4"/>
          </a:solidFill>
          <a:ln w="12700">
            <a:solidFill>
              <a:schemeClr val="accent4"/>
            </a:solidFill>
            <a:prstDash val="solid"/>
          </a:ln>
        </p:spPr>
      </p:sp>
      <p:sp>
        <p:nvSpPr>
          <p:cNvPr id="72" name="Text 70"/>
          <p:cNvSpPr txBox="1"/>
          <p:nvPr/>
        </p:nvSpPr>
        <p:spPr>
          <a:xfrm>
            <a:off x="6382512" y="3351276"/>
            <a:ext cx="2103120" cy="173736"/>
          </a:xfrm>
          <a:prstGeom prst="rect">
            <a:avLst/>
          </a:prstGeom>
          <a:noFill/>
          <a:ln/>
        </p:spPr>
        <p:txBody>
          <a:bodyPr wrap="square" lIns="0" tIns="0" rIns="0" bIns="0" rtlCol="0" anchor="t"/>
          <a:lstStyle/>
          <a:p>
            <a:pPr indent="0" marL="0">
              <a:buNone/>
            </a:pPr>
            <a:r>
              <a:rPr lang="en-US" sz="1100" dirty="0">
                <a:solidFill>
                  <a:schemeClr val="tx1"/>
                </a:solidFill>
              </a:rPr>
              <a:t>Claim process</a:t>
            </a:r>
            <a:endParaRPr lang="en-US" sz="1100" dirty="0"/>
          </a:p>
        </p:txBody>
      </p:sp>
      <p:sp>
        <p:nvSpPr>
          <p:cNvPr id="73" name="Shape 71"/>
          <p:cNvSpPr/>
          <p:nvPr/>
        </p:nvSpPr>
        <p:spPr>
          <a:xfrm>
            <a:off x="6190488" y="3566160"/>
            <a:ext cx="109728" cy="109728"/>
          </a:xfrm>
          <a:prstGeom prst="ellipse">
            <a:avLst/>
          </a:prstGeom>
          <a:solidFill>
            <a:schemeClr val="accent6"/>
          </a:solidFill>
          <a:ln w="12700">
            <a:solidFill>
              <a:schemeClr val="accent6"/>
            </a:solidFill>
            <a:prstDash val="solid"/>
          </a:ln>
        </p:spPr>
      </p:sp>
      <p:sp>
        <p:nvSpPr>
          <p:cNvPr id="74" name="Text 72"/>
          <p:cNvSpPr txBox="1"/>
          <p:nvPr/>
        </p:nvSpPr>
        <p:spPr>
          <a:xfrm>
            <a:off x="6382512" y="3529584"/>
            <a:ext cx="2103120" cy="173736"/>
          </a:xfrm>
          <a:prstGeom prst="rect">
            <a:avLst/>
          </a:prstGeom>
          <a:noFill/>
          <a:ln/>
        </p:spPr>
        <p:txBody>
          <a:bodyPr wrap="square" lIns="0" tIns="0" rIns="0" bIns="0" rtlCol="0" anchor="t"/>
          <a:lstStyle/>
          <a:p>
            <a:pPr indent="0" marL="0">
              <a:buNone/>
            </a:pPr>
            <a:r>
              <a:rPr lang="en-US" sz="1100" dirty="0">
                <a:solidFill>
                  <a:schemeClr val="tx1"/>
                </a:solidFill>
              </a:rPr>
              <a:t>Easy to process</a:t>
            </a:r>
            <a:endParaRPr lang="en-US" sz="1100" dirty="0"/>
          </a:p>
        </p:txBody>
      </p:sp>
      <p:sp>
        <p:nvSpPr>
          <p:cNvPr id="75" name="Shape 73"/>
          <p:cNvSpPr/>
          <p:nvPr/>
        </p:nvSpPr>
        <p:spPr>
          <a:xfrm>
            <a:off x="6190488" y="3744468"/>
            <a:ext cx="109728" cy="109728"/>
          </a:xfrm>
          <a:prstGeom prst="ellipse">
            <a:avLst/>
          </a:prstGeom>
          <a:solidFill>
            <a:schemeClr val="accent5"/>
          </a:solidFill>
          <a:ln w="12700">
            <a:solidFill>
              <a:schemeClr val="accent5"/>
            </a:solidFill>
            <a:prstDash val="solid"/>
          </a:ln>
        </p:spPr>
      </p:sp>
      <p:sp>
        <p:nvSpPr>
          <p:cNvPr id="76" name="Text 74"/>
          <p:cNvSpPr txBox="1"/>
          <p:nvPr/>
        </p:nvSpPr>
        <p:spPr>
          <a:xfrm>
            <a:off x="6382512" y="3707892"/>
            <a:ext cx="2103120" cy="173736"/>
          </a:xfrm>
          <a:prstGeom prst="rect">
            <a:avLst/>
          </a:prstGeom>
          <a:noFill/>
          <a:ln/>
        </p:spPr>
        <p:txBody>
          <a:bodyPr wrap="square" lIns="0" tIns="0" rIns="0" bIns="0" rtlCol="0" anchor="t"/>
          <a:lstStyle/>
          <a:p>
            <a:pPr indent="0" marL="0">
              <a:buNone/>
            </a:pPr>
            <a:r>
              <a:rPr lang="en-US" sz="1100" dirty="0">
                <a:solidFill>
                  <a:schemeClr val="tx1"/>
                </a:solidFill>
              </a:rPr>
              <a:t>Flex on standard spec</a:t>
            </a:r>
            <a:endParaRPr lang="en-US" sz="1100" dirty="0"/>
          </a:p>
        </p:txBody>
      </p:sp>
      <p:sp>
        <p:nvSpPr>
          <p:cNvPr id="77" name="Shape 75"/>
          <p:cNvSpPr/>
          <p:nvPr/>
        </p:nvSpPr>
        <p:spPr>
          <a:xfrm>
            <a:off x="3931920" y="4722876"/>
            <a:ext cx="109728" cy="109728"/>
          </a:xfrm>
          <a:prstGeom prst="ellipse">
            <a:avLst/>
          </a:prstGeom>
          <a:solidFill>
            <a:schemeClr val="accent4"/>
          </a:solidFill>
          <a:ln w="12700">
            <a:solidFill>
              <a:schemeClr val="accent4"/>
            </a:solidFill>
            <a:prstDash val="solid"/>
          </a:ln>
        </p:spPr>
      </p:sp>
      <p:sp>
        <p:nvSpPr>
          <p:cNvPr id="78" name="Text 76"/>
          <p:cNvSpPr txBox="1"/>
          <p:nvPr/>
        </p:nvSpPr>
        <p:spPr>
          <a:xfrm>
            <a:off x="4087368" y="4663440"/>
            <a:ext cx="731520" cy="228600"/>
          </a:xfrm>
          <a:prstGeom prst="rect">
            <a:avLst/>
          </a:prstGeom>
          <a:noFill/>
          <a:ln/>
        </p:spPr>
        <p:txBody>
          <a:bodyPr wrap="square" lIns="0" tIns="0" rIns="0" bIns="0" rtlCol="0" anchor="ctr"/>
          <a:lstStyle/>
          <a:p>
            <a:pPr indent="0" marL="0">
              <a:buNone/>
            </a:pPr>
            <a:r>
              <a:rPr lang="en-US" sz="1000" dirty="0">
                <a:solidFill>
                  <a:srgbClr val="5F5D5E"/>
                </a:solidFill>
              </a:rPr>
              <a:t>Strength</a:t>
            </a:r>
            <a:endParaRPr lang="en-US" sz="1000" dirty="0"/>
          </a:p>
        </p:txBody>
      </p:sp>
      <p:sp>
        <p:nvSpPr>
          <p:cNvPr id="79" name="Shape 77"/>
          <p:cNvSpPr/>
          <p:nvPr/>
        </p:nvSpPr>
        <p:spPr>
          <a:xfrm>
            <a:off x="4892040" y="4722876"/>
            <a:ext cx="109728" cy="109728"/>
          </a:xfrm>
          <a:prstGeom prst="ellipse">
            <a:avLst/>
          </a:prstGeom>
          <a:solidFill>
            <a:schemeClr val="accent5"/>
          </a:solidFill>
          <a:ln w="12700">
            <a:solidFill>
              <a:schemeClr val="accent5"/>
            </a:solidFill>
            <a:prstDash val="solid"/>
          </a:ln>
        </p:spPr>
      </p:sp>
      <p:sp>
        <p:nvSpPr>
          <p:cNvPr id="80" name="Text 78"/>
          <p:cNvSpPr txBox="1"/>
          <p:nvPr/>
        </p:nvSpPr>
        <p:spPr>
          <a:xfrm>
            <a:off x="5047488" y="4663440"/>
            <a:ext cx="731520" cy="228600"/>
          </a:xfrm>
          <a:prstGeom prst="rect">
            <a:avLst/>
          </a:prstGeom>
          <a:noFill/>
          <a:ln/>
        </p:spPr>
        <p:txBody>
          <a:bodyPr wrap="square" lIns="0" tIns="0" rIns="0" bIns="0" rtlCol="0" anchor="ctr"/>
          <a:lstStyle/>
          <a:p>
            <a:pPr indent="0" marL="0">
              <a:buNone/>
            </a:pPr>
            <a:r>
              <a:rPr lang="en-US" sz="1000" dirty="0">
                <a:solidFill>
                  <a:srgbClr val="5F5D5E"/>
                </a:solidFill>
              </a:rPr>
              <a:t>Watch</a:t>
            </a:r>
            <a:endParaRPr lang="en-US" sz="1000" dirty="0"/>
          </a:p>
        </p:txBody>
      </p:sp>
      <p:sp>
        <p:nvSpPr>
          <p:cNvPr id="81" name="Shape 79"/>
          <p:cNvSpPr/>
          <p:nvPr/>
        </p:nvSpPr>
        <p:spPr>
          <a:xfrm>
            <a:off x="5852160" y="4722876"/>
            <a:ext cx="109728" cy="109728"/>
          </a:xfrm>
          <a:prstGeom prst="ellipse">
            <a:avLst/>
          </a:prstGeom>
          <a:solidFill>
            <a:schemeClr val="accent6"/>
          </a:solidFill>
          <a:ln w="12700">
            <a:solidFill>
              <a:schemeClr val="accent6"/>
            </a:solidFill>
            <a:prstDash val="solid"/>
          </a:ln>
        </p:spPr>
      </p:sp>
      <p:sp>
        <p:nvSpPr>
          <p:cNvPr id="82" name="Text 80"/>
          <p:cNvSpPr txBox="1"/>
          <p:nvPr/>
        </p:nvSpPr>
        <p:spPr>
          <a:xfrm>
            <a:off x="6007608" y="4663440"/>
            <a:ext cx="731520" cy="228600"/>
          </a:xfrm>
          <a:prstGeom prst="rect">
            <a:avLst/>
          </a:prstGeom>
          <a:noFill/>
          <a:ln/>
        </p:spPr>
        <p:txBody>
          <a:bodyPr wrap="square" lIns="0" tIns="0" rIns="0" bIns="0" rtlCol="0" anchor="ctr"/>
          <a:lstStyle/>
          <a:p>
            <a:pPr indent="0" marL="0">
              <a:buNone/>
            </a:pPr>
            <a:r>
              <a:rPr lang="en-US" sz="1000" dirty="0">
                <a:solidFill>
                  <a:srgbClr val="5F5D5E"/>
                </a:solidFill>
              </a:rPr>
              <a:t>At risk</a:t>
            </a:r>
            <a:endParaRPr lang="en-US" sz="1000" dirty="0"/>
          </a:p>
        </p:txBody>
      </p:sp>
      <p:sp>
        <p:nvSpPr>
          <p:cNvPr id="83" name="Shape 81"/>
          <p:cNvSpPr/>
          <p:nvPr/>
        </p:nvSpPr>
        <p:spPr>
          <a:xfrm>
            <a:off x="6812280" y="4722876"/>
            <a:ext cx="109728" cy="109728"/>
          </a:xfrm>
          <a:prstGeom prst="ellipse">
            <a:avLst/>
          </a:prstGeom>
          <a:solidFill>
            <a:schemeClr val="accent3"/>
          </a:solidFill>
          <a:ln w="12700">
            <a:solidFill>
              <a:schemeClr val="accent3"/>
            </a:solidFill>
            <a:prstDash val="solid"/>
          </a:ln>
        </p:spPr>
      </p:sp>
      <p:sp>
        <p:nvSpPr>
          <p:cNvPr id="84" name="Text 82"/>
          <p:cNvSpPr txBox="1"/>
          <p:nvPr/>
        </p:nvSpPr>
        <p:spPr>
          <a:xfrm>
            <a:off x="6967728" y="4663440"/>
            <a:ext cx="731520" cy="228600"/>
          </a:xfrm>
          <a:prstGeom prst="rect">
            <a:avLst/>
          </a:prstGeom>
          <a:noFill/>
          <a:ln/>
        </p:spPr>
        <p:txBody>
          <a:bodyPr wrap="square" lIns="0" tIns="0" rIns="0" bIns="0" rtlCol="0" anchor="ctr"/>
          <a:lstStyle/>
          <a:p>
            <a:pPr indent="0" marL="0">
              <a:buNone/>
            </a:pPr>
            <a:r>
              <a:rPr lang="en-US" sz="1000" dirty="0">
                <a:solidFill>
                  <a:srgbClr val="5F5D5E"/>
                </a:solidFill>
              </a:rPr>
              <a:t>Broken</a:t>
            </a:r>
            <a:endParaRPr lang="en-US" sz="1000" dirty="0"/>
          </a:p>
        </p:txBody>
      </p:sp>
      <p:sp>
        <p:nvSpPr>
          <p:cNvPr id="25" name="Slide Number Placeholder 0"/>
          <p:cNvSpPr>
            <a:spLocks noGrp="1"/>
          </p:cNvSpPr>
          <p:nvPr>
            <p:ph type="sldNum" sz="quarter" idx="4294967295"/>
          </p:nvPr>
        </p:nvSpPr>
        <p:spPr>
          <a:xfrm>
            <a:off x="8229600" y="466344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Henry Leaky Bucket">
  <a:themeElements>
    <a:clrScheme name="Henry Leaky Bucket">
      <a:dk1>
        <a:srgbClr val="333132"/>
      </a:dk1>
      <a:lt1>
        <a:srgbClr val="FFFFFF"/>
      </a:lt1>
      <a:dk2>
        <a:srgbClr val="00306C"/>
      </a:dk2>
      <a:lt2>
        <a:srgbClr val="F1F1F2"/>
      </a:lt2>
      <a:accent1>
        <a:srgbClr val="0054A6"/>
      </a:accent1>
      <a:accent2>
        <a:srgbClr val="0090D2"/>
      </a:accent2>
      <a:accent3>
        <a:srgbClr val="D93A2B"/>
      </a:accent3>
      <a:accent4>
        <a:srgbClr val="2E8B57"/>
      </a:accent4>
      <a:accent5>
        <a:srgbClr val="F2B134"/>
      </a:accent5>
      <a:accent6>
        <a:srgbClr val="E8772E"/>
      </a:accent6>
      <a:hlink>
        <a:srgbClr val="0054A6"/>
      </a:hlink>
      <a:folHlink>
        <a:srgbClr val="00306C"/>
      </a:folHlink>
    </a:clrScheme>
    <a:fontScheme name="Henry Leaky Buck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Henry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 Stop Leaks for a Living</dc:title>
  <dc:subject>PptxGenJS Presentation</dc:subject>
  <dc:creator>PptxGenJS</dc:creator>
  <cp:lastModifiedBy>PptxGenJS</cp:lastModifiedBy>
  <cp:revision>1</cp:revision>
  <dcterms:created xsi:type="dcterms:W3CDTF">2026-10-15T15:23:03Z</dcterms:created>
  <dcterms:modified xsi:type="dcterms:W3CDTF">2026-10-15T15:23:03Z</dcterms:modified>
</cp:coreProperties>
</file>