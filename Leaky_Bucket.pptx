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a0e52e0e-da29-150d-4444-944e7729964e}">
          <p14:sldIdLst>
            <p14:sldId id="256"/>
            <p14:sldId id="257"/>
            <p14:sldId id="258"/>
            <p14:sldId id="259"/>
          </p14:sldIdLst>
        </p14:section>
        <p14:section name="Issues and Actions" id="{6fa78d15-54d1-e60f-2995-85bd0843893a}">
          <p14:sldIdLst>
            <p14:sldId id="260"/>
            <p14:sldId id="261"/>
            <p14:sldId id="262"/>
            <p14:sldId id="263"/>
            <p14:sldId id="264"/>
          </p14:sldIdLst>
        </p14:section>
        <p14:section name="Recommendation" id="{e3c8f330-9167-4c0e-b723-e4a9e0e50b80}">
          <p14:sldIdLst>
            <p14:sldId id="265"/>
            <p14:sldId id="266"/>
            <p14:sldId id="267"/>
          </p14:sldIdLst>
        </p14:section>
        <p14:section name="Appendix" id="{2a0b3789-30f4-b689-729c-c321c6919d50}">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of this meeting: review why Tier 1 roofing contractors drift away from Henry, agree on corrective actions, and assign an owner to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short version. Our product, leads and price bring Tier 1 roofers to Henry. Our service lets them go. The issues are all ones we control, which means they are all ones we can fix. Today we are asking for approval of the actions and an owner for each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Logistics is the only area rated critical. Customer service, warranty and material availability are at risk. Lead volume is on watch. The next slide shows how these issues combine on a single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real feedback from the detractor list. None is dramatic on its own; together they lose a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Consistent feedback is that we are difficult to deal with. CS sends an Excel file with over 200 SKUs when the customer has already said what they want. Customers should be held to the order acknowledgement, and we should rely less on sales to sort out orders. If Kingman is out of PG988 and Carson has it, CS should get the product to the customer as quickly as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Sign-offs are rated at risk and claim responses are on watch. Walking the roof inside the two-year window protects the building owner and the roofer, and grouping distant sign-offs reduces travel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area rated critical. If no delivery date is noted, we set one on the order acknowledgement, but we ship early without notice when we can. CS should communicate throughout the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ready to ship within 48 hours is not a recent problem. Everything needed to start a job must be available, not just the main coating. No owner has been assigned yet to the product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quality is not the problem; volume is. Resolving the customer service issues gives the national accounts team its time back for lead generation.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Fixing service should not cost us the reasons customers choose Henry.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simple, measurable standards drawn directly from the corrective actions. They are easy for every CS representative to remember and for leadership to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ask: approve the actions and name an owner for each issue before the meeting ends. The measures and the monthly review are proposals for leadership to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assessment from the team's Tier 1 analysis. Green = strength, yellow = watch, orange = at risk, red = critical.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502920"/>
            <a:ext cx="1207008" cy="457200"/>
          </a:xfrm>
          <a:prstGeom prst="rect">
            <a:avLst/>
          </a:prstGeom>
        </p:spPr>
      </p:pic>
      <p:sp>
        <p:nvSpPr>
          <p:cNvPr id="3" name="Text 0"/>
          <p:cNvSpPr/>
          <p:nvPr>
            <p:ph idx="101" type="title" hasCustomPrompt="1"/>
          </p:nvPr>
        </p:nvSpPr>
        <p:spPr>
          <a:xfrm>
            <a:off x="548640" y="1737360"/>
            <a:ext cx="8046720" cy="8229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548640" y="2560320"/>
            <a:ext cx="8046720" cy="457200"/>
          </a:xfrm>
          <a:prstGeom prst="rect">
            <a:avLst/>
          </a:prstGeom>
          <a:noFill/>
          <a:ln/>
        </p:spPr>
        <p:txBody>
          <a:bodyPr wrap="square" rtlCol="0"/>
          <a:lstStyle>
            <a:lvl1pPr indent="0" marL="0">
              <a:buNone/>
              <a:defRPr lang="en-US" sz="2000" dirty="0">
                <a:solidFill>
                  <a:srgbClr val="C9DCEB"/>
                </a:solidFill>
              </a:defRPr>
            </a:lvl1pPr>
          </a:lstStyle>
          <a:p>
            <a:pPr indent="0" marL="0">
              <a:buNone/>
            </a:pPr>
            <a:endParaRPr lang="en-US" sz="2000" dirty="0"/>
          </a:p>
        </p:txBody>
      </p:sp>
      <p:sp>
        <p:nvSpPr>
          <p:cNvPr id="5" name="Text 0"/>
          <p:cNvSpPr/>
          <p:nvPr>
            <p:ph idx="103" type="body" hasCustomPrompt="1"/>
          </p:nvPr>
        </p:nvSpPr>
        <p:spPr>
          <a:xfrm>
            <a:off x="548640" y="4206240"/>
            <a:ext cx="5486400" cy="320040"/>
          </a:xfrm>
          <a:prstGeom prst="rect">
            <a:avLst/>
          </a:prstGeom>
          <a:noFill/>
          <a:ln/>
        </p:spPr>
        <p:txBody>
          <a:bodyPr wrap="square" rtlCol="0"/>
          <a:lstStyle>
            <a:lvl1pPr indent="0" marL="0">
              <a:buNone/>
              <a:defRPr lang="en-US" sz="1400" dirty="0">
                <a:solidFill>
                  <a:srgbClr val="C9DCEB"/>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681728"/>
            <a:ext cx="548640" cy="210312"/>
          </a:xfrm>
          <a:prstGeom prst="rect">
            <a:avLst/>
          </a:prstGeom>
        </p:spPr>
      </p:pic>
      <p:sp>
        <p:nvSpPr>
          <p:cNvPr id="3" name="Text 0"/>
          <p:cNvSpPr/>
          <p:nvPr/>
        </p:nvSpPr>
        <p:spPr>
          <a:xfrm>
            <a:off x="3200400" y="4681728"/>
            <a:ext cx="2743200" cy="210312"/>
          </a:xfrm>
          <a:prstGeom prst="rect">
            <a:avLst/>
          </a:prstGeom>
          <a:noFill/>
          <a:ln/>
        </p:spPr>
        <p:txBody>
          <a:bodyPr wrap="square" lIns="0" tIns="0" rIns="0" bIns="0" rtlCol="0" anchor="ctr"/>
          <a:lstStyle/>
          <a:p>
            <a:pPr algn="ctr" indent="0" marL="0">
              <a:buNone/>
            </a:pPr>
            <a:r>
              <a:rPr lang="en-US" sz="900" dirty="0">
                <a:solidFill>
                  <a:srgbClr val="5F5D5E"/>
                </a:solidFill>
              </a:rPr>
              <a:t>Confidential – Internal Use Only</a:t>
            </a:r>
            <a:endParaRPr lang="en-US" sz="900" dirty="0"/>
          </a:p>
        </p:txBody>
      </p:sp>
      <p:sp>
        <p:nvSpPr>
          <p:cNvPr id="4" name="Shape 1"/>
          <p:cNvSpPr/>
          <p:nvPr/>
        </p:nvSpPr>
        <p:spPr>
          <a:xfrm>
            <a:off x="548640" y="4572000"/>
            <a:ext cx="8046720" cy="0"/>
          </a:xfrm>
          <a:prstGeom prst="line">
            <a:avLst/>
          </a:prstGeom>
          <a:noFill/>
          <a:ln w="9525">
            <a:solidFill>
              <a:srgbClr val="BCBEC0"/>
            </a:solidFill>
            <a:prstDash val="solid"/>
          </a:ln>
        </p:spPr>
      </p:sp>
      <p:sp>
        <p:nvSpPr>
          <p:cNvPr id="5" name="Text 2"/>
          <p:cNvSpPr/>
          <p:nvPr>
            <p:ph idx="103" type="title" hasCustomPrompt="1"/>
          </p:nvPr>
        </p:nvSpPr>
        <p:spPr>
          <a:xfrm>
            <a:off x="548640" y="365760"/>
            <a:ext cx="8046720" cy="54864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9600" y="4681728"/>
            <a:ext cx="365760" cy="210312"/>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SSUE">
    <p:bg>
      <p:bgPr>
        <a:solidFill>
          <a:schemeClr val="bg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681728"/>
            <a:ext cx="548640" cy="210312"/>
          </a:xfrm>
          <a:prstGeom prst="rect">
            <a:avLst/>
          </a:prstGeom>
        </p:spPr>
      </p:pic>
      <p:sp>
        <p:nvSpPr>
          <p:cNvPr id="3" name="Text 0"/>
          <p:cNvSpPr/>
          <p:nvPr/>
        </p:nvSpPr>
        <p:spPr>
          <a:xfrm>
            <a:off x="3200400" y="4681728"/>
            <a:ext cx="2743200" cy="210312"/>
          </a:xfrm>
          <a:prstGeom prst="rect">
            <a:avLst/>
          </a:prstGeom>
          <a:noFill/>
          <a:ln/>
        </p:spPr>
        <p:txBody>
          <a:bodyPr wrap="square" lIns="0" tIns="0" rIns="0" bIns="0" rtlCol="0" anchor="ctr"/>
          <a:lstStyle/>
          <a:p>
            <a:pPr algn="ctr" indent="0" marL="0">
              <a:buNone/>
            </a:pPr>
            <a:r>
              <a:rPr lang="en-US" sz="900" dirty="0">
                <a:solidFill>
                  <a:srgbClr val="5F5D5E"/>
                </a:solidFill>
              </a:rPr>
              <a:t>Confidential – Internal Use Only</a:t>
            </a:r>
            <a:endParaRPr lang="en-US" sz="900" dirty="0"/>
          </a:p>
        </p:txBody>
      </p:sp>
      <p:sp>
        <p:nvSpPr>
          <p:cNvPr id="4" name="Shape 1"/>
          <p:cNvSpPr/>
          <p:nvPr/>
        </p:nvSpPr>
        <p:spPr>
          <a:xfrm>
            <a:off x="548640" y="4572000"/>
            <a:ext cx="8046720" cy="0"/>
          </a:xfrm>
          <a:prstGeom prst="line">
            <a:avLst/>
          </a:prstGeom>
          <a:noFill/>
          <a:ln w="9525">
            <a:solidFill>
              <a:srgbClr val="BCBEC0"/>
            </a:solidFill>
            <a:prstDash val="solid"/>
          </a:ln>
        </p:spPr>
      </p:sp>
      <p:sp>
        <p:nvSpPr>
          <p:cNvPr id="5" name="Text 2"/>
          <p:cNvSpPr/>
          <p:nvPr>
            <p:ph idx="103" type="title" hasCustomPrompt="1"/>
          </p:nvPr>
        </p:nvSpPr>
        <p:spPr>
          <a:xfrm>
            <a:off x="548640" y="365760"/>
            <a:ext cx="6309360" cy="54864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9600" y="4681728"/>
            <a:ext cx="365760" cy="210312"/>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81728"/>
            <a:ext cx="365760" cy="210312"/>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548640" y="1737360"/>
            <a:ext cx="8046720" cy="822960"/>
          </a:xfrm>
          <a:prstGeom prst="rect">
            <a:avLst/>
          </a:prstGeom>
          <a:noFill/>
          <a:ln/>
        </p:spPr>
        <p:txBody>
          <a:bodyPr wrap="square" lIns="0" tIns="0" rIns="0" bIns="0" rtlCol="0" anchor="t"/>
          <a:lstStyle/>
          <a:p>
            <a:pPr algn="l" indent="0" marL="0">
              <a:buNone/>
            </a:pPr>
            <a:r>
              <a:rPr lang="en-US" sz="4000" b="1" dirty="0">
                <a:solidFill>
                  <a:schemeClr val="bg1"/>
                </a:solidFill>
              </a:rPr>
              <a:t>Tier 1 Roofer Retention</a:t>
            </a:r>
            <a:endParaRPr lang="en-US" sz="4000" dirty="0"/>
          </a:p>
        </p:txBody>
      </p:sp>
      <p:sp>
        <p:nvSpPr>
          <p:cNvPr id="3" name="Text 0"/>
          <p:cNvSpPr/>
          <p:nvPr>
            <p:ph idx="102" type="body" hasCustomPrompt="1"/>
          </p:nvPr>
        </p:nvSpPr>
        <p:spPr>
          <a:xfrm>
            <a:off x="548640" y="2560320"/>
            <a:ext cx="8046720" cy="457200"/>
          </a:xfrm>
          <a:prstGeom prst="rect">
            <a:avLst/>
          </a:prstGeom>
          <a:noFill/>
          <a:ln/>
        </p:spPr>
        <p:txBody>
          <a:bodyPr wrap="square" lIns="0" tIns="0" rIns="0" bIns="0" rtlCol="0" anchor="t"/>
          <a:lstStyle/>
          <a:p>
            <a:pPr indent="0" marL="0">
              <a:buNone/>
            </a:pPr>
            <a:r>
              <a:rPr lang="en-US" sz="2000" dirty="0">
                <a:solidFill>
                  <a:srgbClr val="C9DCEB"/>
                </a:solidFill>
              </a:rPr>
              <a:t>Closing the service gaps that cost us customers</a:t>
            </a:r>
            <a:endParaRPr lang="en-US" sz="2000" dirty="0"/>
          </a:p>
        </p:txBody>
      </p:sp>
      <p:sp>
        <p:nvSpPr>
          <p:cNvPr id="4" name="Text 0"/>
          <p:cNvSpPr/>
          <p:nvPr>
            <p:ph idx="103" type="body" hasCustomPrompt="1"/>
          </p:nvPr>
        </p:nvSpPr>
        <p:spPr>
          <a:xfrm>
            <a:off x="548640" y="4206240"/>
            <a:ext cx="5486400" cy="320040"/>
          </a:xfrm>
          <a:prstGeom prst="rect">
            <a:avLst/>
          </a:prstGeom>
          <a:noFill/>
          <a:ln/>
        </p:spPr>
        <p:txBody>
          <a:bodyPr wrap="square" lIns="0" tIns="0" rIns="0" bIns="0" rtlCol="0" anchor="t"/>
          <a:lstStyle/>
          <a:p>
            <a:pPr indent="0" marL="0">
              <a:buNone/>
            </a:pPr>
            <a:r>
              <a:rPr lang="en-US" sz="1400" dirty="0">
                <a:solidFill>
                  <a:srgbClr val="C9DCEB"/>
                </a:solidFill>
              </a:rPr>
              <a:t>Leadership Review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548640" y="365760"/>
            <a:ext cx="8046720" cy="548640"/>
          </a:xfrm>
          <a:prstGeom prst="rect">
            <a:avLst/>
          </a:prstGeom>
          <a:noFill/>
          <a:ln/>
        </p:spPr>
        <p:txBody>
          <a:bodyPr wrap="square" lIns="0" tIns="0" rIns="0" bIns="0" rtlCol="0" anchor="t"/>
          <a:lstStyle/>
          <a:p>
            <a:pPr algn="l" indent="0" marL="0">
              <a:buNone/>
            </a:pPr>
            <a:r>
              <a:rPr lang="en-US" sz="2600" b="1" dirty="0">
                <a:solidFill>
                  <a:schemeClr val="tx2"/>
                </a:solidFill>
              </a:rPr>
              <a:t>Executive Summary</a:t>
            </a:r>
            <a:endParaRPr lang="en-US" sz="2600" dirty="0"/>
          </a:p>
        </p:txBody>
      </p:sp>
      <p:sp>
        <p:nvSpPr>
          <p:cNvPr id="3" name="Shape 1"/>
          <p:cNvSpPr/>
          <p:nvPr/>
        </p:nvSpPr>
        <p:spPr>
          <a:xfrm>
            <a:off x="548640" y="1188720"/>
            <a:ext cx="2011680" cy="896112"/>
          </a:xfrm>
          <a:prstGeom prst="rect">
            <a:avLst/>
          </a:prstGeom>
          <a:solidFill>
            <a:schemeClr val="tx2"/>
          </a:solidFill>
          <a:ln w="12700">
            <a:solidFill>
              <a:schemeClr val="tx2"/>
            </a:solidFill>
            <a:prstDash val="solid"/>
          </a:ln>
        </p:spPr>
      </p:sp>
      <p:sp>
        <p:nvSpPr>
          <p:cNvPr id="4" name="Text 2"/>
          <p:cNvSpPr txBox="1"/>
          <p:nvPr/>
        </p:nvSpPr>
        <p:spPr>
          <a:xfrm>
            <a:off x="731520" y="1188720"/>
            <a:ext cx="1737360" cy="896112"/>
          </a:xfrm>
          <a:prstGeom prst="rect">
            <a:avLst/>
          </a:prstGeom>
          <a:noFill/>
          <a:ln/>
        </p:spPr>
        <p:txBody>
          <a:bodyPr wrap="square" lIns="0" tIns="0" rIns="0" bIns="0" rtlCol="0" anchor="ctr"/>
          <a:lstStyle/>
          <a:p>
            <a:pPr indent="0" marL="0">
              <a:buNone/>
            </a:pPr>
            <a:r>
              <a:rPr lang="en-US" sz="1600" b="1" dirty="0">
                <a:solidFill>
                  <a:schemeClr val="bg1"/>
                </a:solidFill>
              </a:rPr>
              <a:t>Situation</a:t>
            </a:r>
            <a:endParaRPr lang="en-US" sz="1600" dirty="0"/>
          </a:p>
        </p:txBody>
      </p:sp>
      <p:sp>
        <p:nvSpPr>
          <p:cNvPr id="5" name="Shape 3"/>
          <p:cNvSpPr/>
          <p:nvPr/>
        </p:nvSpPr>
        <p:spPr>
          <a:xfrm>
            <a:off x="2560320" y="1188720"/>
            <a:ext cx="6035040" cy="896112"/>
          </a:xfrm>
          <a:prstGeom prst="rect">
            <a:avLst/>
          </a:prstGeom>
          <a:solidFill>
            <a:schemeClr val="bg2"/>
          </a:solidFill>
          <a:ln w="12700">
            <a:solidFill>
              <a:schemeClr val="bg2"/>
            </a:solidFill>
            <a:prstDash val="solid"/>
          </a:ln>
        </p:spPr>
      </p:sp>
      <p:sp>
        <p:nvSpPr>
          <p:cNvPr id="6" name="Text 4"/>
          <p:cNvSpPr txBox="1"/>
          <p:nvPr/>
        </p:nvSpPr>
        <p:spPr>
          <a:xfrm>
            <a:off x="2788920" y="1188720"/>
            <a:ext cx="5623560" cy="896112"/>
          </a:xfrm>
          <a:prstGeom prst="rect">
            <a:avLst/>
          </a:prstGeom>
          <a:noFill/>
          <a:ln/>
        </p:spPr>
        <p:txBody>
          <a:bodyPr wrap="square" lIns="0" tIns="0" rIns="0" bIns="0" rtlCol="0" anchor="ctr"/>
          <a:lstStyle/>
          <a:p>
            <a:pPr indent="0" marL="0">
              <a:buNone/>
            </a:pPr>
            <a:r>
              <a:rPr lang="en-US" sz="1600" dirty="0">
                <a:solidFill>
                  <a:schemeClr val="tx1"/>
                </a:solidFill>
              </a:rPr>
              <a:t>Henry wins Tier 1 roofers on product quality, Henry-provided leads and competitive pricing.</a:t>
            </a:r>
            <a:endParaRPr lang="en-US" sz="1600" dirty="0"/>
          </a:p>
        </p:txBody>
      </p:sp>
      <p:sp>
        <p:nvSpPr>
          <p:cNvPr id="7" name="Shape 5"/>
          <p:cNvSpPr/>
          <p:nvPr/>
        </p:nvSpPr>
        <p:spPr>
          <a:xfrm>
            <a:off x="548640" y="2267712"/>
            <a:ext cx="2011680" cy="896112"/>
          </a:xfrm>
          <a:prstGeom prst="rect">
            <a:avLst/>
          </a:prstGeom>
          <a:solidFill>
            <a:schemeClr val="tx2"/>
          </a:solidFill>
          <a:ln w="12700">
            <a:solidFill>
              <a:schemeClr val="tx2"/>
            </a:solidFill>
            <a:prstDash val="solid"/>
          </a:ln>
        </p:spPr>
      </p:sp>
      <p:sp>
        <p:nvSpPr>
          <p:cNvPr id="8" name="Text 6"/>
          <p:cNvSpPr txBox="1"/>
          <p:nvPr/>
        </p:nvSpPr>
        <p:spPr>
          <a:xfrm>
            <a:off x="731520" y="2267712"/>
            <a:ext cx="1737360" cy="896112"/>
          </a:xfrm>
          <a:prstGeom prst="rect">
            <a:avLst/>
          </a:prstGeom>
          <a:noFill/>
          <a:ln/>
        </p:spPr>
        <p:txBody>
          <a:bodyPr wrap="square" lIns="0" tIns="0" rIns="0" bIns="0" rtlCol="0" anchor="ctr"/>
          <a:lstStyle/>
          <a:p>
            <a:pPr indent="0" marL="0">
              <a:buNone/>
            </a:pPr>
            <a:r>
              <a:rPr lang="en-US" sz="1600" b="1" dirty="0">
                <a:solidFill>
                  <a:schemeClr val="bg1"/>
                </a:solidFill>
              </a:rPr>
              <a:t>Problem</a:t>
            </a:r>
            <a:endParaRPr lang="en-US" sz="1600" dirty="0"/>
          </a:p>
        </p:txBody>
      </p:sp>
      <p:sp>
        <p:nvSpPr>
          <p:cNvPr id="9" name="Shape 7"/>
          <p:cNvSpPr/>
          <p:nvPr/>
        </p:nvSpPr>
        <p:spPr>
          <a:xfrm>
            <a:off x="2560320" y="2267712"/>
            <a:ext cx="6035040" cy="896112"/>
          </a:xfrm>
          <a:prstGeom prst="rect">
            <a:avLst/>
          </a:prstGeom>
          <a:solidFill>
            <a:schemeClr val="bg2"/>
          </a:solidFill>
          <a:ln w="12700">
            <a:solidFill>
              <a:schemeClr val="bg2"/>
            </a:solidFill>
            <a:prstDash val="solid"/>
          </a:ln>
        </p:spPr>
      </p:sp>
      <p:sp>
        <p:nvSpPr>
          <p:cNvPr id="10" name="Text 8"/>
          <p:cNvSpPr txBox="1"/>
          <p:nvPr/>
        </p:nvSpPr>
        <p:spPr>
          <a:xfrm>
            <a:off x="2788920" y="2267712"/>
            <a:ext cx="5623560" cy="896112"/>
          </a:xfrm>
          <a:prstGeom prst="rect">
            <a:avLst/>
          </a:prstGeom>
          <a:noFill/>
          <a:ln/>
        </p:spPr>
        <p:txBody>
          <a:bodyPr wrap="square" lIns="0" tIns="0" rIns="0" bIns="0" rtlCol="0" anchor="ctr"/>
          <a:lstStyle/>
          <a:p>
            <a:pPr indent="0" marL="0">
              <a:buNone/>
            </a:pPr>
            <a:r>
              <a:rPr lang="en-US" sz="1600" dirty="0">
                <a:solidFill>
                  <a:schemeClr val="tx1"/>
                </a:solidFill>
              </a:rPr>
              <a:t>We lose their business through five recurring service issues. Every one of them is within our control.</a:t>
            </a:r>
            <a:endParaRPr lang="en-US" sz="1600" dirty="0"/>
          </a:p>
        </p:txBody>
      </p:sp>
      <p:sp>
        <p:nvSpPr>
          <p:cNvPr id="11" name="Shape 9"/>
          <p:cNvSpPr/>
          <p:nvPr/>
        </p:nvSpPr>
        <p:spPr>
          <a:xfrm>
            <a:off x="548640" y="3346704"/>
            <a:ext cx="2011680" cy="896112"/>
          </a:xfrm>
          <a:prstGeom prst="rect">
            <a:avLst/>
          </a:prstGeom>
          <a:solidFill>
            <a:schemeClr val="accent1"/>
          </a:solidFill>
          <a:ln w="12700">
            <a:solidFill>
              <a:schemeClr val="accent1"/>
            </a:solidFill>
            <a:prstDash val="solid"/>
          </a:ln>
        </p:spPr>
      </p:sp>
      <p:sp>
        <p:nvSpPr>
          <p:cNvPr id="12" name="Text 10"/>
          <p:cNvSpPr txBox="1"/>
          <p:nvPr/>
        </p:nvSpPr>
        <p:spPr>
          <a:xfrm>
            <a:off x="731520" y="3346704"/>
            <a:ext cx="1737360" cy="896112"/>
          </a:xfrm>
          <a:prstGeom prst="rect">
            <a:avLst/>
          </a:prstGeom>
          <a:noFill/>
          <a:ln/>
        </p:spPr>
        <p:txBody>
          <a:bodyPr wrap="square" lIns="0" tIns="0" rIns="0" bIns="0" rtlCol="0" anchor="ctr"/>
          <a:lstStyle/>
          <a:p>
            <a:pPr indent="0" marL="0">
              <a:buNone/>
            </a:pPr>
            <a:r>
              <a:rPr lang="en-US" sz="1600" b="1" dirty="0">
                <a:solidFill>
                  <a:schemeClr val="bg1"/>
                </a:solidFill>
              </a:rPr>
              <a:t>Recommendation</a:t>
            </a:r>
            <a:endParaRPr lang="en-US" sz="1600" dirty="0"/>
          </a:p>
        </p:txBody>
      </p:sp>
      <p:sp>
        <p:nvSpPr>
          <p:cNvPr id="13" name="Shape 11"/>
          <p:cNvSpPr/>
          <p:nvPr/>
        </p:nvSpPr>
        <p:spPr>
          <a:xfrm>
            <a:off x="2560320" y="3346704"/>
            <a:ext cx="6035040" cy="896112"/>
          </a:xfrm>
          <a:prstGeom prst="rect">
            <a:avLst/>
          </a:prstGeom>
          <a:solidFill>
            <a:schemeClr val="bg2"/>
          </a:solidFill>
          <a:ln w="12700">
            <a:solidFill>
              <a:schemeClr val="bg2"/>
            </a:solidFill>
            <a:prstDash val="solid"/>
          </a:ln>
        </p:spPr>
      </p:sp>
      <p:sp>
        <p:nvSpPr>
          <p:cNvPr id="14" name="Text 12"/>
          <p:cNvSpPr txBox="1"/>
          <p:nvPr/>
        </p:nvSpPr>
        <p:spPr>
          <a:xfrm>
            <a:off x="2788920" y="3346704"/>
            <a:ext cx="5623560" cy="896112"/>
          </a:xfrm>
          <a:prstGeom prst="rect">
            <a:avLst/>
          </a:prstGeom>
          <a:noFill/>
          <a:ln/>
        </p:spPr>
        <p:txBody>
          <a:bodyPr wrap="square" lIns="0" tIns="0" rIns="0" bIns="0" rtlCol="0" anchor="ctr"/>
          <a:lstStyle/>
          <a:p>
            <a:pPr indent="0" marL="0">
              <a:buNone/>
            </a:pPr>
            <a:r>
              <a:rPr lang="en-US" sz="1600" dirty="0">
                <a:solidFill>
                  <a:schemeClr val="tx1"/>
                </a:solidFill>
              </a:rPr>
              <a:t>Adopt four service standards, approve the corrective actions in this deck, and assign an owner to each issue.</a:t>
            </a:r>
            <a:endParaRPr lang="en-US" sz="1600" dirty="0"/>
          </a:p>
        </p:txBody>
      </p:sp>
      <p:sp>
        <p:nvSpPr>
          <p:cNvPr id="25" name="Slide Number Placeholder 0"/>
          <p:cNvSpPr>
            <a:spLocks noGrp="1"/>
          </p:cNvSpPr>
          <p:nvPr>
            <p:ph type="sldNum" sz="quarter" idx="4294967295"/>
          </p:nvPr>
        </p:nvSpPr>
        <p:spPr>
          <a:xfrm>
            <a:off x="8229600" y="4681728"/>
            <a:ext cx="365760" cy="210312"/>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48640" y="365760"/>
            <a:ext cx="8046720" cy="548640"/>
          </a:xfrm>
          <a:prstGeom prst="rect">
            <a:avLst/>
          </a:prstGeom>
          <a:noFill/>
          <a:ln/>
        </p:spPr>
        <p:txBody>
          <a:bodyPr wrap="square" lIns="0" tIns="0" rIns="0" bIns="0" rtlCol="0" anchor="t"/>
          <a:lstStyle/>
          <a:p>
            <a:pPr algn="l" indent="0" marL="0">
              <a:buNone/>
            </a:pPr>
            <a:r>
              <a:rPr lang="en-US" sz="2600" b="1" dirty="0">
                <a:solidFill>
                  <a:schemeClr val="tx2"/>
                </a:solidFill>
              </a:rPr>
              <a:t>Five Issues at a Glance</a:t>
            </a:r>
            <a:endParaRPr lang="en-US" sz="2600" dirty="0"/>
          </a:p>
        </p:txBody>
      </p:sp>
      <p:sp>
        <p:nvSpPr>
          <p:cNvPr id="3" name="Shape 1"/>
          <p:cNvSpPr/>
          <p:nvPr/>
        </p:nvSpPr>
        <p:spPr>
          <a:xfrm>
            <a:off x="548640" y="1097280"/>
            <a:ext cx="8046720" cy="310896"/>
          </a:xfrm>
          <a:prstGeom prst="rect">
            <a:avLst/>
          </a:prstGeom>
          <a:solidFill>
            <a:schemeClr val="tx2"/>
          </a:solidFill>
          <a:ln w="12700">
            <a:solidFill>
              <a:schemeClr val="tx2"/>
            </a:solidFill>
            <a:prstDash val="solid"/>
          </a:ln>
        </p:spPr>
      </p:sp>
      <p:sp>
        <p:nvSpPr>
          <p:cNvPr id="4" name="Text 2"/>
          <p:cNvSpPr txBox="1"/>
          <p:nvPr/>
        </p:nvSpPr>
        <p:spPr>
          <a:xfrm>
            <a:off x="640080" y="1097280"/>
            <a:ext cx="228600" cy="310896"/>
          </a:xfrm>
          <a:prstGeom prst="rect">
            <a:avLst/>
          </a:prstGeom>
          <a:noFill/>
          <a:ln/>
        </p:spPr>
        <p:txBody>
          <a:bodyPr wrap="square" lIns="0" tIns="0" rIns="0" bIns="0" rtlCol="0" anchor="ctr"/>
          <a:lstStyle/>
          <a:p>
            <a:pPr indent="0" marL="0">
              <a:buNone/>
            </a:pPr>
            <a:r>
              <a:rPr lang="en-US" sz="1100" b="1" dirty="0">
                <a:solidFill>
                  <a:schemeClr val="bg1"/>
                </a:solidFill>
              </a:rPr>
              <a:t>#</a:t>
            </a:r>
            <a:endParaRPr lang="en-US" sz="1100" dirty="0"/>
          </a:p>
        </p:txBody>
      </p:sp>
      <p:sp>
        <p:nvSpPr>
          <p:cNvPr id="5" name="Text 3"/>
          <p:cNvSpPr txBox="1"/>
          <p:nvPr/>
        </p:nvSpPr>
        <p:spPr>
          <a:xfrm>
            <a:off x="1051560" y="1097280"/>
            <a:ext cx="2148840" cy="310896"/>
          </a:xfrm>
          <a:prstGeom prst="rect">
            <a:avLst/>
          </a:prstGeom>
          <a:noFill/>
          <a:ln/>
        </p:spPr>
        <p:txBody>
          <a:bodyPr wrap="square" lIns="0" tIns="0" rIns="0" bIns="0" rtlCol="0" anchor="ctr"/>
          <a:lstStyle/>
          <a:p>
            <a:pPr indent="0" marL="0">
              <a:buNone/>
            </a:pPr>
            <a:r>
              <a:rPr lang="en-US" sz="1100" b="1" dirty="0">
                <a:solidFill>
                  <a:schemeClr val="bg1"/>
                </a:solidFill>
              </a:rPr>
              <a:t>Issue</a:t>
            </a:r>
            <a:endParaRPr lang="en-US" sz="1100" dirty="0"/>
          </a:p>
        </p:txBody>
      </p:sp>
      <p:sp>
        <p:nvSpPr>
          <p:cNvPr id="6" name="Text 4"/>
          <p:cNvSpPr txBox="1"/>
          <p:nvPr/>
        </p:nvSpPr>
        <p:spPr>
          <a:xfrm>
            <a:off x="3383280" y="1097280"/>
            <a:ext cx="4023360" cy="310896"/>
          </a:xfrm>
          <a:prstGeom prst="rect">
            <a:avLst/>
          </a:prstGeom>
          <a:noFill/>
          <a:ln/>
        </p:spPr>
        <p:txBody>
          <a:bodyPr wrap="square" lIns="0" tIns="0" rIns="0" bIns="0" rtlCol="0" anchor="ctr"/>
          <a:lstStyle/>
          <a:p>
            <a:pPr indent="0" marL="0">
              <a:buNone/>
            </a:pPr>
            <a:r>
              <a:rPr lang="en-US" sz="1100" b="1" dirty="0">
                <a:solidFill>
                  <a:schemeClr val="bg1"/>
                </a:solidFill>
              </a:rPr>
              <a:t>What customers report</a:t>
            </a:r>
            <a:endParaRPr lang="en-US" sz="1100" dirty="0"/>
          </a:p>
        </p:txBody>
      </p:sp>
      <p:sp>
        <p:nvSpPr>
          <p:cNvPr id="7" name="Text 5"/>
          <p:cNvSpPr txBox="1"/>
          <p:nvPr/>
        </p:nvSpPr>
        <p:spPr>
          <a:xfrm>
            <a:off x="7589520" y="1097280"/>
            <a:ext cx="914400" cy="310896"/>
          </a:xfrm>
          <a:prstGeom prst="rect">
            <a:avLst/>
          </a:prstGeom>
          <a:noFill/>
          <a:ln/>
        </p:spPr>
        <p:txBody>
          <a:bodyPr wrap="square" lIns="0" tIns="0" rIns="0" bIns="0" rtlCol="0" anchor="ctr"/>
          <a:lstStyle/>
          <a:p>
            <a:pPr indent="0" marL="0">
              <a:buNone/>
            </a:pPr>
            <a:r>
              <a:rPr lang="en-US" sz="1100" b="1" dirty="0">
                <a:solidFill>
                  <a:schemeClr val="bg1"/>
                </a:solidFill>
              </a:rPr>
              <a:t>Status</a:t>
            </a:r>
            <a:endParaRPr lang="en-US" sz="1100" dirty="0"/>
          </a:p>
        </p:txBody>
      </p:sp>
      <p:sp>
        <p:nvSpPr>
          <p:cNvPr id="8" name="Shape 6"/>
          <p:cNvSpPr/>
          <p:nvPr/>
        </p:nvSpPr>
        <p:spPr>
          <a:xfrm>
            <a:off x="548640" y="1938528"/>
            <a:ext cx="8046720" cy="0"/>
          </a:xfrm>
          <a:prstGeom prst="line">
            <a:avLst/>
          </a:prstGeom>
          <a:noFill/>
          <a:ln w="6350">
            <a:solidFill>
              <a:srgbClr val="BCBEC0"/>
            </a:solidFill>
            <a:prstDash val="solid"/>
          </a:ln>
        </p:spPr>
      </p:sp>
      <p:sp>
        <p:nvSpPr>
          <p:cNvPr id="9" name="Text 7"/>
          <p:cNvSpPr txBox="1"/>
          <p:nvPr/>
        </p:nvSpPr>
        <p:spPr>
          <a:xfrm>
            <a:off x="640080" y="1408176"/>
            <a:ext cx="228600" cy="530352"/>
          </a:xfrm>
          <a:prstGeom prst="rect">
            <a:avLst/>
          </a:prstGeom>
          <a:noFill/>
          <a:ln/>
        </p:spPr>
        <p:txBody>
          <a:bodyPr wrap="square" lIns="0" tIns="0" rIns="0" bIns="0" rtlCol="0" anchor="ctr"/>
          <a:lstStyle/>
          <a:p>
            <a:pPr indent="0" marL="0">
              <a:buNone/>
            </a:pPr>
            <a:r>
              <a:rPr lang="en-US" sz="1400" b="1" dirty="0">
                <a:solidFill>
                  <a:schemeClr val="tx1"/>
                </a:solidFill>
              </a:rPr>
              <a:t>1</a:t>
            </a:r>
            <a:endParaRPr lang="en-US" sz="1400" dirty="0"/>
          </a:p>
        </p:txBody>
      </p:sp>
      <p:sp>
        <p:nvSpPr>
          <p:cNvPr id="10" name="Text 8"/>
          <p:cNvSpPr txBox="1"/>
          <p:nvPr/>
        </p:nvSpPr>
        <p:spPr>
          <a:xfrm>
            <a:off x="1051560" y="1408176"/>
            <a:ext cx="2148840" cy="530352"/>
          </a:xfrm>
          <a:prstGeom prst="rect">
            <a:avLst/>
          </a:prstGeom>
          <a:noFill/>
          <a:ln/>
        </p:spPr>
        <p:txBody>
          <a:bodyPr wrap="square" lIns="0" tIns="0" rIns="0" bIns="0" rtlCol="0" anchor="ctr"/>
          <a:lstStyle/>
          <a:p>
            <a:pPr indent="0" marL="0">
              <a:buNone/>
            </a:pPr>
            <a:r>
              <a:rPr lang="en-US" sz="1400" b="1" dirty="0">
                <a:solidFill>
                  <a:schemeClr val="tx2"/>
                </a:solidFill>
              </a:rPr>
              <a:t>Customer Service</a:t>
            </a:r>
            <a:endParaRPr lang="en-US" sz="1400" dirty="0"/>
          </a:p>
        </p:txBody>
      </p:sp>
      <p:sp>
        <p:nvSpPr>
          <p:cNvPr id="11" name="Text 9"/>
          <p:cNvSpPr txBox="1"/>
          <p:nvPr/>
        </p:nvSpPr>
        <p:spPr>
          <a:xfrm>
            <a:off x="3383280" y="1408176"/>
            <a:ext cx="4023360" cy="530352"/>
          </a:xfrm>
          <a:prstGeom prst="rect">
            <a:avLst/>
          </a:prstGeom>
          <a:noFill/>
          <a:ln/>
        </p:spPr>
        <p:txBody>
          <a:bodyPr wrap="square" lIns="0" tIns="0" rIns="0" bIns="0" rtlCol="0" anchor="ctr"/>
          <a:lstStyle/>
          <a:p>
            <a:pPr indent="0" marL="0">
              <a:buNone/>
            </a:pPr>
            <a:r>
              <a:rPr lang="en-US" sz="1400" dirty="0">
                <a:solidFill>
                  <a:schemeClr val="tx1"/>
                </a:solidFill>
              </a:rPr>
              <a:t>Difficult to deal with: cumbersome ordering, slow answers</a:t>
            </a:r>
            <a:endParaRPr lang="en-US" sz="1400" dirty="0"/>
          </a:p>
        </p:txBody>
      </p:sp>
      <p:sp>
        <p:nvSpPr>
          <p:cNvPr id="12" name="Status At Risk"/>
          <p:cNvSpPr/>
          <p:nvPr/>
        </p:nvSpPr>
        <p:spPr>
          <a:xfrm>
            <a:off x="7589520" y="1554480"/>
            <a:ext cx="777240" cy="237744"/>
          </a:xfrm>
          <a:prstGeom prst="rect">
            <a:avLst/>
          </a:prstGeom>
          <a:solidFill>
            <a:schemeClr val="accent6"/>
          </a:solidFill>
          <a:ln>
            <a:solidFill>
              <a:schemeClr val="accent6"/>
            </a:solidFill>
          </a:ln>
        </p:spPr>
        <p:txBody>
          <a:bodyPr wrap="square" lIns="0" tIns="0" rIns="0" bIns="0" rtlCol="0" anchor="ctr"/>
          <a:lstStyle/>
          <a:p>
            <a:pPr algn="ctr" indent="0" marL="0">
              <a:buNone/>
            </a:pPr>
            <a:r>
              <a:rPr lang="en-US" sz="1000" b="1" dirty="0">
                <a:solidFill>
                  <a:schemeClr val="bg1"/>
                </a:solidFill>
              </a:rPr>
              <a:t>At Risk</a:t>
            </a:r>
            <a:endParaRPr lang="en-US" sz="1000" dirty="0"/>
          </a:p>
        </p:txBody>
      </p:sp>
      <p:sp>
        <p:nvSpPr>
          <p:cNvPr id="13" name="Shape 11"/>
          <p:cNvSpPr/>
          <p:nvPr/>
        </p:nvSpPr>
        <p:spPr>
          <a:xfrm>
            <a:off x="548640" y="1938528"/>
            <a:ext cx="8046720" cy="530352"/>
          </a:xfrm>
          <a:prstGeom prst="rect">
            <a:avLst/>
          </a:prstGeom>
          <a:solidFill>
            <a:schemeClr val="bg2"/>
          </a:solidFill>
          <a:ln w="12700">
            <a:solidFill>
              <a:schemeClr val="bg2"/>
            </a:solidFill>
            <a:prstDash val="solid"/>
          </a:ln>
        </p:spPr>
      </p:sp>
      <p:sp>
        <p:nvSpPr>
          <p:cNvPr id="14" name="Shape 12"/>
          <p:cNvSpPr/>
          <p:nvPr/>
        </p:nvSpPr>
        <p:spPr>
          <a:xfrm>
            <a:off x="548640" y="2468880"/>
            <a:ext cx="8046720" cy="0"/>
          </a:xfrm>
          <a:prstGeom prst="line">
            <a:avLst/>
          </a:prstGeom>
          <a:noFill/>
          <a:ln w="6350">
            <a:solidFill>
              <a:srgbClr val="BCBEC0"/>
            </a:solidFill>
            <a:prstDash val="solid"/>
          </a:ln>
        </p:spPr>
      </p:sp>
      <p:sp>
        <p:nvSpPr>
          <p:cNvPr id="15" name="Text 13"/>
          <p:cNvSpPr txBox="1"/>
          <p:nvPr/>
        </p:nvSpPr>
        <p:spPr>
          <a:xfrm>
            <a:off x="640080" y="1938528"/>
            <a:ext cx="228600" cy="530352"/>
          </a:xfrm>
          <a:prstGeom prst="rect">
            <a:avLst/>
          </a:prstGeom>
          <a:noFill/>
          <a:ln/>
        </p:spPr>
        <p:txBody>
          <a:bodyPr wrap="square" lIns="0" tIns="0" rIns="0" bIns="0" rtlCol="0" anchor="ctr"/>
          <a:lstStyle/>
          <a:p>
            <a:pPr indent="0" marL="0">
              <a:buNone/>
            </a:pPr>
            <a:r>
              <a:rPr lang="en-US" sz="1400" b="1" dirty="0">
                <a:solidFill>
                  <a:schemeClr val="tx1"/>
                </a:solidFill>
              </a:rPr>
              <a:t>2</a:t>
            </a:r>
            <a:endParaRPr lang="en-US" sz="1400" dirty="0"/>
          </a:p>
        </p:txBody>
      </p:sp>
      <p:sp>
        <p:nvSpPr>
          <p:cNvPr id="16" name="Text 14"/>
          <p:cNvSpPr txBox="1"/>
          <p:nvPr/>
        </p:nvSpPr>
        <p:spPr>
          <a:xfrm>
            <a:off x="1051560" y="1938528"/>
            <a:ext cx="2148840" cy="530352"/>
          </a:xfrm>
          <a:prstGeom prst="rect">
            <a:avLst/>
          </a:prstGeom>
          <a:noFill/>
          <a:ln/>
        </p:spPr>
        <p:txBody>
          <a:bodyPr wrap="square" lIns="0" tIns="0" rIns="0" bIns="0" rtlCol="0" anchor="ctr"/>
          <a:lstStyle/>
          <a:p>
            <a:pPr indent="0" marL="0">
              <a:buNone/>
            </a:pPr>
            <a:r>
              <a:rPr lang="en-US" sz="1400" b="1" dirty="0">
                <a:solidFill>
                  <a:schemeClr val="tx2"/>
                </a:solidFill>
              </a:rPr>
              <a:t>Warranty</a:t>
            </a:r>
            <a:endParaRPr lang="en-US" sz="1400" dirty="0"/>
          </a:p>
        </p:txBody>
      </p:sp>
      <p:sp>
        <p:nvSpPr>
          <p:cNvPr id="17" name="Text 15"/>
          <p:cNvSpPr txBox="1"/>
          <p:nvPr/>
        </p:nvSpPr>
        <p:spPr>
          <a:xfrm>
            <a:off x="3383280" y="1938528"/>
            <a:ext cx="4023360" cy="530352"/>
          </a:xfrm>
          <a:prstGeom prst="rect">
            <a:avLst/>
          </a:prstGeom>
          <a:noFill/>
          <a:ln/>
        </p:spPr>
        <p:txBody>
          <a:bodyPr wrap="square" lIns="0" tIns="0" rIns="0" bIns="0" rtlCol="0" anchor="ctr"/>
          <a:lstStyle/>
          <a:p>
            <a:pPr indent="0" marL="0">
              <a:buNone/>
            </a:pPr>
            <a:r>
              <a:rPr lang="en-US" sz="1400" dirty="0">
                <a:solidFill>
                  <a:schemeClr val="tx1"/>
                </a:solidFill>
              </a:rPr>
              <a:t>Sign-offs and claim responses take too long</a:t>
            </a:r>
            <a:endParaRPr lang="en-US" sz="1400" dirty="0"/>
          </a:p>
        </p:txBody>
      </p:sp>
      <p:sp>
        <p:nvSpPr>
          <p:cNvPr id="18" name="Status At Risk"/>
          <p:cNvSpPr/>
          <p:nvPr/>
        </p:nvSpPr>
        <p:spPr>
          <a:xfrm>
            <a:off x="7589520" y="2084832"/>
            <a:ext cx="777240" cy="237744"/>
          </a:xfrm>
          <a:prstGeom prst="rect">
            <a:avLst/>
          </a:prstGeom>
          <a:solidFill>
            <a:schemeClr val="accent6"/>
          </a:solidFill>
          <a:ln>
            <a:solidFill>
              <a:schemeClr val="accent6"/>
            </a:solidFill>
          </a:ln>
        </p:spPr>
        <p:txBody>
          <a:bodyPr wrap="square" lIns="0" tIns="0" rIns="0" bIns="0" rtlCol="0" anchor="ctr"/>
          <a:lstStyle/>
          <a:p>
            <a:pPr algn="ctr" indent="0" marL="0">
              <a:buNone/>
            </a:pPr>
            <a:r>
              <a:rPr lang="en-US" sz="1000" b="1" dirty="0">
                <a:solidFill>
                  <a:schemeClr val="bg1"/>
                </a:solidFill>
              </a:rPr>
              <a:t>At Risk</a:t>
            </a:r>
            <a:endParaRPr lang="en-US" sz="1000" dirty="0"/>
          </a:p>
        </p:txBody>
      </p:sp>
      <p:sp>
        <p:nvSpPr>
          <p:cNvPr id="19" name="Shape 17"/>
          <p:cNvSpPr/>
          <p:nvPr/>
        </p:nvSpPr>
        <p:spPr>
          <a:xfrm>
            <a:off x="548640" y="2999232"/>
            <a:ext cx="8046720" cy="0"/>
          </a:xfrm>
          <a:prstGeom prst="line">
            <a:avLst/>
          </a:prstGeom>
          <a:noFill/>
          <a:ln w="6350">
            <a:solidFill>
              <a:srgbClr val="BCBEC0"/>
            </a:solidFill>
            <a:prstDash val="solid"/>
          </a:ln>
        </p:spPr>
      </p:sp>
      <p:sp>
        <p:nvSpPr>
          <p:cNvPr id="20" name="Text 18"/>
          <p:cNvSpPr txBox="1"/>
          <p:nvPr/>
        </p:nvSpPr>
        <p:spPr>
          <a:xfrm>
            <a:off x="640080" y="2468880"/>
            <a:ext cx="228600" cy="530352"/>
          </a:xfrm>
          <a:prstGeom prst="rect">
            <a:avLst/>
          </a:prstGeom>
          <a:noFill/>
          <a:ln/>
        </p:spPr>
        <p:txBody>
          <a:bodyPr wrap="square" lIns="0" tIns="0" rIns="0" bIns="0" rtlCol="0" anchor="ctr"/>
          <a:lstStyle/>
          <a:p>
            <a:pPr indent="0" marL="0">
              <a:buNone/>
            </a:pPr>
            <a:r>
              <a:rPr lang="en-US" sz="1400" b="1" dirty="0">
                <a:solidFill>
                  <a:schemeClr val="tx1"/>
                </a:solidFill>
              </a:rPr>
              <a:t>3</a:t>
            </a:r>
            <a:endParaRPr lang="en-US" sz="1400" dirty="0"/>
          </a:p>
        </p:txBody>
      </p:sp>
      <p:sp>
        <p:nvSpPr>
          <p:cNvPr id="21" name="Text 19"/>
          <p:cNvSpPr txBox="1"/>
          <p:nvPr/>
        </p:nvSpPr>
        <p:spPr>
          <a:xfrm>
            <a:off x="1051560" y="2468880"/>
            <a:ext cx="2148840" cy="530352"/>
          </a:xfrm>
          <a:prstGeom prst="rect">
            <a:avLst/>
          </a:prstGeom>
          <a:noFill/>
          <a:ln/>
        </p:spPr>
        <p:txBody>
          <a:bodyPr wrap="square" lIns="0" tIns="0" rIns="0" bIns="0" rtlCol="0" anchor="ctr"/>
          <a:lstStyle/>
          <a:p>
            <a:pPr indent="0" marL="0">
              <a:buNone/>
            </a:pPr>
            <a:r>
              <a:rPr lang="en-US" sz="1400" b="1" dirty="0">
                <a:solidFill>
                  <a:schemeClr val="tx2"/>
                </a:solidFill>
              </a:rPr>
              <a:t>Logistics</a:t>
            </a:r>
            <a:endParaRPr lang="en-US" sz="1400" dirty="0"/>
          </a:p>
        </p:txBody>
      </p:sp>
      <p:sp>
        <p:nvSpPr>
          <p:cNvPr id="22" name="Text 20"/>
          <p:cNvSpPr txBox="1"/>
          <p:nvPr/>
        </p:nvSpPr>
        <p:spPr>
          <a:xfrm>
            <a:off x="3383280" y="2468880"/>
            <a:ext cx="4023360" cy="530352"/>
          </a:xfrm>
          <a:prstGeom prst="rect">
            <a:avLst/>
          </a:prstGeom>
          <a:noFill/>
          <a:ln/>
        </p:spPr>
        <p:txBody>
          <a:bodyPr wrap="square" lIns="0" tIns="0" rIns="0" bIns="0" rtlCol="0" anchor="ctr"/>
          <a:lstStyle/>
          <a:p>
            <a:pPr indent="0" marL="0">
              <a:buNone/>
            </a:pPr>
            <a:r>
              <a:rPr lang="en-US" sz="1400" dirty="0">
                <a:solidFill>
                  <a:schemeClr val="tx1"/>
                </a:solidFill>
              </a:rPr>
              <a:t>Deliveries are unreliable and arrive without notice</a:t>
            </a:r>
            <a:endParaRPr lang="en-US" sz="1400" dirty="0"/>
          </a:p>
        </p:txBody>
      </p:sp>
      <p:sp>
        <p:nvSpPr>
          <p:cNvPr id="23" name="Status Critical"/>
          <p:cNvSpPr/>
          <p:nvPr/>
        </p:nvSpPr>
        <p:spPr>
          <a:xfrm>
            <a:off x="7589520" y="2615184"/>
            <a:ext cx="777240" cy="237744"/>
          </a:xfrm>
          <a:prstGeom prst="rect">
            <a:avLst/>
          </a:prstGeom>
          <a:solidFill>
            <a:schemeClr val="accent3"/>
          </a:solidFill>
          <a:ln>
            <a:solidFill>
              <a:schemeClr val="accent3"/>
            </a:solidFill>
          </a:ln>
        </p:spPr>
        <p:txBody>
          <a:bodyPr wrap="square" lIns="0" tIns="0" rIns="0" bIns="0" rtlCol="0" anchor="ctr"/>
          <a:lstStyle/>
          <a:p>
            <a:pPr algn="ctr" indent="0" marL="0">
              <a:buNone/>
            </a:pPr>
            <a:r>
              <a:rPr lang="en-US" sz="1000" b="1" dirty="0">
                <a:solidFill>
                  <a:schemeClr val="bg1"/>
                </a:solidFill>
              </a:rPr>
              <a:t>Critical</a:t>
            </a:r>
            <a:endParaRPr lang="en-US" sz="1000" dirty="0"/>
          </a:p>
        </p:txBody>
      </p:sp>
      <p:sp>
        <p:nvSpPr>
          <p:cNvPr id="24" name="Shape 22"/>
          <p:cNvSpPr/>
          <p:nvPr/>
        </p:nvSpPr>
        <p:spPr>
          <a:xfrm>
            <a:off x="548640" y="2999232"/>
            <a:ext cx="8046720" cy="530352"/>
          </a:xfrm>
          <a:prstGeom prst="rect">
            <a:avLst/>
          </a:prstGeom>
          <a:solidFill>
            <a:schemeClr val="bg2"/>
          </a:solidFill>
          <a:ln w="12700">
            <a:solidFill>
              <a:schemeClr val="bg2"/>
            </a:solidFill>
            <a:prstDash val="solid"/>
          </a:ln>
        </p:spPr>
      </p:sp>
      <p:sp>
        <p:nvSpPr>
          <p:cNvPr id="25" name="Shape 23"/>
          <p:cNvSpPr/>
          <p:nvPr/>
        </p:nvSpPr>
        <p:spPr>
          <a:xfrm>
            <a:off x="548640" y="3529584"/>
            <a:ext cx="8046720" cy="0"/>
          </a:xfrm>
          <a:prstGeom prst="line">
            <a:avLst/>
          </a:prstGeom>
          <a:noFill/>
          <a:ln w="6350">
            <a:solidFill>
              <a:srgbClr val="BCBEC0"/>
            </a:solidFill>
            <a:prstDash val="solid"/>
          </a:ln>
        </p:spPr>
      </p:sp>
      <p:sp>
        <p:nvSpPr>
          <p:cNvPr id="26" name="Text 24"/>
          <p:cNvSpPr txBox="1"/>
          <p:nvPr/>
        </p:nvSpPr>
        <p:spPr>
          <a:xfrm>
            <a:off x="640080" y="2999232"/>
            <a:ext cx="228600" cy="530352"/>
          </a:xfrm>
          <a:prstGeom prst="rect">
            <a:avLst/>
          </a:prstGeom>
          <a:noFill/>
          <a:ln/>
        </p:spPr>
        <p:txBody>
          <a:bodyPr wrap="square" lIns="0" tIns="0" rIns="0" bIns="0" rtlCol="0" anchor="ctr"/>
          <a:lstStyle/>
          <a:p>
            <a:pPr indent="0" marL="0">
              <a:buNone/>
            </a:pPr>
            <a:r>
              <a:rPr lang="en-US" sz="1400" b="1" dirty="0">
                <a:solidFill>
                  <a:schemeClr val="tx1"/>
                </a:solidFill>
              </a:rPr>
              <a:t>4</a:t>
            </a:r>
            <a:endParaRPr lang="en-US" sz="1400" dirty="0"/>
          </a:p>
        </p:txBody>
      </p:sp>
      <p:sp>
        <p:nvSpPr>
          <p:cNvPr id="27" name="Text 25"/>
          <p:cNvSpPr txBox="1"/>
          <p:nvPr/>
        </p:nvSpPr>
        <p:spPr>
          <a:xfrm>
            <a:off x="1051560" y="2999232"/>
            <a:ext cx="2148840" cy="530352"/>
          </a:xfrm>
          <a:prstGeom prst="rect">
            <a:avLst/>
          </a:prstGeom>
          <a:noFill/>
          <a:ln/>
        </p:spPr>
        <p:txBody>
          <a:bodyPr wrap="square" lIns="0" tIns="0" rIns="0" bIns="0" rtlCol="0" anchor="ctr"/>
          <a:lstStyle/>
          <a:p>
            <a:pPr indent="0" marL="0">
              <a:buNone/>
            </a:pPr>
            <a:r>
              <a:rPr lang="en-US" sz="1400" b="1" dirty="0">
                <a:solidFill>
                  <a:schemeClr val="tx2"/>
                </a:solidFill>
              </a:rPr>
              <a:t>Material Availability</a:t>
            </a:r>
            <a:endParaRPr lang="en-US" sz="1400" dirty="0"/>
          </a:p>
        </p:txBody>
      </p:sp>
      <p:sp>
        <p:nvSpPr>
          <p:cNvPr id="28" name="Text 26"/>
          <p:cNvSpPr txBox="1"/>
          <p:nvPr/>
        </p:nvSpPr>
        <p:spPr>
          <a:xfrm>
            <a:off x="3383280" y="2999232"/>
            <a:ext cx="4023360" cy="530352"/>
          </a:xfrm>
          <a:prstGeom prst="rect">
            <a:avLst/>
          </a:prstGeom>
          <a:noFill/>
          <a:ln/>
        </p:spPr>
        <p:txBody>
          <a:bodyPr wrap="square" lIns="0" tIns="0" rIns="0" bIns="0" rtlCol="0" anchor="ctr"/>
          <a:lstStyle/>
          <a:p>
            <a:pPr indent="0" marL="0">
              <a:buNone/>
            </a:pPr>
            <a:r>
              <a:rPr lang="en-US" sz="1400" dirty="0">
                <a:solidFill>
                  <a:schemeClr val="tx1"/>
                </a:solidFill>
              </a:rPr>
              <a:t>Accessories are not ready to ship within 48 hours</a:t>
            </a:r>
            <a:endParaRPr lang="en-US" sz="1400" dirty="0"/>
          </a:p>
        </p:txBody>
      </p:sp>
      <p:sp>
        <p:nvSpPr>
          <p:cNvPr id="29" name="Status At Risk"/>
          <p:cNvSpPr/>
          <p:nvPr/>
        </p:nvSpPr>
        <p:spPr>
          <a:xfrm>
            <a:off x="7589520" y="3145536"/>
            <a:ext cx="777240" cy="237744"/>
          </a:xfrm>
          <a:prstGeom prst="rect">
            <a:avLst/>
          </a:prstGeom>
          <a:solidFill>
            <a:schemeClr val="accent6"/>
          </a:solidFill>
          <a:ln>
            <a:solidFill>
              <a:schemeClr val="accent6"/>
            </a:solidFill>
          </a:ln>
        </p:spPr>
        <p:txBody>
          <a:bodyPr wrap="square" lIns="0" tIns="0" rIns="0" bIns="0" rtlCol="0" anchor="ctr"/>
          <a:lstStyle/>
          <a:p>
            <a:pPr algn="ctr" indent="0" marL="0">
              <a:buNone/>
            </a:pPr>
            <a:r>
              <a:rPr lang="en-US" sz="1000" b="1" dirty="0">
                <a:solidFill>
                  <a:schemeClr val="bg1"/>
                </a:solidFill>
              </a:rPr>
              <a:t>At Risk</a:t>
            </a:r>
            <a:endParaRPr lang="en-US" sz="1000" dirty="0"/>
          </a:p>
        </p:txBody>
      </p:sp>
      <p:sp>
        <p:nvSpPr>
          <p:cNvPr id="30" name="Shape 28"/>
          <p:cNvSpPr/>
          <p:nvPr/>
        </p:nvSpPr>
        <p:spPr>
          <a:xfrm>
            <a:off x="548640" y="4059936"/>
            <a:ext cx="8046720" cy="0"/>
          </a:xfrm>
          <a:prstGeom prst="line">
            <a:avLst/>
          </a:prstGeom>
          <a:noFill/>
          <a:ln w="6350">
            <a:solidFill>
              <a:srgbClr val="BCBEC0"/>
            </a:solidFill>
            <a:prstDash val="solid"/>
          </a:ln>
        </p:spPr>
      </p:sp>
      <p:sp>
        <p:nvSpPr>
          <p:cNvPr id="31" name="Text 29"/>
          <p:cNvSpPr txBox="1"/>
          <p:nvPr/>
        </p:nvSpPr>
        <p:spPr>
          <a:xfrm>
            <a:off x="640080" y="3529584"/>
            <a:ext cx="228600" cy="530352"/>
          </a:xfrm>
          <a:prstGeom prst="rect">
            <a:avLst/>
          </a:prstGeom>
          <a:noFill/>
          <a:ln/>
        </p:spPr>
        <p:txBody>
          <a:bodyPr wrap="square" lIns="0" tIns="0" rIns="0" bIns="0" rtlCol="0" anchor="ctr"/>
          <a:lstStyle/>
          <a:p>
            <a:pPr indent="0" marL="0">
              <a:buNone/>
            </a:pPr>
            <a:r>
              <a:rPr lang="en-US" sz="1400" b="1" dirty="0">
                <a:solidFill>
                  <a:schemeClr val="tx1"/>
                </a:solidFill>
              </a:rPr>
              <a:t>5</a:t>
            </a:r>
            <a:endParaRPr lang="en-US" sz="1400" dirty="0"/>
          </a:p>
        </p:txBody>
      </p:sp>
      <p:sp>
        <p:nvSpPr>
          <p:cNvPr id="32" name="Text 30"/>
          <p:cNvSpPr txBox="1"/>
          <p:nvPr/>
        </p:nvSpPr>
        <p:spPr>
          <a:xfrm>
            <a:off x="1051560" y="3529584"/>
            <a:ext cx="2148840" cy="530352"/>
          </a:xfrm>
          <a:prstGeom prst="rect">
            <a:avLst/>
          </a:prstGeom>
          <a:noFill/>
          <a:ln/>
        </p:spPr>
        <p:txBody>
          <a:bodyPr wrap="square" lIns="0" tIns="0" rIns="0" bIns="0" rtlCol="0" anchor="ctr"/>
          <a:lstStyle/>
          <a:p>
            <a:pPr indent="0" marL="0">
              <a:buNone/>
            </a:pPr>
            <a:r>
              <a:rPr lang="en-US" sz="1400" b="1" dirty="0">
                <a:solidFill>
                  <a:schemeClr val="tx2"/>
                </a:solidFill>
              </a:rPr>
              <a:t>National Account Leads</a:t>
            </a:r>
            <a:endParaRPr lang="en-US" sz="1400" dirty="0"/>
          </a:p>
        </p:txBody>
      </p:sp>
      <p:sp>
        <p:nvSpPr>
          <p:cNvPr id="33" name="Text 31"/>
          <p:cNvSpPr txBox="1"/>
          <p:nvPr/>
        </p:nvSpPr>
        <p:spPr>
          <a:xfrm>
            <a:off x="3383280" y="3529584"/>
            <a:ext cx="4023360" cy="530352"/>
          </a:xfrm>
          <a:prstGeom prst="rect">
            <a:avLst/>
          </a:prstGeom>
          <a:noFill/>
          <a:ln/>
        </p:spPr>
        <p:txBody>
          <a:bodyPr wrap="square" lIns="0" tIns="0" rIns="0" bIns="0" rtlCol="0" anchor="ctr"/>
          <a:lstStyle/>
          <a:p>
            <a:pPr indent="0" marL="0">
              <a:buNone/>
            </a:pPr>
            <a:r>
              <a:rPr lang="en-US" sz="1400" dirty="0">
                <a:solidFill>
                  <a:schemeClr val="tx1"/>
                </a:solidFill>
              </a:rPr>
              <a:t>Our leads close well, but there are not enough of them</a:t>
            </a:r>
            <a:endParaRPr lang="en-US" sz="1400" dirty="0"/>
          </a:p>
        </p:txBody>
      </p:sp>
      <p:sp>
        <p:nvSpPr>
          <p:cNvPr id="34" name="Status Watch"/>
          <p:cNvSpPr/>
          <p:nvPr/>
        </p:nvSpPr>
        <p:spPr>
          <a:xfrm>
            <a:off x="7589520" y="3675888"/>
            <a:ext cx="777240" cy="237744"/>
          </a:xfrm>
          <a:prstGeom prst="rect">
            <a:avLst/>
          </a:prstGeom>
          <a:solidFill>
            <a:schemeClr val="accent5"/>
          </a:solidFill>
          <a:ln>
            <a:solidFill>
              <a:schemeClr val="accent5"/>
            </a:solidFill>
          </a:ln>
        </p:spPr>
        <p:txBody>
          <a:bodyPr wrap="square" lIns="0" tIns="0" rIns="0" bIns="0" rtlCol="0" anchor="ctr"/>
          <a:lstStyle/>
          <a:p>
            <a:pPr algn="ctr" indent="0" marL="0">
              <a:buNone/>
            </a:pPr>
            <a:r>
              <a:rPr lang="en-US" sz="1000" b="1" dirty="0">
                <a:solidFill>
                  <a:schemeClr val="tx1"/>
                </a:solidFill>
              </a:rPr>
              <a:t>Watch</a:t>
            </a:r>
            <a:endParaRPr lang="en-US" sz="1000" dirty="0"/>
          </a:p>
        </p:txBody>
      </p:sp>
      <p:sp>
        <p:nvSpPr>
          <p:cNvPr id="35" name="Text 33"/>
          <p:cNvSpPr txBox="1"/>
          <p:nvPr/>
        </p:nvSpPr>
        <p:spPr>
          <a:xfrm>
            <a:off x="548640" y="4206240"/>
            <a:ext cx="8046720" cy="228600"/>
          </a:xfrm>
          <a:prstGeom prst="rect">
            <a:avLst/>
          </a:prstGeom>
          <a:noFill/>
          <a:ln/>
        </p:spPr>
        <p:txBody>
          <a:bodyPr wrap="square" lIns="0" tIns="0" rIns="0" bIns="0" rtlCol="0" anchor="t"/>
          <a:lstStyle/>
          <a:p>
            <a:pPr indent="0" marL="0">
              <a:buNone/>
            </a:pPr>
            <a:r>
              <a:rPr lang="en-US" sz="1100" i="1" dirty="0">
                <a:solidFill>
                  <a:srgbClr val="5F5D5E"/>
                </a:solidFill>
              </a:rPr>
              <a:t>Status reflects the team’s own assessment of each area.</a:t>
            </a:r>
            <a:endParaRPr lang="en-US" sz="1100" dirty="0"/>
          </a:p>
        </p:txBody>
      </p:sp>
      <p:sp>
        <p:nvSpPr>
          <p:cNvPr id="25" name="Slide Number Placeholder 0"/>
          <p:cNvSpPr>
            <a:spLocks noGrp="1"/>
          </p:cNvSpPr>
          <p:nvPr>
            <p:ph type="sldNum" sz="quarter" idx="4294967295"/>
          </p:nvPr>
        </p:nvSpPr>
        <p:spPr>
          <a:xfrm>
            <a:off x="8229600" y="4681728"/>
            <a:ext cx="365760" cy="210312"/>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title" hasCustomPrompt="1"/>
          </p:nvPr>
        </p:nvSpPr>
        <p:spPr>
          <a:xfrm>
            <a:off x="548640" y="365760"/>
            <a:ext cx="8046720" cy="548640"/>
          </a:xfrm>
          <a:prstGeom prst="rect">
            <a:avLst/>
          </a:prstGeom>
          <a:noFill/>
          <a:ln/>
        </p:spPr>
        <p:txBody>
          <a:bodyPr wrap="square" lIns="0" tIns="0" rIns="0" bIns="0" rtlCol="0" anchor="t"/>
          <a:lstStyle/>
          <a:p>
            <a:pPr algn="l" indent="0" marL="0">
              <a:buNone/>
            </a:pPr>
            <a:r>
              <a:rPr lang="en-US" sz="2600" b="1" dirty="0">
                <a:solidFill>
                  <a:schemeClr val="tx2"/>
                </a:solidFill>
              </a:rPr>
              <a:t>Example: How a Single Order Goes Wrong</a:t>
            </a:r>
            <a:endParaRPr lang="en-US" sz="2600" dirty="0"/>
          </a:p>
        </p:txBody>
      </p:sp>
      <p:sp>
        <p:nvSpPr>
          <p:cNvPr id="3" name="Text 1"/>
          <p:cNvSpPr txBox="1"/>
          <p:nvPr/>
        </p:nvSpPr>
        <p:spPr>
          <a:xfrm>
            <a:off x="548640" y="896112"/>
            <a:ext cx="5486400" cy="228600"/>
          </a:xfrm>
          <a:prstGeom prst="rect">
            <a:avLst/>
          </a:prstGeom>
          <a:noFill/>
          <a:ln/>
        </p:spPr>
        <p:txBody>
          <a:bodyPr wrap="square" lIns="0" tIns="0" rIns="0" bIns="0" rtlCol="0" anchor="t"/>
          <a:lstStyle/>
          <a:p>
            <a:pPr indent="0" marL="0">
              <a:buNone/>
            </a:pPr>
            <a:r>
              <a:rPr lang="en-US" sz="1200" i="1" dirty="0">
                <a:solidFill>
                  <a:srgbClr val="5F5D5E"/>
                </a:solidFill>
              </a:rPr>
              <a:t>A composite of actual customer feedback</a:t>
            </a:r>
            <a:endParaRPr lang="en-US" sz="1200" dirty="0"/>
          </a:p>
        </p:txBody>
      </p:sp>
      <p:sp>
        <p:nvSpPr>
          <p:cNvPr id="4" name="Shape 2"/>
          <p:cNvSpPr/>
          <p:nvPr/>
        </p:nvSpPr>
        <p:spPr>
          <a:xfrm>
            <a:off x="548640" y="1234440"/>
            <a:ext cx="8046720" cy="310896"/>
          </a:xfrm>
          <a:prstGeom prst="rect">
            <a:avLst/>
          </a:prstGeom>
          <a:solidFill>
            <a:schemeClr val="tx2"/>
          </a:solidFill>
          <a:ln w="12700">
            <a:solidFill>
              <a:schemeClr val="tx2"/>
            </a:solidFill>
            <a:prstDash val="solid"/>
          </a:ln>
        </p:spPr>
      </p:sp>
      <p:sp>
        <p:nvSpPr>
          <p:cNvPr id="5" name="Text 3"/>
          <p:cNvSpPr txBox="1"/>
          <p:nvPr/>
        </p:nvSpPr>
        <p:spPr>
          <a:xfrm>
            <a:off x="640080" y="1234440"/>
            <a:ext cx="1280160" cy="310896"/>
          </a:xfrm>
          <a:prstGeom prst="rect">
            <a:avLst/>
          </a:prstGeom>
          <a:noFill/>
          <a:ln/>
        </p:spPr>
        <p:txBody>
          <a:bodyPr wrap="square" lIns="0" tIns="0" rIns="0" bIns="0" rtlCol="0" anchor="ctr"/>
          <a:lstStyle/>
          <a:p>
            <a:pPr indent="0" marL="0">
              <a:buNone/>
            </a:pPr>
            <a:r>
              <a:rPr lang="en-US" sz="1100" b="1" dirty="0">
                <a:solidFill>
                  <a:schemeClr val="bg1"/>
                </a:solidFill>
              </a:rPr>
              <a:t>Step</a:t>
            </a:r>
            <a:endParaRPr lang="en-US" sz="1100" dirty="0"/>
          </a:p>
        </p:txBody>
      </p:sp>
      <p:sp>
        <p:nvSpPr>
          <p:cNvPr id="6" name="Text 4"/>
          <p:cNvSpPr txBox="1"/>
          <p:nvPr/>
        </p:nvSpPr>
        <p:spPr>
          <a:xfrm>
            <a:off x="2103120" y="1234440"/>
            <a:ext cx="2560320" cy="310896"/>
          </a:xfrm>
          <a:prstGeom prst="rect">
            <a:avLst/>
          </a:prstGeom>
          <a:noFill/>
          <a:ln/>
        </p:spPr>
        <p:txBody>
          <a:bodyPr wrap="square" lIns="0" tIns="0" rIns="0" bIns="0" rtlCol="0" anchor="ctr"/>
          <a:lstStyle/>
          <a:p>
            <a:pPr indent="0" marL="0">
              <a:buNone/>
            </a:pPr>
            <a:r>
              <a:rPr lang="en-US" sz="1100" b="1" dirty="0">
                <a:solidFill>
                  <a:schemeClr val="bg1"/>
                </a:solidFill>
              </a:rPr>
              <a:t>What the customer does</a:t>
            </a:r>
            <a:endParaRPr lang="en-US" sz="1100" dirty="0"/>
          </a:p>
        </p:txBody>
      </p:sp>
      <p:sp>
        <p:nvSpPr>
          <p:cNvPr id="7" name="Text 5"/>
          <p:cNvSpPr txBox="1"/>
          <p:nvPr/>
        </p:nvSpPr>
        <p:spPr>
          <a:xfrm>
            <a:off x="4846320" y="1234440"/>
            <a:ext cx="2743200" cy="310896"/>
          </a:xfrm>
          <a:prstGeom prst="rect">
            <a:avLst/>
          </a:prstGeom>
          <a:noFill/>
          <a:ln/>
        </p:spPr>
        <p:txBody>
          <a:bodyPr wrap="square" lIns="0" tIns="0" rIns="0" bIns="0" rtlCol="0" anchor="ctr"/>
          <a:lstStyle/>
          <a:p>
            <a:pPr indent="0" marL="0">
              <a:buNone/>
            </a:pPr>
            <a:r>
              <a:rPr lang="en-US" sz="1100" b="1" dirty="0">
                <a:solidFill>
                  <a:schemeClr val="bg1"/>
                </a:solidFill>
              </a:rPr>
              <a:t>What happens at Henry</a:t>
            </a:r>
            <a:endParaRPr lang="en-US" sz="1100" dirty="0"/>
          </a:p>
        </p:txBody>
      </p:sp>
      <p:sp>
        <p:nvSpPr>
          <p:cNvPr id="8" name="Text 6"/>
          <p:cNvSpPr txBox="1"/>
          <p:nvPr/>
        </p:nvSpPr>
        <p:spPr>
          <a:xfrm>
            <a:off x="7772400" y="1234440"/>
            <a:ext cx="731520" cy="310896"/>
          </a:xfrm>
          <a:prstGeom prst="rect">
            <a:avLst/>
          </a:prstGeom>
          <a:noFill/>
          <a:ln/>
        </p:spPr>
        <p:txBody>
          <a:bodyPr wrap="square" lIns="0" tIns="0" rIns="0" bIns="0" rtlCol="0" anchor="ctr"/>
          <a:lstStyle/>
          <a:p>
            <a:pPr indent="0" marL="0">
              <a:buNone/>
            </a:pPr>
            <a:r>
              <a:rPr lang="en-US" sz="1100" b="1" dirty="0">
                <a:solidFill>
                  <a:schemeClr val="bg1"/>
                </a:solidFill>
              </a:rPr>
              <a:t>Issue</a:t>
            </a:r>
            <a:endParaRPr lang="en-US" sz="1100" dirty="0"/>
          </a:p>
        </p:txBody>
      </p:sp>
      <p:sp>
        <p:nvSpPr>
          <p:cNvPr id="9" name="Shape 7"/>
          <p:cNvSpPr/>
          <p:nvPr/>
        </p:nvSpPr>
        <p:spPr>
          <a:xfrm>
            <a:off x="548640" y="2048256"/>
            <a:ext cx="8046720" cy="0"/>
          </a:xfrm>
          <a:prstGeom prst="line">
            <a:avLst/>
          </a:prstGeom>
          <a:noFill/>
          <a:ln w="6350">
            <a:solidFill>
              <a:srgbClr val="BCBEC0"/>
            </a:solidFill>
            <a:prstDash val="solid"/>
          </a:ln>
        </p:spPr>
      </p:sp>
      <p:sp>
        <p:nvSpPr>
          <p:cNvPr id="10" name="Text 8"/>
          <p:cNvSpPr txBox="1"/>
          <p:nvPr/>
        </p:nvSpPr>
        <p:spPr>
          <a:xfrm>
            <a:off x="640080" y="1545336"/>
            <a:ext cx="1280160" cy="502920"/>
          </a:xfrm>
          <a:prstGeom prst="rect">
            <a:avLst/>
          </a:prstGeom>
          <a:noFill/>
          <a:ln/>
        </p:spPr>
        <p:txBody>
          <a:bodyPr wrap="square" lIns="0" tIns="0" rIns="0" bIns="0" rtlCol="0" anchor="ctr"/>
          <a:lstStyle/>
          <a:p>
            <a:pPr indent="0" marL="0">
              <a:buNone/>
            </a:pPr>
            <a:r>
              <a:rPr lang="en-US" sz="1300" b="1" dirty="0">
                <a:solidFill>
                  <a:schemeClr val="tx2"/>
                </a:solidFill>
              </a:rPr>
              <a:t>1. Order</a:t>
            </a:r>
            <a:endParaRPr lang="en-US" sz="1300" dirty="0"/>
          </a:p>
        </p:txBody>
      </p:sp>
      <p:sp>
        <p:nvSpPr>
          <p:cNvPr id="11" name="Text 9"/>
          <p:cNvSpPr txBox="1"/>
          <p:nvPr/>
        </p:nvSpPr>
        <p:spPr>
          <a:xfrm>
            <a:off x="2103120" y="1545336"/>
            <a:ext cx="2560320" cy="502920"/>
          </a:xfrm>
          <a:prstGeom prst="rect">
            <a:avLst/>
          </a:prstGeom>
          <a:noFill/>
          <a:ln/>
        </p:spPr>
        <p:txBody>
          <a:bodyPr wrap="square" lIns="0" tIns="0" rIns="0" bIns="0" rtlCol="0" anchor="ctr"/>
          <a:lstStyle/>
          <a:p>
            <a:pPr indent="0" marL="0">
              <a:buNone/>
            </a:pPr>
            <a:r>
              <a:rPr lang="en-US" sz="1300" dirty="0">
                <a:solidFill>
                  <a:schemeClr val="tx1"/>
                </a:solidFill>
              </a:rPr>
              <a:t>Orders “24 drums of white silicone.”</a:t>
            </a:r>
            <a:endParaRPr lang="en-US" sz="1300" dirty="0"/>
          </a:p>
        </p:txBody>
      </p:sp>
      <p:sp>
        <p:nvSpPr>
          <p:cNvPr id="12" name="Text 10"/>
          <p:cNvSpPr txBox="1"/>
          <p:nvPr/>
        </p:nvSpPr>
        <p:spPr>
          <a:xfrm>
            <a:off x="4846320" y="1545336"/>
            <a:ext cx="2743200" cy="502920"/>
          </a:xfrm>
          <a:prstGeom prst="rect">
            <a:avLst/>
          </a:prstGeom>
          <a:noFill/>
          <a:ln/>
        </p:spPr>
        <p:txBody>
          <a:bodyPr wrap="square" lIns="0" tIns="0" rIns="0" bIns="0" rtlCol="0" anchor="ctr"/>
          <a:lstStyle/>
          <a:p>
            <a:pPr indent="0" marL="0">
              <a:buNone/>
            </a:pPr>
            <a:r>
              <a:rPr lang="en-US" sz="1300" dirty="0">
                <a:solidFill>
                  <a:schemeClr val="tx1"/>
                </a:solidFill>
              </a:rPr>
              <a:t>We send a 200-SKU list and ask for the SAP number.</a:t>
            </a:r>
            <a:endParaRPr lang="en-US" sz="1300" dirty="0"/>
          </a:p>
        </p:txBody>
      </p:sp>
      <p:sp>
        <p:nvSpPr>
          <p:cNvPr id="13" name="Text 11"/>
          <p:cNvSpPr txBox="1"/>
          <p:nvPr/>
        </p:nvSpPr>
        <p:spPr>
          <a:xfrm>
            <a:off x="7772400" y="1545336"/>
            <a:ext cx="731520" cy="502920"/>
          </a:xfrm>
          <a:prstGeom prst="rect">
            <a:avLst/>
          </a:prstGeom>
          <a:noFill/>
          <a:ln/>
        </p:spPr>
        <p:txBody>
          <a:bodyPr wrap="square" lIns="0" tIns="0" rIns="0" bIns="0" rtlCol="0" anchor="ctr"/>
          <a:lstStyle/>
          <a:p>
            <a:pPr indent="0" marL="0">
              <a:buNone/>
            </a:pPr>
            <a:r>
              <a:rPr lang="en-US" sz="1300" dirty="0">
                <a:solidFill>
                  <a:schemeClr val="tx1"/>
                </a:solidFill>
              </a:rPr>
              <a:t>1</a:t>
            </a:r>
            <a:endParaRPr lang="en-US" sz="1300" dirty="0"/>
          </a:p>
        </p:txBody>
      </p:sp>
      <p:sp>
        <p:nvSpPr>
          <p:cNvPr id="14" name="Shape 12"/>
          <p:cNvSpPr/>
          <p:nvPr/>
        </p:nvSpPr>
        <p:spPr>
          <a:xfrm>
            <a:off x="548640" y="2048256"/>
            <a:ext cx="8046720" cy="502920"/>
          </a:xfrm>
          <a:prstGeom prst="rect">
            <a:avLst/>
          </a:prstGeom>
          <a:solidFill>
            <a:schemeClr val="bg2"/>
          </a:solidFill>
          <a:ln w="12700">
            <a:solidFill>
              <a:schemeClr val="bg2"/>
            </a:solidFill>
            <a:prstDash val="solid"/>
          </a:ln>
        </p:spPr>
      </p:sp>
      <p:sp>
        <p:nvSpPr>
          <p:cNvPr id="15" name="Shape 13"/>
          <p:cNvSpPr/>
          <p:nvPr/>
        </p:nvSpPr>
        <p:spPr>
          <a:xfrm>
            <a:off x="548640" y="2551176"/>
            <a:ext cx="8046720" cy="0"/>
          </a:xfrm>
          <a:prstGeom prst="line">
            <a:avLst/>
          </a:prstGeom>
          <a:noFill/>
          <a:ln w="6350">
            <a:solidFill>
              <a:srgbClr val="BCBEC0"/>
            </a:solidFill>
            <a:prstDash val="solid"/>
          </a:ln>
        </p:spPr>
      </p:sp>
      <p:sp>
        <p:nvSpPr>
          <p:cNvPr id="16" name="Text 14"/>
          <p:cNvSpPr txBox="1"/>
          <p:nvPr/>
        </p:nvSpPr>
        <p:spPr>
          <a:xfrm>
            <a:off x="640080" y="2048256"/>
            <a:ext cx="1280160" cy="502920"/>
          </a:xfrm>
          <a:prstGeom prst="rect">
            <a:avLst/>
          </a:prstGeom>
          <a:noFill/>
          <a:ln/>
        </p:spPr>
        <p:txBody>
          <a:bodyPr wrap="square" lIns="0" tIns="0" rIns="0" bIns="0" rtlCol="0" anchor="ctr"/>
          <a:lstStyle/>
          <a:p>
            <a:pPr indent="0" marL="0">
              <a:buNone/>
            </a:pPr>
            <a:r>
              <a:rPr lang="en-US" sz="1300" b="1" dirty="0">
                <a:solidFill>
                  <a:schemeClr val="tx2"/>
                </a:solidFill>
              </a:rPr>
              <a:t>2. Inquiry</a:t>
            </a:r>
            <a:endParaRPr lang="en-US" sz="1300" dirty="0"/>
          </a:p>
        </p:txBody>
      </p:sp>
      <p:sp>
        <p:nvSpPr>
          <p:cNvPr id="17" name="Text 15"/>
          <p:cNvSpPr txBox="1"/>
          <p:nvPr/>
        </p:nvSpPr>
        <p:spPr>
          <a:xfrm>
            <a:off x="2103120" y="2048256"/>
            <a:ext cx="2560320" cy="502920"/>
          </a:xfrm>
          <a:prstGeom prst="rect">
            <a:avLst/>
          </a:prstGeom>
          <a:noFill/>
          <a:ln/>
        </p:spPr>
        <p:txBody>
          <a:bodyPr wrap="square" lIns="0" tIns="0" rIns="0" bIns="0" rtlCol="0" anchor="ctr"/>
          <a:lstStyle/>
          <a:p>
            <a:pPr indent="0" marL="0">
              <a:buNone/>
            </a:pPr>
            <a:r>
              <a:rPr lang="en-US" sz="1300" dirty="0">
                <a:solidFill>
                  <a:schemeClr val="tx1"/>
                </a:solidFill>
              </a:rPr>
              <a:t>Asks a question about the order.</a:t>
            </a:r>
            <a:endParaRPr lang="en-US" sz="1300" dirty="0"/>
          </a:p>
        </p:txBody>
      </p:sp>
      <p:sp>
        <p:nvSpPr>
          <p:cNvPr id="18" name="Text 16"/>
          <p:cNvSpPr txBox="1"/>
          <p:nvPr/>
        </p:nvSpPr>
        <p:spPr>
          <a:xfrm>
            <a:off x="4846320" y="2048256"/>
            <a:ext cx="2743200" cy="502920"/>
          </a:xfrm>
          <a:prstGeom prst="rect">
            <a:avLst/>
          </a:prstGeom>
          <a:noFill/>
          <a:ln/>
        </p:spPr>
        <p:txBody>
          <a:bodyPr wrap="square" lIns="0" tIns="0" rIns="0" bIns="0" rtlCol="0" anchor="ctr"/>
          <a:lstStyle/>
          <a:p>
            <a:pPr indent="0" marL="0">
              <a:buNone/>
            </a:pPr>
            <a:r>
              <a:rPr lang="en-US" sz="1300" dirty="0">
                <a:solidFill>
                  <a:schemeClr val="tx1"/>
                </a:solidFill>
              </a:rPr>
              <a:t>The answer takes more than 24 hours.</a:t>
            </a:r>
            <a:endParaRPr lang="en-US" sz="1300" dirty="0"/>
          </a:p>
        </p:txBody>
      </p:sp>
      <p:sp>
        <p:nvSpPr>
          <p:cNvPr id="19" name="Text 17"/>
          <p:cNvSpPr txBox="1"/>
          <p:nvPr/>
        </p:nvSpPr>
        <p:spPr>
          <a:xfrm>
            <a:off x="7772400" y="2048256"/>
            <a:ext cx="731520" cy="502920"/>
          </a:xfrm>
          <a:prstGeom prst="rect">
            <a:avLst/>
          </a:prstGeom>
          <a:noFill/>
          <a:ln/>
        </p:spPr>
        <p:txBody>
          <a:bodyPr wrap="square" lIns="0" tIns="0" rIns="0" bIns="0" rtlCol="0" anchor="ctr"/>
          <a:lstStyle/>
          <a:p>
            <a:pPr indent="0" marL="0">
              <a:buNone/>
            </a:pPr>
            <a:r>
              <a:rPr lang="en-US" sz="1300" dirty="0">
                <a:solidFill>
                  <a:schemeClr val="tx1"/>
                </a:solidFill>
              </a:rPr>
              <a:t>1</a:t>
            </a:r>
            <a:endParaRPr lang="en-US" sz="1300" dirty="0"/>
          </a:p>
        </p:txBody>
      </p:sp>
      <p:sp>
        <p:nvSpPr>
          <p:cNvPr id="20" name="Shape 18"/>
          <p:cNvSpPr/>
          <p:nvPr/>
        </p:nvSpPr>
        <p:spPr>
          <a:xfrm>
            <a:off x="548640" y="3054096"/>
            <a:ext cx="8046720" cy="0"/>
          </a:xfrm>
          <a:prstGeom prst="line">
            <a:avLst/>
          </a:prstGeom>
          <a:noFill/>
          <a:ln w="6350">
            <a:solidFill>
              <a:srgbClr val="BCBEC0"/>
            </a:solidFill>
            <a:prstDash val="solid"/>
          </a:ln>
        </p:spPr>
      </p:sp>
      <p:sp>
        <p:nvSpPr>
          <p:cNvPr id="21" name="Text 19"/>
          <p:cNvSpPr txBox="1"/>
          <p:nvPr/>
        </p:nvSpPr>
        <p:spPr>
          <a:xfrm>
            <a:off x="640080" y="2551176"/>
            <a:ext cx="1280160" cy="502920"/>
          </a:xfrm>
          <a:prstGeom prst="rect">
            <a:avLst/>
          </a:prstGeom>
          <a:noFill/>
          <a:ln/>
        </p:spPr>
        <p:txBody>
          <a:bodyPr wrap="square" lIns="0" tIns="0" rIns="0" bIns="0" rtlCol="0" anchor="ctr"/>
          <a:lstStyle/>
          <a:p>
            <a:pPr indent="0" marL="0">
              <a:buNone/>
            </a:pPr>
            <a:r>
              <a:rPr lang="en-US" sz="1300" b="1" dirty="0">
                <a:solidFill>
                  <a:schemeClr val="tx2"/>
                </a:solidFill>
              </a:rPr>
              <a:t>3. Stock-out</a:t>
            </a:r>
            <a:endParaRPr lang="en-US" sz="1300" dirty="0"/>
          </a:p>
        </p:txBody>
      </p:sp>
      <p:sp>
        <p:nvSpPr>
          <p:cNvPr id="22" name="Text 20"/>
          <p:cNvSpPr txBox="1"/>
          <p:nvPr/>
        </p:nvSpPr>
        <p:spPr>
          <a:xfrm>
            <a:off x="2103120" y="2551176"/>
            <a:ext cx="2560320" cy="502920"/>
          </a:xfrm>
          <a:prstGeom prst="rect">
            <a:avLst/>
          </a:prstGeom>
          <a:noFill/>
          <a:ln/>
        </p:spPr>
        <p:txBody>
          <a:bodyPr wrap="square" lIns="0" tIns="0" rIns="0" bIns="0" rtlCol="0" anchor="ctr"/>
          <a:lstStyle/>
          <a:p>
            <a:pPr indent="0" marL="0">
              <a:buNone/>
            </a:pPr>
            <a:r>
              <a:rPr lang="en-US" sz="1300" dirty="0">
                <a:solidFill>
                  <a:schemeClr val="tx1"/>
                </a:solidFill>
              </a:rPr>
              <a:t>Needs PG988; Kingman is out.</a:t>
            </a:r>
            <a:endParaRPr lang="en-US" sz="1300" dirty="0"/>
          </a:p>
        </p:txBody>
      </p:sp>
      <p:sp>
        <p:nvSpPr>
          <p:cNvPr id="23" name="Text 21"/>
          <p:cNvSpPr txBox="1"/>
          <p:nvPr/>
        </p:nvSpPr>
        <p:spPr>
          <a:xfrm>
            <a:off x="4846320" y="2551176"/>
            <a:ext cx="2743200" cy="502920"/>
          </a:xfrm>
          <a:prstGeom prst="rect">
            <a:avLst/>
          </a:prstGeom>
          <a:noFill/>
          <a:ln/>
        </p:spPr>
        <p:txBody>
          <a:bodyPr wrap="square" lIns="0" tIns="0" rIns="0" bIns="0" rtlCol="0" anchor="ctr"/>
          <a:lstStyle/>
          <a:p>
            <a:pPr indent="0" marL="0">
              <a:buNone/>
            </a:pPr>
            <a:r>
              <a:rPr lang="en-US" sz="1300" dirty="0">
                <a:solidFill>
                  <a:schemeClr val="tx1"/>
                </a:solidFill>
              </a:rPr>
              <a:t>Carson has it, but no one offers to ship from there.</a:t>
            </a:r>
            <a:endParaRPr lang="en-US" sz="1300" dirty="0"/>
          </a:p>
        </p:txBody>
      </p:sp>
      <p:sp>
        <p:nvSpPr>
          <p:cNvPr id="24" name="Text 22"/>
          <p:cNvSpPr txBox="1"/>
          <p:nvPr/>
        </p:nvSpPr>
        <p:spPr>
          <a:xfrm>
            <a:off x="7772400" y="2551176"/>
            <a:ext cx="731520" cy="502920"/>
          </a:xfrm>
          <a:prstGeom prst="rect">
            <a:avLst/>
          </a:prstGeom>
          <a:noFill/>
          <a:ln/>
        </p:spPr>
        <p:txBody>
          <a:bodyPr wrap="square" lIns="0" tIns="0" rIns="0" bIns="0" rtlCol="0" anchor="ctr"/>
          <a:lstStyle/>
          <a:p>
            <a:pPr indent="0" marL="0">
              <a:buNone/>
            </a:pPr>
            <a:r>
              <a:rPr lang="en-US" sz="1300" dirty="0">
                <a:solidFill>
                  <a:schemeClr val="tx1"/>
                </a:solidFill>
              </a:rPr>
              <a:t>1</a:t>
            </a:r>
            <a:endParaRPr lang="en-US" sz="1300" dirty="0"/>
          </a:p>
        </p:txBody>
      </p:sp>
      <p:sp>
        <p:nvSpPr>
          <p:cNvPr id="25" name="Shape 23"/>
          <p:cNvSpPr/>
          <p:nvPr/>
        </p:nvSpPr>
        <p:spPr>
          <a:xfrm>
            <a:off x="548640" y="3054096"/>
            <a:ext cx="8046720" cy="502920"/>
          </a:xfrm>
          <a:prstGeom prst="rect">
            <a:avLst/>
          </a:prstGeom>
          <a:solidFill>
            <a:schemeClr val="bg2"/>
          </a:solidFill>
          <a:ln w="12700">
            <a:solidFill>
              <a:schemeClr val="bg2"/>
            </a:solidFill>
            <a:prstDash val="solid"/>
          </a:ln>
        </p:spPr>
      </p:sp>
      <p:sp>
        <p:nvSpPr>
          <p:cNvPr id="26" name="Shape 24"/>
          <p:cNvSpPr/>
          <p:nvPr/>
        </p:nvSpPr>
        <p:spPr>
          <a:xfrm>
            <a:off x="548640" y="3557016"/>
            <a:ext cx="8046720" cy="0"/>
          </a:xfrm>
          <a:prstGeom prst="line">
            <a:avLst/>
          </a:prstGeom>
          <a:noFill/>
          <a:ln w="6350">
            <a:solidFill>
              <a:srgbClr val="BCBEC0"/>
            </a:solidFill>
            <a:prstDash val="solid"/>
          </a:ln>
        </p:spPr>
      </p:sp>
      <p:sp>
        <p:nvSpPr>
          <p:cNvPr id="27" name="Text 25"/>
          <p:cNvSpPr txBox="1"/>
          <p:nvPr/>
        </p:nvSpPr>
        <p:spPr>
          <a:xfrm>
            <a:off x="640080" y="3054096"/>
            <a:ext cx="1280160" cy="502920"/>
          </a:xfrm>
          <a:prstGeom prst="rect">
            <a:avLst/>
          </a:prstGeom>
          <a:noFill/>
          <a:ln/>
        </p:spPr>
        <p:txBody>
          <a:bodyPr wrap="square" lIns="0" tIns="0" rIns="0" bIns="0" rtlCol="0" anchor="ctr"/>
          <a:lstStyle/>
          <a:p>
            <a:pPr indent="0" marL="0">
              <a:buNone/>
            </a:pPr>
            <a:r>
              <a:rPr lang="en-US" sz="1300" b="1" dirty="0">
                <a:solidFill>
                  <a:schemeClr val="tx2"/>
                </a:solidFill>
              </a:rPr>
              <a:t>4. Shipment</a:t>
            </a:r>
            <a:endParaRPr lang="en-US" sz="1300" dirty="0"/>
          </a:p>
        </p:txBody>
      </p:sp>
      <p:sp>
        <p:nvSpPr>
          <p:cNvPr id="28" name="Text 26"/>
          <p:cNvSpPr txBox="1"/>
          <p:nvPr/>
        </p:nvSpPr>
        <p:spPr>
          <a:xfrm>
            <a:off x="2103120" y="3054096"/>
            <a:ext cx="2560320" cy="502920"/>
          </a:xfrm>
          <a:prstGeom prst="rect">
            <a:avLst/>
          </a:prstGeom>
          <a:noFill/>
          <a:ln/>
        </p:spPr>
        <p:txBody>
          <a:bodyPr wrap="square" lIns="0" tIns="0" rIns="0" bIns="0" rtlCol="0" anchor="ctr"/>
          <a:lstStyle/>
          <a:p>
            <a:pPr indent="0" marL="0">
              <a:buNone/>
            </a:pPr>
            <a:r>
              <a:rPr lang="en-US" sz="1300" dirty="0">
                <a:solidFill>
                  <a:schemeClr val="tx1"/>
                </a:solidFill>
              </a:rPr>
              <a:t>Expects delivery on the agreed date.</a:t>
            </a:r>
            <a:endParaRPr lang="en-US" sz="1300" dirty="0"/>
          </a:p>
        </p:txBody>
      </p:sp>
      <p:sp>
        <p:nvSpPr>
          <p:cNvPr id="29" name="Text 27"/>
          <p:cNvSpPr txBox="1"/>
          <p:nvPr/>
        </p:nvSpPr>
        <p:spPr>
          <a:xfrm>
            <a:off x="4846320" y="3054096"/>
            <a:ext cx="2743200" cy="502920"/>
          </a:xfrm>
          <a:prstGeom prst="rect">
            <a:avLst/>
          </a:prstGeom>
          <a:noFill/>
          <a:ln/>
        </p:spPr>
        <p:txBody>
          <a:bodyPr wrap="square" lIns="0" tIns="0" rIns="0" bIns="0" rtlCol="0" anchor="ctr"/>
          <a:lstStyle/>
          <a:p>
            <a:pPr indent="0" marL="0">
              <a:buNone/>
            </a:pPr>
            <a:r>
              <a:rPr lang="en-US" sz="1300" dirty="0">
                <a:solidFill>
                  <a:schemeClr val="tx1"/>
                </a:solidFill>
              </a:rPr>
              <a:t>We ship early without notice. No one is on site.</a:t>
            </a:r>
            <a:endParaRPr lang="en-US" sz="1300" dirty="0"/>
          </a:p>
        </p:txBody>
      </p:sp>
      <p:sp>
        <p:nvSpPr>
          <p:cNvPr id="30" name="Text 28"/>
          <p:cNvSpPr txBox="1"/>
          <p:nvPr/>
        </p:nvSpPr>
        <p:spPr>
          <a:xfrm>
            <a:off x="7772400" y="3054096"/>
            <a:ext cx="731520" cy="502920"/>
          </a:xfrm>
          <a:prstGeom prst="rect">
            <a:avLst/>
          </a:prstGeom>
          <a:noFill/>
          <a:ln/>
        </p:spPr>
        <p:txBody>
          <a:bodyPr wrap="square" lIns="0" tIns="0" rIns="0" bIns="0" rtlCol="0" anchor="ctr"/>
          <a:lstStyle/>
          <a:p>
            <a:pPr indent="0" marL="0">
              <a:buNone/>
            </a:pPr>
            <a:r>
              <a:rPr lang="en-US" sz="1300" dirty="0">
                <a:solidFill>
                  <a:schemeClr val="tx1"/>
                </a:solidFill>
              </a:rPr>
              <a:t>3</a:t>
            </a:r>
            <a:endParaRPr lang="en-US" sz="1300" dirty="0"/>
          </a:p>
        </p:txBody>
      </p:sp>
      <p:sp>
        <p:nvSpPr>
          <p:cNvPr id="31" name="Shape 29"/>
          <p:cNvSpPr/>
          <p:nvPr/>
        </p:nvSpPr>
        <p:spPr>
          <a:xfrm>
            <a:off x="548640" y="4059936"/>
            <a:ext cx="8046720" cy="0"/>
          </a:xfrm>
          <a:prstGeom prst="line">
            <a:avLst/>
          </a:prstGeom>
          <a:noFill/>
          <a:ln w="6350">
            <a:solidFill>
              <a:srgbClr val="BCBEC0"/>
            </a:solidFill>
            <a:prstDash val="solid"/>
          </a:ln>
        </p:spPr>
      </p:sp>
      <p:sp>
        <p:nvSpPr>
          <p:cNvPr id="32" name="Text 30"/>
          <p:cNvSpPr txBox="1"/>
          <p:nvPr/>
        </p:nvSpPr>
        <p:spPr>
          <a:xfrm>
            <a:off x="640080" y="3557016"/>
            <a:ext cx="1280160" cy="502920"/>
          </a:xfrm>
          <a:prstGeom prst="rect">
            <a:avLst/>
          </a:prstGeom>
          <a:noFill/>
          <a:ln/>
        </p:spPr>
        <p:txBody>
          <a:bodyPr wrap="square" lIns="0" tIns="0" rIns="0" bIns="0" rtlCol="0" anchor="ctr"/>
          <a:lstStyle/>
          <a:p>
            <a:pPr indent="0" marL="0">
              <a:buNone/>
            </a:pPr>
            <a:r>
              <a:rPr lang="en-US" sz="1300" b="1" dirty="0">
                <a:solidFill>
                  <a:schemeClr val="tx2"/>
                </a:solidFill>
              </a:rPr>
              <a:t>5. Delivery</a:t>
            </a:r>
            <a:endParaRPr lang="en-US" sz="1300" dirty="0"/>
          </a:p>
        </p:txBody>
      </p:sp>
      <p:sp>
        <p:nvSpPr>
          <p:cNvPr id="33" name="Text 31"/>
          <p:cNvSpPr txBox="1"/>
          <p:nvPr/>
        </p:nvSpPr>
        <p:spPr>
          <a:xfrm>
            <a:off x="2103120" y="3557016"/>
            <a:ext cx="2560320" cy="502920"/>
          </a:xfrm>
          <a:prstGeom prst="rect">
            <a:avLst/>
          </a:prstGeom>
          <a:noFill/>
          <a:ln/>
        </p:spPr>
        <p:txBody>
          <a:bodyPr wrap="square" lIns="0" tIns="0" rIns="0" bIns="0" rtlCol="0" anchor="ctr"/>
          <a:lstStyle/>
          <a:p>
            <a:pPr indent="0" marL="0">
              <a:buNone/>
            </a:pPr>
            <a:r>
              <a:rPr lang="en-US" sz="1300" dirty="0">
                <a:solidFill>
                  <a:schemeClr val="tx1"/>
                </a:solidFill>
              </a:rPr>
              <a:t>Receives the coating.</a:t>
            </a:r>
            <a:endParaRPr lang="en-US" sz="1300" dirty="0"/>
          </a:p>
        </p:txBody>
      </p:sp>
      <p:sp>
        <p:nvSpPr>
          <p:cNvPr id="34" name="Text 32"/>
          <p:cNvSpPr txBox="1"/>
          <p:nvPr/>
        </p:nvSpPr>
        <p:spPr>
          <a:xfrm>
            <a:off x="4846320" y="3557016"/>
            <a:ext cx="2743200" cy="502920"/>
          </a:xfrm>
          <a:prstGeom prst="rect">
            <a:avLst/>
          </a:prstGeom>
          <a:noFill/>
          <a:ln/>
        </p:spPr>
        <p:txBody>
          <a:bodyPr wrap="square" lIns="0" tIns="0" rIns="0" bIns="0" rtlCol="0" anchor="ctr"/>
          <a:lstStyle/>
          <a:p>
            <a:pPr indent="0" marL="0">
              <a:buNone/>
            </a:pPr>
            <a:r>
              <a:rPr lang="en-US" sz="1300" dirty="0">
                <a:solidFill>
                  <a:schemeClr val="tx1"/>
                </a:solidFill>
              </a:rPr>
              <a:t>The primer is missing, so the job cannot start.</a:t>
            </a:r>
            <a:endParaRPr lang="en-US" sz="1300" dirty="0"/>
          </a:p>
        </p:txBody>
      </p:sp>
      <p:sp>
        <p:nvSpPr>
          <p:cNvPr id="35" name="Text 33"/>
          <p:cNvSpPr txBox="1"/>
          <p:nvPr/>
        </p:nvSpPr>
        <p:spPr>
          <a:xfrm>
            <a:off x="7772400" y="3557016"/>
            <a:ext cx="731520" cy="502920"/>
          </a:xfrm>
          <a:prstGeom prst="rect">
            <a:avLst/>
          </a:prstGeom>
          <a:noFill/>
          <a:ln/>
        </p:spPr>
        <p:txBody>
          <a:bodyPr wrap="square" lIns="0" tIns="0" rIns="0" bIns="0" rtlCol="0" anchor="ctr"/>
          <a:lstStyle/>
          <a:p>
            <a:pPr indent="0" marL="0">
              <a:buNone/>
            </a:pPr>
            <a:r>
              <a:rPr lang="en-US" sz="1300" dirty="0">
                <a:solidFill>
                  <a:schemeClr val="tx1"/>
                </a:solidFill>
              </a:rPr>
              <a:t>4</a:t>
            </a:r>
            <a:endParaRPr lang="en-US" sz="1300" dirty="0"/>
          </a:p>
        </p:txBody>
      </p:sp>
      <p:sp>
        <p:nvSpPr>
          <p:cNvPr id="36" name="Text 34"/>
          <p:cNvSpPr txBox="1"/>
          <p:nvPr/>
        </p:nvSpPr>
        <p:spPr>
          <a:xfrm>
            <a:off x="548640" y="4178808"/>
            <a:ext cx="8046720" cy="274320"/>
          </a:xfrm>
          <a:prstGeom prst="rect">
            <a:avLst/>
          </a:prstGeom>
          <a:noFill/>
          <a:ln/>
        </p:spPr>
        <p:txBody>
          <a:bodyPr wrap="square" lIns="0" tIns="0" rIns="0" bIns="0" rtlCol="0" anchor="t"/>
          <a:lstStyle/>
          <a:p>
            <a:pPr indent="0" marL="0">
              <a:buNone/>
            </a:pPr>
            <a:r>
              <a:rPr lang="en-US" sz="1500" b="1" dirty="0">
                <a:solidFill>
                  <a:schemeClr val="tx2"/>
                </a:solidFill>
              </a:rPr>
              <a:t>Result: the roofer looks bad in front of the building owner, and so does Henry.</a:t>
            </a:r>
            <a:endParaRPr lang="en-US" sz="1500" dirty="0"/>
          </a:p>
        </p:txBody>
      </p:sp>
      <p:sp>
        <p:nvSpPr>
          <p:cNvPr id="25" name="Slide Number Placeholder 0"/>
          <p:cNvSpPr>
            <a:spLocks noGrp="1"/>
          </p:cNvSpPr>
          <p:nvPr>
            <p:ph type="sldNum" sz="quarter" idx="4294967295"/>
          </p:nvPr>
        </p:nvSpPr>
        <p:spPr>
          <a:xfrm>
            <a:off x="8229600" y="4681728"/>
            <a:ext cx="365760" cy="210312"/>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title" hasCustomPrompt="1"/>
          </p:nvPr>
        </p:nvSpPr>
        <p:spPr>
          <a:xfrm>
            <a:off x="548640" y="365760"/>
            <a:ext cx="6309360" cy="548640"/>
          </a:xfrm>
          <a:prstGeom prst="rect">
            <a:avLst/>
          </a:prstGeom>
          <a:noFill/>
          <a:ln/>
        </p:spPr>
        <p:txBody>
          <a:bodyPr wrap="square" lIns="0" tIns="0" rIns="0" bIns="0" rtlCol="0" anchor="t"/>
          <a:lstStyle/>
          <a:p>
            <a:pPr algn="l" indent="0" marL="0">
              <a:buNone/>
            </a:pPr>
            <a:r>
              <a:rPr lang="en-US" sz="2600" b="1" dirty="0">
                <a:solidFill>
                  <a:schemeClr val="tx2"/>
                </a:solidFill>
              </a:rPr>
              <a:t>Customer Service Is Hard to Work With</a:t>
            </a:r>
            <a:endParaRPr lang="en-US" sz="2600" dirty="0"/>
          </a:p>
        </p:txBody>
      </p:sp>
      <p:sp>
        <p:nvSpPr>
          <p:cNvPr id="3" name="Text 1"/>
          <p:cNvSpPr txBox="1"/>
          <p:nvPr/>
        </p:nvSpPr>
        <p:spPr>
          <a:xfrm>
            <a:off x="6949440" y="384048"/>
            <a:ext cx="1645920" cy="228600"/>
          </a:xfrm>
          <a:prstGeom prst="rect">
            <a:avLst/>
          </a:prstGeom>
          <a:noFill/>
          <a:ln/>
        </p:spPr>
        <p:txBody>
          <a:bodyPr wrap="square" lIns="0" tIns="0" rIns="0" bIns="0" rtlCol="0" anchor="t"/>
          <a:lstStyle/>
          <a:p>
            <a:pPr algn="r" indent="0" marL="0">
              <a:buNone/>
            </a:pPr>
            <a:r>
              <a:rPr lang="en-US" sz="1200" b="1" dirty="0">
                <a:solidFill>
                  <a:srgbClr val="5F5D5E"/>
                </a:solidFill>
              </a:rPr>
              <a:t>Issue 1 of 5</a:t>
            </a:r>
            <a:endParaRPr lang="en-US" sz="1200" dirty="0"/>
          </a:p>
        </p:txBody>
      </p:sp>
      <p:sp>
        <p:nvSpPr>
          <p:cNvPr id="4" name="Status At Risk"/>
          <p:cNvSpPr/>
          <p:nvPr/>
        </p:nvSpPr>
        <p:spPr>
          <a:xfrm>
            <a:off x="7818120" y="658368"/>
            <a:ext cx="777240" cy="237744"/>
          </a:xfrm>
          <a:prstGeom prst="rect">
            <a:avLst/>
          </a:prstGeom>
          <a:solidFill>
            <a:schemeClr val="accent6"/>
          </a:solidFill>
          <a:ln>
            <a:solidFill>
              <a:schemeClr val="accent6"/>
            </a:solidFill>
          </a:ln>
        </p:spPr>
        <p:txBody>
          <a:bodyPr wrap="square" lIns="0" tIns="0" rIns="0" bIns="0" rtlCol="0" anchor="ctr"/>
          <a:lstStyle/>
          <a:p>
            <a:pPr algn="ctr" indent="0" marL="0">
              <a:buNone/>
            </a:pPr>
            <a:r>
              <a:rPr lang="en-US" sz="1000" b="1" dirty="0">
                <a:solidFill>
                  <a:schemeClr val="bg1"/>
                </a:solidFill>
              </a:rPr>
              <a:t>At Risk</a:t>
            </a:r>
            <a:endParaRPr lang="en-US" sz="1000" dirty="0"/>
          </a:p>
        </p:txBody>
      </p:sp>
      <p:sp>
        <p:nvSpPr>
          <p:cNvPr id="5" name="Text 3"/>
          <p:cNvSpPr txBox="1"/>
          <p:nvPr/>
        </p:nvSpPr>
        <p:spPr>
          <a:xfrm>
            <a:off x="548640" y="1188720"/>
            <a:ext cx="3840480" cy="274320"/>
          </a:xfrm>
          <a:prstGeom prst="rect">
            <a:avLst/>
          </a:prstGeom>
          <a:noFill/>
          <a:ln/>
        </p:spPr>
        <p:txBody>
          <a:bodyPr wrap="square" lIns="0" tIns="0" rIns="0" bIns="0" rtlCol="0" anchor="t"/>
          <a:lstStyle/>
          <a:p>
            <a:pPr indent="0" marL="0">
              <a:buNone/>
            </a:pPr>
            <a:r>
              <a:rPr lang="en-US" sz="1400" b="1" dirty="0">
                <a:solidFill>
                  <a:schemeClr val="tx2"/>
                </a:solidFill>
              </a:rPr>
              <a:t>What Customers Report</a:t>
            </a:r>
            <a:endParaRPr lang="en-US" sz="1400" dirty="0"/>
          </a:p>
        </p:txBody>
      </p:sp>
      <p:sp>
        <p:nvSpPr>
          <p:cNvPr id="6" name="Shape 4"/>
          <p:cNvSpPr/>
          <p:nvPr/>
        </p:nvSpPr>
        <p:spPr>
          <a:xfrm>
            <a:off x="548640" y="1499616"/>
            <a:ext cx="3840480" cy="0"/>
          </a:xfrm>
          <a:prstGeom prst="line">
            <a:avLst/>
          </a:prstGeom>
          <a:noFill/>
          <a:ln w="12700">
            <a:solidFill>
              <a:schemeClr val="tx2"/>
            </a:solidFill>
            <a:prstDash val="solid"/>
          </a:ln>
        </p:spPr>
      </p:sp>
      <p:sp>
        <p:nvSpPr>
          <p:cNvPr id="7" name="Text 5"/>
          <p:cNvSpPr txBox="1"/>
          <p:nvPr/>
        </p:nvSpPr>
        <p:spPr>
          <a:xfrm>
            <a:off x="548640" y="1691640"/>
            <a:ext cx="3840480" cy="2743200"/>
          </a:xfrm>
          <a:prstGeom prst="rect">
            <a:avLst/>
          </a:prstGeom>
          <a:noFill/>
          <a:ln/>
        </p:spPr>
        <p:txBody>
          <a:bodyPr wrap="square" lIns="0" tIns="0" rIns="0" bIns="0" rtlCol="0" anchor="t"/>
          <a:lstStyle/>
          <a:p>
            <a:pPr marL="203200" indent="-203200">
              <a:spcAft>
                <a:spcPts val="900"/>
              </a:spcAft>
              <a:buSzPct val="100000"/>
              <a:buChar char="•"/>
            </a:pPr>
            <a:r>
              <a:rPr lang="en-US" sz="1500" dirty="0">
                <a:solidFill>
                  <a:schemeClr val="tx1"/>
                </a:solidFill>
              </a:rPr>
              <a:t>Customers order “24 drums of white silicone” and we ask for the SAP number.</a:t>
            </a:r>
            <a:endParaRPr lang="en-US" sz="1500" dirty="0"/>
          </a:p>
          <a:p>
            <a:pPr marL="203200" indent="-203200">
              <a:spcAft>
                <a:spcPts val="900"/>
              </a:spcAft>
              <a:buSzPct val="100000"/>
              <a:buChar char="•"/>
            </a:pPr>
            <a:r>
              <a:rPr lang="en-US" sz="1500" dirty="0">
                <a:solidFill>
                  <a:schemeClr val="tx1"/>
                </a:solidFill>
              </a:rPr>
              <a:t>Inquiries can wait more than 24 hours for a response.</a:t>
            </a:r>
            <a:endParaRPr lang="en-US" sz="1500" dirty="0"/>
          </a:p>
          <a:p>
            <a:pPr marL="203200" indent="-203200">
              <a:spcAft>
                <a:spcPts val="900"/>
              </a:spcAft>
              <a:buSzPct val="100000"/>
              <a:buChar char="•"/>
            </a:pPr>
            <a:r>
              <a:rPr lang="en-US" sz="1500" dirty="0">
                <a:solidFill>
                  <a:schemeClr val="tx1"/>
                </a:solidFill>
              </a:rPr>
              <a:t>We will not substitute products, ship from another plant, or expedite.</a:t>
            </a:r>
            <a:endParaRPr lang="en-US" sz="1500" dirty="0"/>
          </a:p>
        </p:txBody>
      </p:sp>
      <p:sp>
        <p:nvSpPr>
          <p:cNvPr id="8" name="Shape 6"/>
          <p:cNvSpPr/>
          <p:nvPr/>
        </p:nvSpPr>
        <p:spPr>
          <a:xfrm>
            <a:off x="4754880" y="1188720"/>
            <a:ext cx="3840480" cy="3200400"/>
          </a:xfrm>
          <a:prstGeom prst="rect">
            <a:avLst/>
          </a:prstGeom>
          <a:solidFill>
            <a:schemeClr val="bg2"/>
          </a:solidFill>
          <a:ln w="12700">
            <a:solidFill>
              <a:schemeClr val="bg2"/>
            </a:solidFill>
            <a:prstDash val="solid"/>
          </a:ln>
        </p:spPr>
      </p:sp>
      <p:sp>
        <p:nvSpPr>
          <p:cNvPr id="9" name="Text 7"/>
          <p:cNvSpPr txBox="1"/>
          <p:nvPr/>
        </p:nvSpPr>
        <p:spPr>
          <a:xfrm>
            <a:off x="4937760" y="1325880"/>
            <a:ext cx="3474720" cy="274320"/>
          </a:xfrm>
          <a:prstGeom prst="rect">
            <a:avLst/>
          </a:prstGeom>
          <a:noFill/>
          <a:ln/>
        </p:spPr>
        <p:txBody>
          <a:bodyPr wrap="square" lIns="0" tIns="0" rIns="0" bIns="0" rtlCol="0" anchor="t"/>
          <a:lstStyle/>
          <a:p>
            <a:pPr indent="0" marL="0">
              <a:buNone/>
            </a:pPr>
            <a:r>
              <a:rPr lang="en-US" sz="1400" b="1" dirty="0">
                <a:solidFill>
                  <a:schemeClr val="accent1"/>
                </a:solidFill>
              </a:rPr>
              <a:t>Recommended Actions</a:t>
            </a:r>
            <a:endParaRPr lang="en-US" sz="1400" dirty="0"/>
          </a:p>
        </p:txBody>
      </p:sp>
      <p:sp>
        <p:nvSpPr>
          <p:cNvPr id="10" name="Shape 8"/>
          <p:cNvSpPr/>
          <p:nvPr/>
        </p:nvSpPr>
        <p:spPr>
          <a:xfrm>
            <a:off x="4937760" y="1636776"/>
            <a:ext cx="3474720" cy="0"/>
          </a:xfrm>
          <a:prstGeom prst="line">
            <a:avLst/>
          </a:prstGeom>
          <a:noFill/>
          <a:ln w="12700">
            <a:solidFill>
              <a:schemeClr val="accent1"/>
            </a:solidFill>
            <a:prstDash val="solid"/>
          </a:ln>
        </p:spPr>
      </p:sp>
      <p:sp>
        <p:nvSpPr>
          <p:cNvPr id="11" name="Text 9"/>
          <p:cNvSpPr txBox="1"/>
          <p:nvPr/>
        </p:nvSpPr>
        <p:spPr>
          <a:xfrm>
            <a:off x="4937760" y="1828800"/>
            <a:ext cx="3474720" cy="2468880"/>
          </a:xfrm>
          <a:prstGeom prst="rect">
            <a:avLst/>
          </a:prstGeom>
          <a:noFill/>
          <a:ln/>
        </p:spPr>
        <p:txBody>
          <a:bodyPr wrap="square" lIns="0" tIns="0" rIns="0" bIns="0" rtlCol="0" anchor="t"/>
          <a:lstStyle/>
          <a:p>
            <a:pPr marL="203200" indent="-203200">
              <a:spcAft>
                <a:spcPts val="900"/>
              </a:spcAft>
              <a:buSzPct val="100000"/>
              <a:buChar char="•"/>
            </a:pPr>
            <a:r>
              <a:rPr lang="en-US" sz="1500" dirty="0">
                <a:solidFill>
                  <a:schemeClr val="tx1"/>
                </a:solidFill>
              </a:rPr>
              <a:t>Take orders as written; call the customer if unclear.</a:t>
            </a:r>
            <a:endParaRPr lang="en-US" sz="1500" dirty="0"/>
          </a:p>
          <a:p>
            <a:pPr marL="203200" indent="-203200">
              <a:spcAft>
                <a:spcPts val="900"/>
              </a:spcAft>
              <a:buSzPct val="100000"/>
              <a:buChar char="•"/>
            </a:pPr>
            <a:r>
              <a:rPr lang="en-US" sz="1500" dirty="0">
                <a:solidFill>
                  <a:schemeClr val="tx1"/>
                </a:solidFill>
              </a:rPr>
              <a:t>Respond to every email within 4 hours.</a:t>
            </a:r>
            <a:endParaRPr lang="en-US" sz="1500" dirty="0"/>
          </a:p>
          <a:p>
            <a:pPr marL="203200" indent="-203200">
              <a:spcAft>
                <a:spcPts val="900"/>
              </a:spcAft>
              <a:buSzPct val="100000"/>
              <a:buChar char="•"/>
            </a:pPr>
            <a:r>
              <a:rPr lang="en-US" sz="1500" dirty="0">
                <a:solidFill>
                  <a:schemeClr val="tx1"/>
                </a:solidFill>
              </a:rPr>
              <a:t>Give CS visibility into inventory at all plants.</a:t>
            </a:r>
            <a:endParaRPr lang="en-US" sz="1500" dirty="0"/>
          </a:p>
          <a:p>
            <a:pPr marL="203200" indent="-203200">
              <a:spcAft>
                <a:spcPts val="900"/>
              </a:spcAft>
              <a:buSzPct val="100000"/>
              <a:buChar char="•"/>
            </a:pPr>
            <a:r>
              <a:rPr lang="en-US" sz="1500" dirty="0">
                <a:solidFill>
                  <a:schemeClr val="tx1"/>
                </a:solidFill>
              </a:rPr>
              <a:t>Train staff on approved product substitutions.</a:t>
            </a:r>
            <a:endParaRPr lang="en-US" sz="1500" dirty="0"/>
          </a:p>
          <a:p>
            <a:pPr marL="203200" indent="-203200">
              <a:spcAft>
                <a:spcPts val="900"/>
              </a:spcAft>
              <a:buSzPct val="100000"/>
              <a:buChar char="•"/>
            </a:pPr>
            <a:r>
              <a:rPr lang="en-US" sz="1500" dirty="0">
                <a:solidFill>
                  <a:schemeClr val="tx1"/>
                </a:solidFill>
              </a:rPr>
              <a:t>Hold people accountable for service.</a:t>
            </a:r>
            <a:endParaRPr lang="en-US" sz="1500" dirty="0"/>
          </a:p>
        </p:txBody>
      </p:sp>
      <p:sp>
        <p:nvSpPr>
          <p:cNvPr id="25" name="Slide Number Placeholder 0"/>
          <p:cNvSpPr>
            <a:spLocks noGrp="1"/>
          </p:cNvSpPr>
          <p:nvPr>
            <p:ph type="sldNum" sz="quarter" idx="4294967295"/>
          </p:nvPr>
        </p:nvSpPr>
        <p:spPr>
          <a:xfrm>
            <a:off x="8229600" y="4681728"/>
            <a:ext cx="365760" cy="210312"/>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title" hasCustomPrompt="1"/>
          </p:nvPr>
        </p:nvSpPr>
        <p:spPr>
          <a:xfrm>
            <a:off x="548640" y="365760"/>
            <a:ext cx="6309360" cy="548640"/>
          </a:xfrm>
          <a:prstGeom prst="rect">
            <a:avLst/>
          </a:prstGeom>
          <a:noFill/>
          <a:ln/>
        </p:spPr>
        <p:txBody>
          <a:bodyPr wrap="square" lIns="0" tIns="0" rIns="0" bIns="0" rtlCol="0" anchor="t"/>
          <a:lstStyle/>
          <a:p>
            <a:pPr algn="l" indent="0" marL="0">
              <a:buNone/>
            </a:pPr>
            <a:r>
              <a:rPr lang="en-US" sz="2600" b="1" dirty="0">
                <a:solidFill>
                  <a:schemeClr val="tx2"/>
                </a:solidFill>
              </a:rPr>
              <a:t>Warranty Response Is Too Slow</a:t>
            </a:r>
            <a:endParaRPr lang="en-US" sz="2600" dirty="0"/>
          </a:p>
        </p:txBody>
      </p:sp>
      <p:sp>
        <p:nvSpPr>
          <p:cNvPr id="3" name="Text 1"/>
          <p:cNvSpPr txBox="1"/>
          <p:nvPr/>
        </p:nvSpPr>
        <p:spPr>
          <a:xfrm>
            <a:off x="6949440" y="384048"/>
            <a:ext cx="1645920" cy="228600"/>
          </a:xfrm>
          <a:prstGeom prst="rect">
            <a:avLst/>
          </a:prstGeom>
          <a:noFill/>
          <a:ln/>
        </p:spPr>
        <p:txBody>
          <a:bodyPr wrap="square" lIns="0" tIns="0" rIns="0" bIns="0" rtlCol="0" anchor="t"/>
          <a:lstStyle/>
          <a:p>
            <a:pPr algn="r" indent="0" marL="0">
              <a:buNone/>
            </a:pPr>
            <a:r>
              <a:rPr lang="en-US" sz="1200" b="1" dirty="0">
                <a:solidFill>
                  <a:srgbClr val="5F5D5E"/>
                </a:solidFill>
              </a:rPr>
              <a:t>Issue 2 of 5</a:t>
            </a:r>
            <a:endParaRPr lang="en-US" sz="1200" dirty="0"/>
          </a:p>
        </p:txBody>
      </p:sp>
      <p:sp>
        <p:nvSpPr>
          <p:cNvPr id="4" name="Status At Risk"/>
          <p:cNvSpPr/>
          <p:nvPr/>
        </p:nvSpPr>
        <p:spPr>
          <a:xfrm>
            <a:off x="7818120" y="658368"/>
            <a:ext cx="777240" cy="237744"/>
          </a:xfrm>
          <a:prstGeom prst="rect">
            <a:avLst/>
          </a:prstGeom>
          <a:solidFill>
            <a:schemeClr val="accent6"/>
          </a:solidFill>
          <a:ln>
            <a:solidFill>
              <a:schemeClr val="accent6"/>
            </a:solidFill>
          </a:ln>
        </p:spPr>
        <p:txBody>
          <a:bodyPr wrap="square" lIns="0" tIns="0" rIns="0" bIns="0" rtlCol="0" anchor="ctr"/>
          <a:lstStyle/>
          <a:p>
            <a:pPr algn="ctr" indent="0" marL="0">
              <a:buNone/>
            </a:pPr>
            <a:r>
              <a:rPr lang="en-US" sz="1000" b="1" dirty="0">
                <a:solidFill>
                  <a:schemeClr val="bg1"/>
                </a:solidFill>
              </a:rPr>
              <a:t>At Risk</a:t>
            </a:r>
            <a:endParaRPr lang="en-US" sz="1000" dirty="0"/>
          </a:p>
        </p:txBody>
      </p:sp>
      <p:sp>
        <p:nvSpPr>
          <p:cNvPr id="5" name="Text 3"/>
          <p:cNvSpPr txBox="1"/>
          <p:nvPr/>
        </p:nvSpPr>
        <p:spPr>
          <a:xfrm>
            <a:off x="548640" y="1188720"/>
            <a:ext cx="3840480" cy="274320"/>
          </a:xfrm>
          <a:prstGeom prst="rect">
            <a:avLst/>
          </a:prstGeom>
          <a:noFill/>
          <a:ln/>
        </p:spPr>
        <p:txBody>
          <a:bodyPr wrap="square" lIns="0" tIns="0" rIns="0" bIns="0" rtlCol="0" anchor="t"/>
          <a:lstStyle/>
          <a:p>
            <a:pPr indent="0" marL="0">
              <a:buNone/>
            </a:pPr>
            <a:r>
              <a:rPr lang="en-US" sz="1400" b="1" dirty="0">
                <a:solidFill>
                  <a:schemeClr val="tx2"/>
                </a:solidFill>
              </a:rPr>
              <a:t>What Customers Report</a:t>
            </a:r>
            <a:endParaRPr lang="en-US" sz="1400" dirty="0"/>
          </a:p>
        </p:txBody>
      </p:sp>
      <p:sp>
        <p:nvSpPr>
          <p:cNvPr id="6" name="Shape 4"/>
          <p:cNvSpPr/>
          <p:nvPr/>
        </p:nvSpPr>
        <p:spPr>
          <a:xfrm>
            <a:off x="548640" y="1499616"/>
            <a:ext cx="3840480" cy="0"/>
          </a:xfrm>
          <a:prstGeom prst="line">
            <a:avLst/>
          </a:prstGeom>
          <a:noFill/>
          <a:ln w="12700">
            <a:solidFill>
              <a:schemeClr val="tx2"/>
            </a:solidFill>
            <a:prstDash val="solid"/>
          </a:ln>
        </p:spPr>
      </p:sp>
      <p:sp>
        <p:nvSpPr>
          <p:cNvPr id="7" name="Text 5"/>
          <p:cNvSpPr txBox="1"/>
          <p:nvPr/>
        </p:nvSpPr>
        <p:spPr>
          <a:xfrm>
            <a:off x="548640" y="1691640"/>
            <a:ext cx="3840480" cy="2743200"/>
          </a:xfrm>
          <a:prstGeom prst="rect">
            <a:avLst/>
          </a:prstGeom>
          <a:noFill/>
          <a:ln/>
        </p:spPr>
        <p:txBody>
          <a:bodyPr wrap="square" lIns="0" tIns="0" rIns="0" bIns="0" rtlCol="0" anchor="t"/>
          <a:lstStyle/>
          <a:p>
            <a:pPr marL="203200" indent="-203200">
              <a:spcAft>
                <a:spcPts val="900"/>
              </a:spcAft>
              <a:buSzPct val="100000"/>
              <a:buChar char="•"/>
            </a:pPr>
            <a:r>
              <a:rPr lang="en-US" sz="1500" dirty="0">
                <a:solidFill>
                  <a:schemeClr val="tx1"/>
                </a:solidFill>
              </a:rPr>
              <a:t>Building owners expect action on a claim within 24 hours.</a:t>
            </a:r>
            <a:endParaRPr lang="en-US" sz="1500" dirty="0"/>
          </a:p>
          <a:p>
            <a:pPr marL="203200" indent="-203200">
              <a:spcAft>
                <a:spcPts val="900"/>
              </a:spcAft>
              <a:buSzPct val="100000"/>
              <a:buChar char="•"/>
            </a:pPr>
            <a:r>
              <a:rPr lang="en-US" sz="1500" dirty="0">
                <a:solidFill>
                  <a:schemeClr val="tx1"/>
                </a:solidFill>
              </a:rPr>
              <a:t>Our claim responses do not meet that expectation.</a:t>
            </a:r>
            <a:endParaRPr lang="en-US" sz="1500" dirty="0"/>
          </a:p>
          <a:p>
            <a:pPr marL="203200" indent="-203200">
              <a:spcAft>
                <a:spcPts val="900"/>
              </a:spcAft>
              <a:buSzPct val="100000"/>
              <a:buChar char="•"/>
            </a:pPr>
            <a:r>
              <a:rPr lang="en-US" sz="1500" dirty="0">
                <a:solidFill>
                  <a:schemeClr val="tx1"/>
                </a:solidFill>
              </a:rPr>
              <a:t>Some manufacturers sign off on warranties without walking the site.</a:t>
            </a:r>
            <a:endParaRPr lang="en-US" sz="1500" dirty="0"/>
          </a:p>
        </p:txBody>
      </p:sp>
      <p:sp>
        <p:nvSpPr>
          <p:cNvPr id="8" name="Shape 6"/>
          <p:cNvSpPr/>
          <p:nvPr/>
        </p:nvSpPr>
        <p:spPr>
          <a:xfrm>
            <a:off x="4754880" y="1188720"/>
            <a:ext cx="3840480" cy="3200400"/>
          </a:xfrm>
          <a:prstGeom prst="rect">
            <a:avLst/>
          </a:prstGeom>
          <a:solidFill>
            <a:schemeClr val="bg2"/>
          </a:solidFill>
          <a:ln w="12700">
            <a:solidFill>
              <a:schemeClr val="bg2"/>
            </a:solidFill>
            <a:prstDash val="solid"/>
          </a:ln>
        </p:spPr>
      </p:sp>
      <p:sp>
        <p:nvSpPr>
          <p:cNvPr id="9" name="Text 7"/>
          <p:cNvSpPr txBox="1"/>
          <p:nvPr/>
        </p:nvSpPr>
        <p:spPr>
          <a:xfrm>
            <a:off x="4937760" y="1325880"/>
            <a:ext cx="3474720" cy="274320"/>
          </a:xfrm>
          <a:prstGeom prst="rect">
            <a:avLst/>
          </a:prstGeom>
          <a:noFill/>
          <a:ln/>
        </p:spPr>
        <p:txBody>
          <a:bodyPr wrap="square" lIns="0" tIns="0" rIns="0" bIns="0" rtlCol="0" anchor="t"/>
          <a:lstStyle/>
          <a:p>
            <a:pPr indent="0" marL="0">
              <a:buNone/>
            </a:pPr>
            <a:r>
              <a:rPr lang="en-US" sz="1400" b="1" dirty="0">
                <a:solidFill>
                  <a:schemeClr val="accent1"/>
                </a:solidFill>
              </a:rPr>
              <a:t>Recommended Actions</a:t>
            </a:r>
            <a:endParaRPr lang="en-US" sz="1400" dirty="0"/>
          </a:p>
        </p:txBody>
      </p:sp>
      <p:sp>
        <p:nvSpPr>
          <p:cNvPr id="10" name="Shape 8"/>
          <p:cNvSpPr/>
          <p:nvPr/>
        </p:nvSpPr>
        <p:spPr>
          <a:xfrm>
            <a:off x="4937760" y="1636776"/>
            <a:ext cx="3474720" cy="0"/>
          </a:xfrm>
          <a:prstGeom prst="line">
            <a:avLst/>
          </a:prstGeom>
          <a:noFill/>
          <a:ln w="12700">
            <a:solidFill>
              <a:schemeClr val="accent1"/>
            </a:solidFill>
            <a:prstDash val="solid"/>
          </a:ln>
        </p:spPr>
      </p:sp>
      <p:sp>
        <p:nvSpPr>
          <p:cNvPr id="11" name="Text 9"/>
          <p:cNvSpPr txBox="1"/>
          <p:nvPr/>
        </p:nvSpPr>
        <p:spPr>
          <a:xfrm>
            <a:off x="4937760" y="1828800"/>
            <a:ext cx="3474720" cy="2468880"/>
          </a:xfrm>
          <a:prstGeom prst="rect">
            <a:avLst/>
          </a:prstGeom>
          <a:noFill/>
          <a:ln/>
        </p:spPr>
        <p:txBody>
          <a:bodyPr wrap="square" lIns="0" tIns="0" rIns="0" bIns="0" rtlCol="0" anchor="t"/>
          <a:lstStyle/>
          <a:p>
            <a:pPr marL="203200" indent="-203200">
              <a:spcAft>
                <a:spcPts val="900"/>
              </a:spcAft>
              <a:buSzPct val="100000"/>
              <a:buChar char="•"/>
            </a:pPr>
            <a:r>
              <a:rPr lang="en-US" sz="1500" dirty="0">
                <a:solidFill>
                  <a:schemeClr val="tx1"/>
                </a:solidFill>
              </a:rPr>
              <a:t>Acknowledge every claim by email within 4 hours.</a:t>
            </a:r>
            <a:endParaRPr lang="en-US" sz="1500" dirty="0"/>
          </a:p>
          <a:p>
            <a:pPr marL="203200" indent="-203200">
              <a:spcAft>
                <a:spcPts val="900"/>
              </a:spcAft>
              <a:buSzPct val="100000"/>
              <a:buChar char="•"/>
            </a:pPr>
            <a:r>
              <a:rPr lang="en-US" sz="1500" dirty="0">
                <a:solidFill>
                  <a:schemeClr val="tx1"/>
                </a:solidFill>
              </a:rPr>
              <a:t>Complete a site visit within 4 days.</a:t>
            </a:r>
            <a:endParaRPr lang="en-US" sz="1500" dirty="0"/>
          </a:p>
          <a:p>
            <a:pPr marL="203200" indent="-203200">
              <a:spcAft>
                <a:spcPts val="900"/>
              </a:spcAft>
              <a:buSzPct val="100000"/>
              <a:buChar char="•"/>
            </a:pPr>
            <a:r>
              <a:rPr lang="en-US" sz="1500" dirty="0">
                <a:solidFill>
                  <a:schemeClr val="tx1"/>
                </a:solidFill>
              </a:rPr>
              <a:t>Sign off promptly, and walk the roof within the 2-year window while the roofer is responsible for leaks.</a:t>
            </a:r>
            <a:endParaRPr lang="en-US" sz="1500" dirty="0"/>
          </a:p>
          <a:p>
            <a:pPr marL="203200" indent="-203200">
              <a:spcAft>
                <a:spcPts val="900"/>
              </a:spcAft>
              <a:buSzPct val="100000"/>
              <a:buChar char="•"/>
            </a:pPr>
            <a:r>
              <a:rPr lang="en-US" sz="1500" dirty="0">
                <a:solidFill>
                  <a:schemeClr val="tx1"/>
                </a:solidFill>
              </a:rPr>
              <a:t>Batch sign-offs 3+ hours from base to reduce travel cost.</a:t>
            </a:r>
            <a:endParaRPr lang="en-US" sz="1500" dirty="0"/>
          </a:p>
        </p:txBody>
      </p:sp>
      <p:sp>
        <p:nvSpPr>
          <p:cNvPr id="25" name="Slide Number Placeholder 0"/>
          <p:cNvSpPr>
            <a:spLocks noGrp="1"/>
          </p:cNvSpPr>
          <p:nvPr>
            <p:ph type="sldNum" sz="quarter" idx="4294967295"/>
          </p:nvPr>
        </p:nvSpPr>
        <p:spPr>
          <a:xfrm>
            <a:off x="8229600" y="4681728"/>
            <a:ext cx="365760" cy="210312"/>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title" hasCustomPrompt="1"/>
          </p:nvPr>
        </p:nvSpPr>
        <p:spPr>
          <a:xfrm>
            <a:off x="548640" y="365760"/>
            <a:ext cx="6309360" cy="548640"/>
          </a:xfrm>
          <a:prstGeom prst="rect">
            <a:avLst/>
          </a:prstGeom>
          <a:noFill/>
          <a:ln/>
        </p:spPr>
        <p:txBody>
          <a:bodyPr wrap="square" lIns="0" tIns="0" rIns="0" bIns="0" rtlCol="0" anchor="t"/>
          <a:lstStyle/>
          <a:p>
            <a:pPr algn="l" indent="0" marL="0">
              <a:buNone/>
            </a:pPr>
            <a:r>
              <a:rPr lang="en-US" sz="2600" b="1" dirty="0">
                <a:solidFill>
                  <a:schemeClr val="tx2"/>
                </a:solidFill>
              </a:rPr>
              <a:t>Deliveries Are Unreliable</a:t>
            </a:r>
            <a:endParaRPr lang="en-US" sz="2600" dirty="0"/>
          </a:p>
        </p:txBody>
      </p:sp>
      <p:sp>
        <p:nvSpPr>
          <p:cNvPr id="3" name="Text 1"/>
          <p:cNvSpPr txBox="1"/>
          <p:nvPr/>
        </p:nvSpPr>
        <p:spPr>
          <a:xfrm>
            <a:off x="6949440" y="384048"/>
            <a:ext cx="1645920" cy="228600"/>
          </a:xfrm>
          <a:prstGeom prst="rect">
            <a:avLst/>
          </a:prstGeom>
          <a:noFill/>
          <a:ln/>
        </p:spPr>
        <p:txBody>
          <a:bodyPr wrap="square" lIns="0" tIns="0" rIns="0" bIns="0" rtlCol="0" anchor="t"/>
          <a:lstStyle/>
          <a:p>
            <a:pPr algn="r" indent="0" marL="0">
              <a:buNone/>
            </a:pPr>
            <a:r>
              <a:rPr lang="en-US" sz="1200" b="1" dirty="0">
                <a:solidFill>
                  <a:srgbClr val="5F5D5E"/>
                </a:solidFill>
              </a:rPr>
              <a:t>Issue 3 of 5</a:t>
            </a:r>
            <a:endParaRPr lang="en-US" sz="1200" dirty="0"/>
          </a:p>
        </p:txBody>
      </p:sp>
      <p:sp>
        <p:nvSpPr>
          <p:cNvPr id="4" name="Status Critical"/>
          <p:cNvSpPr/>
          <p:nvPr/>
        </p:nvSpPr>
        <p:spPr>
          <a:xfrm>
            <a:off x="7818120" y="658368"/>
            <a:ext cx="777240" cy="237744"/>
          </a:xfrm>
          <a:prstGeom prst="rect">
            <a:avLst/>
          </a:prstGeom>
          <a:solidFill>
            <a:schemeClr val="accent3"/>
          </a:solidFill>
          <a:ln>
            <a:solidFill>
              <a:schemeClr val="accent3"/>
            </a:solidFill>
          </a:ln>
        </p:spPr>
        <p:txBody>
          <a:bodyPr wrap="square" lIns="0" tIns="0" rIns="0" bIns="0" rtlCol="0" anchor="ctr"/>
          <a:lstStyle/>
          <a:p>
            <a:pPr algn="ctr" indent="0" marL="0">
              <a:buNone/>
            </a:pPr>
            <a:r>
              <a:rPr lang="en-US" sz="1000" b="1" dirty="0">
                <a:solidFill>
                  <a:schemeClr val="bg1"/>
                </a:solidFill>
              </a:rPr>
              <a:t>Critical</a:t>
            </a:r>
            <a:endParaRPr lang="en-US" sz="1000" dirty="0"/>
          </a:p>
        </p:txBody>
      </p:sp>
      <p:sp>
        <p:nvSpPr>
          <p:cNvPr id="5" name="Text 3"/>
          <p:cNvSpPr txBox="1"/>
          <p:nvPr/>
        </p:nvSpPr>
        <p:spPr>
          <a:xfrm>
            <a:off x="548640" y="1188720"/>
            <a:ext cx="3840480" cy="274320"/>
          </a:xfrm>
          <a:prstGeom prst="rect">
            <a:avLst/>
          </a:prstGeom>
          <a:noFill/>
          <a:ln/>
        </p:spPr>
        <p:txBody>
          <a:bodyPr wrap="square" lIns="0" tIns="0" rIns="0" bIns="0" rtlCol="0" anchor="t"/>
          <a:lstStyle/>
          <a:p>
            <a:pPr indent="0" marL="0">
              <a:buNone/>
            </a:pPr>
            <a:r>
              <a:rPr lang="en-US" sz="1400" b="1" dirty="0">
                <a:solidFill>
                  <a:schemeClr val="tx2"/>
                </a:solidFill>
              </a:rPr>
              <a:t>What Customers Report</a:t>
            </a:r>
            <a:endParaRPr lang="en-US" sz="1400" dirty="0"/>
          </a:p>
        </p:txBody>
      </p:sp>
      <p:sp>
        <p:nvSpPr>
          <p:cNvPr id="6" name="Shape 4"/>
          <p:cNvSpPr/>
          <p:nvPr/>
        </p:nvSpPr>
        <p:spPr>
          <a:xfrm>
            <a:off x="548640" y="1499616"/>
            <a:ext cx="3840480" cy="0"/>
          </a:xfrm>
          <a:prstGeom prst="line">
            <a:avLst/>
          </a:prstGeom>
          <a:noFill/>
          <a:ln w="12700">
            <a:solidFill>
              <a:schemeClr val="tx2"/>
            </a:solidFill>
            <a:prstDash val="solid"/>
          </a:ln>
        </p:spPr>
      </p:sp>
      <p:sp>
        <p:nvSpPr>
          <p:cNvPr id="7" name="Text 5"/>
          <p:cNvSpPr txBox="1"/>
          <p:nvPr/>
        </p:nvSpPr>
        <p:spPr>
          <a:xfrm>
            <a:off x="548640" y="1691640"/>
            <a:ext cx="3840480" cy="2743200"/>
          </a:xfrm>
          <a:prstGeom prst="rect">
            <a:avLst/>
          </a:prstGeom>
          <a:noFill/>
          <a:ln/>
        </p:spPr>
        <p:txBody>
          <a:bodyPr wrap="square" lIns="0" tIns="0" rIns="0" bIns="0" rtlCol="0" anchor="t"/>
          <a:lstStyle/>
          <a:p>
            <a:pPr marL="203200" indent="-203200">
              <a:spcAft>
                <a:spcPts val="900"/>
              </a:spcAft>
              <a:buSzPct val="100000"/>
              <a:buChar char="•"/>
            </a:pPr>
            <a:r>
              <a:rPr lang="en-US" sz="1500" dirty="0">
                <a:solidFill>
                  <a:schemeClr val="tx1"/>
                </a:solidFill>
              </a:rPr>
              <a:t>Material arrives days or a week early with no one there to accept it.</a:t>
            </a:r>
            <a:endParaRPr lang="en-US" sz="1500" dirty="0"/>
          </a:p>
          <a:p>
            <a:pPr marL="203200" indent="-203200">
              <a:spcAft>
                <a:spcPts val="900"/>
              </a:spcAft>
              <a:buSzPct val="100000"/>
              <a:buChar char="•"/>
            </a:pPr>
            <a:r>
              <a:rPr lang="en-US" sz="1500" dirty="0">
                <a:solidFill>
                  <a:schemeClr val="tx1"/>
                </a:solidFill>
              </a:rPr>
              <a:t>No delivery notice or tracking is provided.</a:t>
            </a:r>
            <a:endParaRPr lang="en-US" sz="1500" dirty="0"/>
          </a:p>
          <a:p>
            <a:pPr marL="203200" indent="-203200">
              <a:spcAft>
                <a:spcPts val="900"/>
              </a:spcAft>
              <a:buSzPct val="100000"/>
              <a:buChar char="•"/>
            </a:pPr>
            <a:r>
              <a:rPr lang="en-US" sz="1500" dirty="0">
                <a:solidFill>
                  <a:schemeClr val="tx1"/>
                </a:solidFill>
              </a:rPr>
              <a:t>If we can ship early, we do so without asking the customer.</a:t>
            </a:r>
            <a:endParaRPr lang="en-US" sz="1500" dirty="0"/>
          </a:p>
          <a:p>
            <a:pPr marL="203200" indent="-203200">
              <a:spcAft>
                <a:spcPts val="900"/>
              </a:spcAft>
              <a:buSzPct val="100000"/>
              <a:buChar char="•"/>
            </a:pPr>
            <a:r>
              <a:rPr lang="en-US" sz="1500" dirty="0">
                <a:solidFill>
                  <a:schemeClr val="tx1"/>
                </a:solidFill>
              </a:rPr>
              <a:t>It makes the roofer look bad and makes Henry and Carlisle look unprofessional.</a:t>
            </a:r>
            <a:endParaRPr lang="en-US" sz="1500" dirty="0"/>
          </a:p>
        </p:txBody>
      </p:sp>
      <p:sp>
        <p:nvSpPr>
          <p:cNvPr id="8" name="Shape 6"/>
          <p:cNvSpPr/>
          <p:nvPr/>
        </p:nvSpPr>
        <p:spPr>
          <a:xfrm>
            <a:off x="4754880" y="1188720"/>
            <a:ext cx="3840480" cy="3200400"/>
          </a:xfrm>
          <a:prstGeom prst="rect">
            <a:avLst/>
          </a:prstGeom>
          <a:solidFill>
            <a:schemeClr val="bg2"/>
          </a:solidFill>
          <a:ln w="12700">
            <a:solidFill>
              <a:schemeClr val="bg2"/>
            </a:solidFill>
            <a:prstDash val="solid"/>
          </a:ln>
        </p:spPr>
      </p:sp>
      <p:sp>
        <p:nvSpPr>
          <p:cNvPr id="9" name="Text 7"/>
          <p:cNvSpPr txBox="1"/>
          <p:nvPr/>
        </p:nvSpPr>
        <p:spPr>
          <a:xfrm>
            <a:off x="4937760" y="1325880"/>
            <a:ext cx="3474720" cy="274320"/>
          </a:xfrm>
          <a:prstGeom prst="rect">
            <a:avLst/>
          </a:prstGeom>
          <a:noFill/>
          <a:ln/>
        </p:spPr>
        <p:txBody>
          <a:bodyPr wrap="square" lIns="0" tIns="0" rIns="0" bIns="0" rtlCol="0" anchor="t"/>
          <a:lstStyle/>
          <a:p>
            <a:pPr indent="0" marL="0">
              <a:buNone/>
            </a:pPr>
            <a:r>
              <a:rPr lang="en-US" sz="1400" b="1" dirty="0">
                <a:solidFill>
                  <a:schemeClr val="accent1"/>
                </a:solidFill>
              </a:rPr>
              <a:t>Recommended Actions</a:t>
            </a:r>
            <a:endParaRPr lang="en-US" sz="1400" dirty="0"/>
          </a:p>
        </p:txBody>
      </p:sp>
      <p:sp>
        <p:nvSpPr>
          <p:cNvPr id="10" name="Shape 8"/>
          <p:cNvSpPr/>
          <p:nvPr/>
        </p:nvSpPr>
        <p:spPr>
          <a:xfrm>
            <a:off x="4937760" y="1636776"/>
            <a:ext cx="3474720" cy="0"/>
          </a:xfrm>
          <a:prstGeom prst="line">
            <a:avLst/>
          </a:prstGeom>
          <a:noFill/>
          <a:ln w="12700">
            <a:solidFill>
              <a:schemeClr val="accent1"/>
            </a:solidFill>
            <a:prstDash val="solid"/>
          </a:ln>
        </p:spPr>
      </p:sp>
      <p:sp>
        <p:nvSpPr>
          <p:cNvPr id="11" name="Text 9"/>
          <p:cNvSpPr txBox="1"/>
          <p:nvPr/>
        </p:nvSpPr>
        <p:spPr>
          <a:xfrm>
            <a:off x="4937760" y="1828800"/>
            <a:ext cx="3474720" cy="2468880"/>
          </a:xfrm>
          <a:prstGeom prst="rect">
            <a:avLst/>
          </a:prstGeom>
          <a:noFill/>
          <a:ln/>
        </p:spPr>
        <p:txBody>
          <a:bodyPr wrap="square" lIns="0" tIns="0" rIns="0" bIns="0" rtlCol="0" anchor="t"/>
          <a:lstStyle/>
          <a:p>
            <a:pPr marL="203200" indent="-203200">
              <a:spcAft>
                <a:spcPts val="900"/>
              </a:spcAft>
              <a:buSzPct val="100000"/>
              <a:buChar char="•"/>
            </a:pPr>
            <a:r>
              <a:rPr lang="en-US" sz="1500" dirty="0">
                <a:solidFill>
                  <a:schemeClr val="tx1"/>
                </a:solidFill>
              </a:rPr>
              <a:t>Notify the customer and get approval before shipping early.</a:t>
            </a:r>
            <a:endParaRPr lang="en-US" sz="1500" dirty="0"/>
          </a:p>
          <a:p>
            <a:pPr marL="203200" indent="-203200">
              <a:spcAft>
                <a:spcPts val="900"/>
              </a:spcAft>
              <a:buSzPct val="100000"/>
              <a:buChar char="•"/>
            </a:pPr>
            <a:r>
              <a:rPr lang="en-US" sz="1500" dirty="0">
                <a:solidFill>
                  <a:schemeClr val="tx1"/>
                </a:solidFill>
              </a:rPr>
              <a:t>Place trackers on pallets and share tracking.</a:t>
            </a:r>
            <a:endParaRPr lang="en-US" sz="1500" dirty="0"/>
          </a:p>
          <a:p>
            <a:pPr marL="203200" indent="-203200">
              <a:spcAft>
                <a:spcPts val="900"/>
              </a:spcAft>
              <a:buSzPct val="100000"/>
              <a:buChar char="•"/>
            </a:pPr>
            <a:r>
              <a:rPr lang="en-US" sz="1500" dirty="0">
                <a:solidFill>
                  <a:schemeClr val="tx1"/>
                </a:solidFill>
              </a:rPr>
              <a:t>CS provides daily updates without being asked.</a:t>
            </a:r>
            <a:endParaRPr lang="en-US" sz="1500" dirty="0"/>
          </a:p>
          <a:p>
            <a:pPr marL="203200" indent="-203200">
              <a:spcAft>
                <a:spcPts val="900"/>
              </a:spcAft>
              <a:buSzPct val="100000"/>
              <a:buChar char="•"/>
            </a:pPr>
            <a:r>
              <a:rPr lang="en-US" sz="1500" dirty="0">
                <a:solidFill>
                  <a:schemeClr val="tx1"/>
                </a:solidFill>
              </a:rPr>
              <a:t>Move roofers to distribution and determine how to honor their pricing.</a:t>
            </a:r>
            <a:endParaRPr lang="en-US" sz="1500" dirty="0"/>
          </a:p>
        </p:txBody>
      </p:sp>
      <p:sp>
        <p:nvSpPr>
          <p:cNvPr id="25" name="Slide Number Placeholder 0"/>
          <p:cNvSpPr>
            <a:spLocks noGrp="1"/>
          </p:cNvSpPr>
          <p:nvPr>
            <p:ph type="sldNum" sz="quarter" idx="4294967295"/>
          </p:nvPr>
        </p:nvSpPr>
        <p:spPr>
          <a:xfrm>
            <a:off x="8229600" y="4681728"/>
            <a:ext cx="365760" cy="210312"/>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title" hasCustomPrompt="1"/>
          </p:nvPr>
        </p:nvSpPr>
        <p:spPr>
          <a:xfrm>
            <a:off x="548640" y="365760"/>
            <a:ext cx="6309360" cy="548640"/>
          </a:xfrm>
          <a:prstGeom prst="rect">
            <a:avLst/>
          </a:prstGeom>
          <a:noFill/>
          <a:ln/>
        </p:spPr>
        <p:txBody>
          <a:bodyPr wrap="square" lIns="0" tIns="0" rIns="0" bIns="0" rtlCol="0" anchor="t"/>
          <a:lstStyle/>
          <a:p>
            <a:pPr algn="l" indent="0" marL="0">
              <a:buNone/>
            </a:pPr>
            <a:r>
              <a:rPr lang="en-US" sz="2600" b="1" dirty="0">
                <a:solidFill>
                  <a:schemeClr val="tx2"/>
                </a:solidFill>
              </a:rPr>
              <a:t>Accessories Are Not Ready to Ship</a:t>
            </a:r>
            <a:endParaRPr lang="en-US" sz="2600" dirty="0"/>
          </a:p>
        </p:txBody>
      </p:sp>
      <p:sp>
        <p:nvSpPr>
          <p:cNvPr id="3" name="Text 1"/>
          <p:cNvSpPr txBox="1"/>
          <p:nvPr/>
        </p:nvSpPr>
        <p:spPr>
          <a:xfrm>
            <a:off x="6949440" y="384048"/>
            <a:ext cx="1645920" cy="228600"/>
          </a:xfrm>
          <a:prstGeom prst="rect">
            <a:avLst/>
          </a:prstGeom>
          <a:noFill/>
          <a:ln/>
        </p:spPr>
        <p:txBody>
          <a:bodyPr wrap="square" lIns="0" tIns="0" rIns="0" bIns="0" rtlCol="0" anchor="t"/>
          <a:lstStyle/>
          <a:p>
            <a:pPr algn="r" indent="0" marL="0">
              <a:buNone/>
            </a:pPr>
            <a:r>
              <a:rPr lang="en-US" sz="1200" b="1" dirty="0">
                <a:solidFill>
                  <a:srgbClr val="5F5D5E"/>
                </a:solidFill>
              </a:rPr>
              <a:t>Issue 4 of 5</a:t>
            </a:r>
            <a:endParaRPr lang="en-US" sz="1200" dirty="0"/>
          </a:p>
        </p:txBody>
      </p:sp>
      <p:sp>
        <p:nvSpPr>
          <p:cNvPr id="4" name="Status At Risk"/>
          <p:cNvSpPr/>
          <p:nvPr/>
        </p:nvSpPr>
        <p:spPr>
          <a:xfrm>
            <a:off x="7818120" y="658368"/>
            <a:ext cx="777240" cy="237744"/>
          </a:xfrm>
          <a:prstGeom prst="rect">
            <a:avLst/>
          </a:prstGeom>
          <a:solidFill>
            <a:schemeClr val="accent6"/>
          </a:solidFill>
          <a:ln>
            <a:solidFill>
              <a:schemeClr val="accent6"/>
            </a:solidFill>
          </a:ln>
        </p:spPr>
        <p:txBody>
          <a:bodyPr wrap="square" lIns="0" tIns="0" rIns="0" bIns="0" rtlCol="0" anchor="ctr"/>
          <a:lstStyle/>
          <a:p>
            <a:pPr algn="ctr" indent="0" marL="0">
              <a:buNone/>
            </a:pPr>
            <a:r>
              <a:rPr lang="en-US" sz="1000" b="1" dirty="0">
                <a:solidFill>
                  <a:schemeClr val="bg1"/>
                </a:solidFill>
              </a:rPr>
              <a:t>At Risk</a:t>
            </a:r>
            <a:endParaRPr lang="en-US" sz="1000" dirty="0"/>
          </a:p>
        </p:txBody>
      </p:sp>
      <p:sp>
        <p:nvSpPr>
          <p:cNvPr id="5" name="Text 3"/>
          <p:cNvSpPr txBox="1"/>
          <p:nvPr/>
        </p:nvSpPr>
        <p:spPr>
          <a:xfrm>
            <a:off x="548640" y="1188720"/>
            <a:ext cx="3840480" cy="274320"/>
          </a:xfrm>
          <a:prstGeom prst="rect">
            <a:avLst/>
          </a:prstGeom>
          <a:noFill/>
          <a:ln/>
        </p:spPr>
        <p:txBody>
          <a:bodyPr wrap="square" lIns="0" tIns="0" rIns="0" bIns="0" rtlCol="0" anchor="t"/>
          <a:lstStyle/>
          <a:p>
            <a:pPr indent="0" marL="0">
              <a:buNone/>
            </a:pPr>
            <a:r>
              <a:rPr lang="en-US" sz="1400" b="1" dirty="0">
                <a:solidFill>
                  <a:schemeClr val="tx2"/>
                </a:solidFill>
              </a:rPr>
              <a:t>What Customers Report</a:t>
            </a:r>
            <a:endParaRPr lang="en-US" sz="1400" dirty="0"/>
          </a:p>
        </p:txBody>
      </p:sp>
      <p:sp>
        <p:nvSpPr>
          <p:cNvPr id="6" name="Shape 4"/>
          <p:cNvSpPr/>
          <p:nvPr/>
        </p:nvSpPr>
        <p:spPr>
          <a:xfrm>
            <a:off x="548640" y="1499616"/>
            <a:ext cx="3840480" cy="0"/>
          </a:xfrm>
          <a:prstGeom prst="line">
            <a:avLst/>
          </a:prstGeom>
          <a:noFill/>
          <a:ln w="12700">
            <a:solidFill>
              <a:schemeClr val="tx2"/>
            </a:solidFill>
            <a:prstDash val="solid"/>
          </a:ln>
        </p:spPr>
      </p:sp>
      <p:sp>
        <p:nvSpPr>
          <p:cNvPr id="7" name="Text 5"/>
          <p:cNvSpPr txBox="1"/>
          <p:nvPr/>
        </p:nvSpPr>
        <p:spPr>
          <a:xfrm>
            <a:off x="548640" y="1691640"/>
            <a:ext cx="3840480" cy="2743200"/>
          </a:xfrm>
          <a:prstGeom prst="rect">
            <a:avLst/>
          </a:prstGeom>
          <a:noFill/>
          <a:ln/>
        </p:spPr>
        <p:txBody>
          <a:bodyPr wrap="square" lIns="0" tIns="0" rIns="0" bIns="0" rtlCol="0" anchor="t"/>
          <a:lstStyle/>
          <a:p>
            <a:pPr marL="203200" indent="-203200">
              <a:spcAft>
                <a:spcPts val="900"/>
              </a:spcAft>
              <a:buSzPct val="100000"/>
              <a:buChar char="•"/>
            </a:pPr>
            <a:r>
              <a:rPr lang="en-US" sz="1500" dirty="0">
                <a:solidFill>
                  <a:schemeClr val="tx1"/>
                </a:solidFill>
              </a:rPr>
              <a:t>We can have trucks of 988, but without primer the job cannot start.</a:t>
            </a:r>
            <a:endParaRPr lang="en-US" sz="1500" dirty="0"/>
          </a:p>
          <a:p>
            <a:pPr marL="203200" indent="-203200">
              <a:spcAft>
                <a:spcPts val="900"/>
              </a:spcAft>
              <a:buSzPct val="100000"/>
              <a:buChar char="•"/>
            </a:pPr>
            <a:r>
              <a:rPr lang="en-US" sz="1500" dirty="0">
                <a:solidFill>
                  <a:schemeClr val="tx1"/>
                </a:solidFill>
              </a:rPr>
              <a:t>Accessories (primer, bleed blockers, mastics) are not reliably on hand. This is a long-standing issue.</a:t>
            </a:r>
            <a:endParaRPr lang="en-US" sz="1500" dirty="0"/>
          </a:p>
          <a:p>
            <a:pPr marL="203200" indent="-203200">
              <a:spcAft>
                <a:spcPts val="900"/>
              </a:spcAft>
              <a:buSzPct val="100000"/>
              <a:buChar char="•"/>
            </a:pPr>
            <a:r>
              <a:rPr lang="en-US" sz="1500" dirty="0">
                <a:solidFill>
                  <a:schemeClr val="tx1"/>
                </a:solidFill>
              </a:rPr>
              <a:t>System gaps: no sprayable seam sealer for silicone; no cementitious coating for Arizona.</a:t>
            </a:r>
            <a:endParaRPr lang="en-US" sz="1500" dirty="0"/>
          </a:p>
        </p:txBody>
      </p:sp>
      <p:sp>
        <p:nvSpPr>
          <p:cNvPr id="8" name="Shape 6"/>
          <p:cNvSpPr/>
          <p:nvPr/>
        </p:nvSpPr>
        <p:spPr>
          <a:xfrm>
            <a:off x="4754880" y="1188720"/>
            <a:ext cx="3840480" cy="3200400"/>
          </a:xfrm>
          <a:prstGeom prst="rect">
            <a:avLst/>
          </a:prstGeom>
          <a:solidFill>
            <a:schemeClr val="bg2"/>
          </a:solidFill>
          <a:ln w="12700">
            <a:solidFill>
              <a:schemeClr val="bg2"/>
            </a:solidFill>
            <a:prstDash val="solid"/>
          </a:ln>
        </p:spPr>
      </p:sp>
      <p:sp>
        <p:nvSpPr>
          <p:cNvPr id="9" name="Text 7"/>
          <p:cNvSpPr txBox="1"/>
          <p:nvPr/>
        </p:nvSpPr>
        <p:spPr>
          <a:xfrm>
            <a:off x="4937760" y="1325880"/>
            <a:ext cx="3474720" cy="274320"/>
          </a:xfrm>
          <a:prstGeom prst="rect">
            <a:avLst/>
          </a:prstGeom>
          <a:noFill/>
          <a:ln/>
        </p:spPr>
        <p:txBody>
          <a:bodyPr wrap="square" lIns="0" tIns="0" rIns="0" bIns="0" rtlCol="0" anchor="t"/>
          <a:lstStyle/>
          <a:p>
            <a:pPr indent="0" marL="0">
              <a:buNone/>
            </a:pPr>
            <a:r>
              <a:rPr lang="en-US" sz="1400" b="1" dirty="0">
                <a:solidFill>
                  <a:schemeClr val="accent1"/>
                </a:solidFill>
              </a:rPr>
              <a:t>Recommended Actions</a:t>
            </a:r>
            <a:endParaRPr lang="en-US" sz="1400" dirty="0"/>
          </a:p>
        </p:txBody>
      </p:sp>
      <p:sp>
        <p:nvSpPr>
          <p:cNvPr id="10" name="Shape 8"/>
          <p:cNvSpPr/>
          <p:nvPr/>
        </p:nvSpPr>
        <p:spPr>
          <a:xfrm>
            <a:off x="4937760" y="1636776"/>
            <a:ext cx="3474720" cy="0"/>
          </a:xfrm>
          <a:prstGeom prst="line">
            <a:avLst/>
          </a:prstGeom>
          <a:noFill/>
          <a:ln w="12700">
            <a:solidFill>
              <a:schemeClr val="accent1"/>
            </a:solidFill>
            <a:prstDash val="solid"/>
          </a:ln>
        </p:spPr>
      </p:sp>
      <p:sp>
        <p:nvSpPr>
          <p:cNvPr id="11" name="Text 9"/>
          <p:cNvSpPr txBox="1"/>
          <p:nvPr/>
        </p:nvSpPr>
        <p:spPr>
          <a:xfrm>
            <a:off x="4937760" y="1828800"/>
            <a:ext cx="3474720" cy="2468880"/>
          </a:xfrm>
          <a:prstGeom prst="rect">
            <a:avLst/>
          </a:prstGeom>
          <a:noFill/>
          <a:ln/>
        </p:spPr>
        <p:txBody>
          <a:bodyPr wrap="square" lIns="0" tIns="0" rIns="0" bIns="0" rtlCol="0" anchor="t"/>
          <a:lstStyle/>
          <a:p>
            <a:pPr marL="203200" indent="-203200">
              <a:spcAft>
                <a:spcPts val="900"/>
              </a:spcAft>
              <a:buSzPct val="100000"/>
              <a:buChar char="•"/>
            </a:pPr>
            <a:r>
              <a:rPr lang="en-US" sz="1500" dirty="0">
                <a:solidFill>
                  <a:schemeClr val="tx1"/>
                </a:solidFill>
              </a:rPr>
              <a:t>Raise minimum stock levels for accessories.</a:t>
            </a:r>
            <a:endParaRPr lang="en-US" sz="1500" dirty="0"/>
          </a:p>
          <a:p>
            <a:pPr marL="203200" indent="-203200">
              <a:spcAft>
                <a:spcPts val="900"/>
              </a:spcAft>
              <a:buSzPct val="100000"/>
              <a:buChar char="•"/>
            </a:pPr>
            <a:r>
              <a:rPr lang="en-US" sz="1500" dirty="0">
                <a:solidFill>
                  <a:schemeClr val="tx1"/>
                </a:solidFill>
              </a:rPr>
              <a:t>Increase production ahead of known storms and weather.</a:t>
            </a:r>
            <a:endParaRPr lang="en-US" sz="1500" dirty="0"/>
          </a:p>
          <a:p>
            <a:pPr marL="203200" indent="-203200">
              <a:spcAft>
                <a:spcPts val="900"/>
              </a:spcAft>
              <a:buSzPct val="100000"/>
              <a:buChar char="•"/>
            </a:pPr>
            <a:r>
              <a:rPr lang="en-US" sz="1500" dirty="0">
                <a:solidFill>
                  <a:schemeClr val="tx1"/>
                </a:solidFill>
              </a:rPr>
              <a:t>Have all job-start material ready to ship within 48 hours.</a:t>
            </a:r>
            <a:endParaRPr lang="en-US" sz="1500" dirty="0"/>
          </a:p>
          <a:p>
            <a:pPr marL="203200" indent="-203200">
              <a:spcAft>
                <a:spcPts val="900"/>
              </a:spcAft>
              <a:buSzPct val="100000"/>
              <a:buChar char="•"/>
            </a:pPr>
            <a:r>
              <a:rPr lang="en-US" sz="1500" dirty="0">
                <a:solidFill>
                  <a:schemeClr val="tx1"/>
                </a:solidFill>
              </a:rPr>
              <a:t>Assign an owner to close the product gaps.</a:t>
            </a:r>
            <a:endParaRPr lang="en-US" sz="1500" dirty="0"/>
          </a:p>
        </p:txBody>
      </p:sp>
      <p:sp>
        <p:nvSpPr>
          <p:cNvPr id="25" name="Slide Number Placeholder 0"/>
          <p:cNvSpPr>
            <a:spLocks noGrp="1"/>
          </p:cNvSpPr>
          <p:nvPr>
            <p:ph type="sldNum" sz="quarter" idx="4294967295"/>
          </p:nvPr>
        </p:nvSpPr>
        <p:spPr>
          <a:xfrm>
            <a:off x="8229600" y="4681728"/>
            <a:ext cx="365760" cy="210312"/>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title" hasCustomPrompt="1"/>
          </p:nvPr>
        </p:nvSpPr>
        <p:spPr>
          <a:xfrm>
            <a:off x="548640" y="365760"/>
            <a:ext cx="6309360" cy="548640"/>
          </a:xfrm>
          <a:prstGeom prst="rect">
            <a:avLst/>
          </a:prstGeom>
          <a:noFill/>
          <a:ln/>
        </p:spPr>
        <p:txBody>
          <a:bodyPr wrap="square" lIns="0" tIns="0" rIns="0" bIns="0" rtlCol="0" anchor="t"/>
          <a:lstStyle/>
          <a:p>
            <a:pPr algn="l" indent="0" marL="0">
              <a:buNone/>
            </a:pPr>
            <a:r>
              <a:rPr lang="en-US" sz="2600" b="1" dirty="0">
                <a:solidFill>
                  <a:schemeClr val="tx2"/>
                </a:solidFill>
              </a:rPr>
              <a:t>Lead Quality Is Strong; Volume Is Low</a:t>
            </a:r>
            <a:endParaRPr lang="en-US" sz="2600" dirty="0"/>
          </a:p>
        </p:txBody>
      </p:sp>
      <p:sp>
        <p:nvSpPr>
          <p:cNvPr id="3" name="Text 1"/>
          <p:cNvSpPr txBox="1"/>
          <p:nvPr/>
        </p:nvSpPr>
        <p:spPr>
          <a:xfrm>
            <a:off x="6949440" y="384048"/>
            <a:ext cx="1645920" cy="228600"/>
          </a:xfrm>
          <a:prstGeom prst="rect">
            <a:avLst/>
          </a:prstGeom>
          <a:noFill/>
          <a:ln/>
        </p:spPr>
        <p:txBody>
          <a:bodyPr wrap="square" lIns="0" tIns="0" rIns="0" bIns="0" rtlCol="0" anchor="t"/>
          <a:lstStyle/>
          <a:p>
            <a:pPr algn="r" indent="0" marL="0">
              <a:buNone/>
            </a:pPr>
            <a:r>
              <a:rPr lang="en-US" sz="1200" b="1" dirty="0">
                <a:solidFill>
                  <a:srgbClr val="5F5D5E"/>
                </a:solidFill>
              </a:rPr>
              <a:t>Issue 5 of 5</a:t>
            </a:r>
            <a:endParaRPr lang="en-US" sz="1200" dirty="0"/>
          </a:p>
        </p:txBody>
      </p:sp>
      <p:sp>
        <p:nvSpPr>
          <p:cNvPr id="4" name="Status Watch"/>
          <p:cNvSpPr/>
          <p:nvPr/>
        </p:nvSpPr>
        <p:spPr>
          <a:xfrm>
            <a:off x="7818120" y="658368"/>
            <a:ext cx="777240" cy="237744"/>
          </a:xfrm>
          <a:prstGeom prst="rect">
            <a:avLst/>
          </a:prstGeom>
          <a:solidFill>
            <a:schemeClr val="accent5"/>
          </a:solidFill>
          <a:ln>
            <a:solidFill>
              <a:schemeClr val="accent5"/>
            </a:solidFill>
          </a:ln>
        </p:spPr>
        <p:txBody>
          <a:bodyPr wrap="square" lIns="0" tIns="0" rIns="0" bIns="0" rtlCol="0" anchor="ctr"/>
          <a:lstStyle/>
          <a:p>
            <a:pPr algn="ctr" indent="0" marL="0">
              <a:buNone/>
            </a:pPr>
            <a:r>
              <a:rPr lang="en-US" sz="1000" b="1" dirty="0">
                <a:solidFill>
                  <a:schemeClr val="tx1"/>
                </a:solidFill>
              </a:rPr>
              <a:t>Watch</a:t>
            </a:r>
            <a:endParaRPr lang="en-US" sz="1000" dirty="0"/>
          </a:p>
        </p:txBody>
      </p:sp>
      <p:sp>
        <p:nvSpPr>
          <p:cNvPr id="5" name="Text 3"/>
          <p:cNvSpPr txBox="1"/>
          <p:nvPr/>
        </p:nvSpPr>
        <p:spPr>
          <a:xfrm>
            <a:off x="548640" y="1188720"/>
            <a:ext cx="3840480" cy="274320"/>
          </a:xfrm>
          <a:prstGeom prst="rect">
            <a:avLst/>
          </a:prstGeom>
          <a:noFill/>
          <a:ln/>
        </p:spPr>
        <p:txBody>
          <a:bodyPr wrap="square" lIns="0" tIns="0" rIns="0" bIns="0" rtlCol="0" anchor="t"/>
          <a:lstStyle/>
          <a:p>
            <a:pPr indent="0" marL="0">
              <a:buNone/>
            </a:pPr>
            <a:r>
              <a:rPr lang="en-US" sz="1400" b="1" dirty="0">
                <a:solidFill>
                  <a:schemeClr val="tx2"/>
                </a:solidFill>
              </a:rPr>
              <a:t>What Customers Report</a:t>
            </a:r>
            <a:endParaRPr lang="en-US" sz="1400" dirty="0"/>
          </a:p>
        </p:txBody>
      </p:sp>
      <p:sp>
        <p:nvSpPr>
          <p:cNvPr id="6" name="Shape 4"/>
          <p:cNvSpPr/>
          <p:nvPr/>
        </p:nvSpPr>
        <p:spPr>
          <a:xfrm>
            <a:off x="548640" y="1499616"/>
            <a:ext cx="3840480" cy="0"/>
          </a:xfrm>
          <a:prstGeom prst="line">
            <a:avLst/>
          </a:prstGeom>
          <a:noFill/>
          <a:ln w="12700">
            <a:solidFill>
              <a:schemeClr val="tx2"/>
            </a:solidFill>
            <a:prstDash val="solid"/>
          </a:ln>
        </p:spPr>
      </p:sp>
      <p:sp>
        <p:nvSpPr>
          <p:cNvPr id="7" name="Text 5"/>
          <p:cNvSpPr txBox="1"/>
          <p:nvPr/>
        </p:nvSpPr>
        <p:spPr>
          <a:xfrm>
            <a:off x="548640" y="1691640"/>
            <a:ext cx="3840480" cy="2743200"/>
          </a:xfrm>
          <a:prstGeom prst="rect">
            <a:avLst/>
          </a:prstGeom>
          <a:noFill/>
          <a:ln/>
        </p:spPr>
        <p:txBody>
          <a:bodyPr wrap="square" lIns="0" tIns="0" rIns="0" bIns="0" rtlCol="0" anchor="t"/>
          <a:lstStyle/>
          <a:p>
            <a:pPr marL="203200" indent="-203200">
              <a:spcAft>
                <a:spcPts val="900"/>
              </a:spcAft>
              <a:buSzPct val="100000"/>
              <a:buChar char="•"/>
            </a:pPr>
            <a:r>
              <a:rPr lang="en-US" sz="1500" dirty="0">
                <a:solidFill>
                  <a:schemeClr val="tx1"/>
                </a:solidFill>
              </a:rPr>
              <a:t>National account leads close at a high rate; Facebook and website leads often do not.</a:t>
            </a:r>
            <a:endParaRPr lang="en-US" sz="1500" dirty="0"/>
          </a:p>
          <a:p>
            <a:pPr marL="203200" indent="-203200">
              <a:spcAft>
                <a:spcPts val="900"/>
              </a:spcAft>
              <a:buSzPct val="100000"/>
              <a:buChar char="•"/>
            </a:pPr>
            <a:r>
              <a:rPr lang="en-US" sz="1500" dirty="0">
                <a:solidFill>
                  <a:schemeClr val="tx1"/>
                </a:solidFill>
              </a:rPr>
              <a:t>Sherwin-Williams provides more leads through its paint contracts.</a:t>
            </a:r>
            <a:endParaRPr lang="en-US" sz="1500" dirty="0"/>
          </a:p>
          <a:p>
            <a:pPr marL="203200" indent="-203200">
              <a:spcAft>
                <a:spcPts val="900"/>
              </a:spcAft>
              <a:buSzPct val="100000"/>
              <a:buChar char="•"/>
            </a:pPr>
            <a:r>
              <a:rPr lang="en-US" sz="1500" dirty="0">
                <a:solidFill>
                  <a:schemeClr val="tx1"/>
                </a:solidFill>
              </a:rPr>
              <a:t>Some manufacturers offer contractors discounted thermal moisture surveys.</a:t>
            </a:r>
            <a:endParaRPr lang="en-US" sz="1500" dirty="0"/>
          </a:p>
        </p:txBody>
      </p:sp>
      <p:sp>
        <p:nvSpPr>
          <p:cNvPr id="8" name="Shape 6"/>
          <p:cNvSpPr/>
          <p:nvPr/>
        </p:nvSpPr>
        <p:spPr>
          <a:xfrm>
            <a:off x="4754880" y="1188720"/>
            <a:ext cx="3840480" cy="3200400"/>
          </a:xfrm>
          <a:prstGeom prst="rect">
            <a:avLst/>
          </a:prstGeom>
          <a:solidFill>
            <a:schemeClr val="bg2"/>
          </a:solidFill>
          <a:ln w="12700">
            <a:solidFill>
              <a:schemeClr val="bg2"/>
            </a:solidFill>
            <a:prstDash val="solid"/>
          </a:ln>
        </p:spPr>
      </p:sp>
      <p:sp>
        <p:nvSpPr>
          <p:cNvPr id="9" name="Text 7"/>
          <p:cNvSpPr txBox="1"/>
          <p:nvPr/>
        </p:nvSpPr>
        <p:spPr>
          <a:xfrm>
            <a:off x="4937760" y="1325880"/>
            <a:ext cx="3474720" cy="274320"/>
          </a:xfrm>
          <a:prstGeom prst="rect">
            <a:avLst/>
          </a:prstGeom>
          <a:noFill/>
          <a:ln/>
        </p:spPr>
        <p:txBody>
          <a:bodyPr wrap="square" lIns="0" tIns="0" rIns="0" bIns="0" rtlCol="0" anchor="t"/>
          <a:lstStyle/>
          <a:p>
            <a:pPr indent="0" marL="0">
              <a:buNone/>
            </a:pPr>
            <a:r>
              <a:rPr lang="en-US" sz="1400" b="1" dirty="0">
                <a:solidFill>
                  <a:schemeClr val="accent1"/>
                </a:solidFill>
              </a:rPr>
              <a:t>Recommended Actions</a:t>
            </a:r>
            <a:endParaRPr lang="en-US" sz="1400" dirty="0"/>
          </a:p>
        </p:txBody>
      </p:sp>
      <p:sp>
        <p:nvSpPr>
          <p:cNvPr id="10" name="Shape 8"/>
          <p:cNvSpPr/>
          <p:nvPr/>
        </p:nvSpPr>
        <p:spPr>
          <a:xfrm>
            <a:off x="4937760" y="1636776"/>
            <a:ext cx="3474720" cy="0"/>
          </a:xfrm>
          <a:prstGeom prst="line">
            <a:avLst/>
          </a:prstGeom>
          <a:noFill/>
          <a:ln w="12700">
            <a:solidFill>
              <a:schemeClr val="accent1"/>
            </a:solidFill>
            <a:prstDash val="solid"/>
          </a:ln>
        </p:spPr>
      </p:sp>
      <p:sp>
        <p:nvSpPr>
          <p:cNvPr id="11" name="Text 9"/>
          <p:cNvSpPr txBox="1"/>
          <p:nvPr/>
        </p:nvSpPr>
        <p:spPr>
          <a:xfrm>
            <a:off x="4937760" y="1828800"/>
            <a:ext cx="3474720" cy="2468880"/>
          </a:xfrm>
          <a:prstGeom prst="rect">
            <a:avLst/>
          </a:prstGeom>
          <a:noFill/>
          <a:ln/>
        </p:spPr>
        <p:txBody>
          <a:bodyPr wrap="square" lIns="0" tIns="0" rIns="0" bIns="0" rtlCol="0" anchor="t"/>
          <a:lstStyle/>
          <a:p>
            <a:pPr marL="203200" indent="-203200">
              <a:spcAft>
                <a:spcPts val="900"/>
              </a:spcAft>
              <a:buSzPct val="100000"/>
              <a:buChar char="•"/>
            </a:pPr>
            <a:r>
              <a:rPr lang="en-US" sz="1500" dirty="0">
                <a:solidFill>
                  <a:schemeClr val="tx1"/>
                </a:solidFill>
              </a:rPr>
              <a:t>Collaborate with other Henry divisions on leads.</a:t>
            </a:r>
            <a:endParaRPr lang="en-US" sz="1500" dirty="0"/>
          </a:p>
          <a:p>
            <a:pPr marL="203200" indent="-203200">
              <a:spcAft>
                <a:spcPts val="900"/>
              </a:spcAft>
              <a:buSzPct val="100000"/>
              <a:buChar char="•"/>
            </a:pPr>
            <a:r>
              <a:rPr lang="en-US" sz="1500" dirty="0">
                <a:solidFill>
                  <a:schemeClr val="tx1"/>
                </a:solidFill>
              </a:rPr>
              <a:t>Free the national accounts team from firefighting and CS work so it can generate leads.</a:t>
            </a:r>
            <a:endParaRPr lang="en-US" sz="1500" dirty="0"/>
          </a:p>
          <a:p>
            <a:pPr marL="203200" indent="-203200">
              <a:spcAft>
                <a:spcPts val="900"/>
              </a:spcAft>
              <a:buSzPct val="100000"/>
              <a:buChar char="•"/>
            </a:pPr>
            <a:r>
              <a:rPr lang="en-US" sz="1500" dirty="0">
                <a:solidFill>
                  <a:schemeClr val="tx1"/>
                </a:solidFill>
              </a:rPr>
              <a:t>Moisture surveys: John T Hull.</a:t>
            </a:r>
            <a:endParaRPr lang="en-US" sz="1500" dirty="0"/>
          </a:p>
        </p:txBody>
      </p:sp>
      <p:sp>
        <p:nvSpPr>
          <p:cNvPr id="25" name="Slide Number Placeholder 0"/>
          <p:cNvSpPr>
            <a:spLocks noGrp="1"/>
          </p:cNvSpPr>
          <p:nvPr>
            <p:ph type="sldNum" sz="quarter" idx="4294967295"/>
          </p:nvPr>
        </p:nvSpPr>
        <p:spPr>
          <a:xfrm>
            <a:off x="8229600" y="4681728"/>
            <a:ext cx="365760" cy="210312"/>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title" hasCustomPrompt="1"/>
          </p:nvPr>
        </p:nvSpPr>
        <p:spPr>
          <a:xfrm>
            <a:off x="548640" y="365760"/>
            <a:ext cx="8046720" cy="548640"/>
          </a:xfrm>
          <a:prstGeom prst="rect">
            <a:avLst/>
          </a:prstGeom>
          <a:noFill/>
          <a:ln/>
        </p:spPr>
        <p:txBody>
          <a:bodyPr wrap="square" lIns="0" tIns="0" rIns="0" bIns="0" rtlCol="0" anchor="t"/>
          <a:lstStyle/>
          <a:p>
            <a:pPr algn="l" indent="0" marL="0">
              <a:buNone/>
            </a:pPr>
            <a:r>
              <a:rPr lang="en-US" sz="2600" b="1" dirty="0">
                <a:solidFill>
                  <a:schemeClr val="tx2"/>
                </a:solidFill>
              </a:rPr>
              <a:t>Strengths to Protect</a:t>
            </a:r>
            <a:endParaRPr lang="en-US" sz="2600" dirty="0"/>
          </a:p>
        </p:txBody>
      </p:sp>
      <p:sp>
        <p:nvSpPr>
          <p:cNvPr id="3" name="Text 1"/>
          <p:cNvSpPr txBox="1"/>
          <p:nvPr/>
        </p:nvSpPr>
        <p:spPr>
          <a:xfrm>
            <a:off x="548640" y="960120"/>
            <a:ext cx="8046720" cy="274320"/>
          </a:xfrm>
          <a:prstGeom prst="rect">
            <a:avLst/>
          </a:prstGeom>
          <a:noFill/>
          <a:ln/>
        </p:spPr>
        <p:txBody>
          <a:bodyPr wrap="square" lIns="0" tIns="0" rIns="0" bIns="0" rtlCol="0" anchor="t"/>
          <a:lstStyle/>
          <a:p>
            <a:pPr indent="0" marL="0">
              <a:buNone/>
            </a:pPr>
            <a:r>
              <a:rPr lang="en-US" sz="1400" dirty="0">
                <a:solidFill>
                  <a:srgbClr val="5F5D5E"/>
                </a:solidFill>
              </a:rPr>
              <a:t>These are the reasons roofers choose Henry. The corrective actions must not put them at risk.</a:t>
            </a:r>
            <a:endParaRPr lang="en-US" sz="1400" dirty="0"/>
          </a:p>
        </p:txBody>
      </p:sp>
      <p:sp>
        <p:nvSpPr>
          <p:cNvPr id="4" name="Shape 2"/>
          <p:cNvSpPr/>
          <p:nvPr/>
        </p:nvSpPr>
        <p:spPr>
          <a:xfrm>
            <a:off x="548640" y="1417320"/>
            <a:ext cx="8046720" cy="310896"/>
          </a:xfrm>
          <a:prstGeom prst="rect">
            <a:avLst/>
          </a:prstGeom>
          <a:solidFill>
            <a:schemeClr val="accent4"/>
          </a:solidFill>
          <a:ln w="12700">
            <a:solidFill>
              <a:schemeClr val="accent4"/>
            </a:solidFill>
            <a:prstDash val="solid"/>
          </a:ln>
        </p:spPr>
      </p:sp>
      <p:sp>
        <p:nvSpPr>
          <p:cNvPr id="5" name="Text 3"/>
          <p:cNvSpPr txBox="1"/>
          <p:nvPr/>
        </p:nvSpPr>
        <p:spPr>
          <a:xfrm>
            <a:off x="640080" y="1417320"/>
            <a:ext cx="2194560" cy="310896"/>
          </a:xfrm>
          <a:prstGeom prst="rect">
            <a:avLst/>
          </a:prstGeom>
          <a:noFill/>
          <a:ln/>
        </p:spPr>
        <p:txBody>
          <a:bodyPr wrap="square" lIns="0" tIns="0" rIns="0" bIns="0" rtlCol="0" anchor="ctr"/>
          <a:lstStyle/>
          <a:p>
            <a:pPr indent="0" marL="0">
              <a:buNone/>
            </a:pPr>
            <a:r>
              <a:rPr lang="en-US" sz="1100" b="1" dirty="0">
                <a:solidFill>
                  <a:schemeClr val="bg1"/>
                </a:solidFill>
              </a:rPr>
              <a:t>Strength</a:t>
            </a:r>
            <a:endParaRPr lang="en-US" sz="1100" dirty="0"/>
          </a:p>
        </p:txBody>
      </p:sp>
      <p:sp>
        <p:nvSpPr>
          <p:cNvPr id="6" name="Text 4"/>
          <p:cNvSpPr txBox="1"/>
          <p:nvPr/>
        </p:nvSpPr>
        <p:spPr>
          <a:xfrm>
            <a:off x="3017520" y="1417320"/>
            <a:ext cx="5486400" cy="310896"/>
          </a:xfrm>
          <a:prstGeom prst="rect">
            <a:avLst/>
          </a:prstGeom>
          <a:noFill/>
          <a:ln/>
        </p:spPr>
        <p:txBody>
          <a:bodyPr wrap="square" lIns="0" tIns="0" rIns="0" bIns="0" rtlCol="0" anchor="ctr"/>
          <a:lstStyle/>
          <a:p>
            <a:pPr indent="0" marL="0">
              <a:buNone/>
            </a:pPr>
            <a:r>
              <a:rPr lang="en-US" sz="1100" b="1" dirty="0">
                <a:solidFill>
                  <a:schemeClr val="bg1"/>
                </a:solidFill>
              </a:rPr>
              <a:t>Why it matters</a:t>
            </a:r>
            <a:endParaRPr lang="en-US" sz="1100" dirty="0"/>
          </a:p>
        </p:txBody>
      </p:sp>
      <p:sp>
        <p:nvSpPr>
          <p:cNvPr id="7" name="Shape 5"/>
          <p:cNvSpPr/>
          <p:nvPr/>
        </p:nvSpPr>
        <p:spPr>
          <a:xfrm>
            <a:off x="548640" y="2322576"/>
            <a:ext cx="8046720" cy="0"/>
          </a:xfrm>
          <a:prstGeom prst="line">
            <a:avLst/>
          </a:prstGeom>
          <a:noFill/>
          <a:ln w="6350">
            <a:solidFill>
              <a:srgbClr val="BCBEC0"/>
            </a:solidFill>
            <a:prstDash val="solid"/>
          </a:ln>
        </p:spPr>
      </p:sp>
      <p:sp>
        <p:nvSpPr>
          <p:cNvPr id="8" name="Text 6"/>
          <p:cNvSpPr txBox="1"/>
          <p:nvPr/>
        </p:nvSpPr>
        <p:spPr>
          <a:xfrm>
            <a:off x="640080" y="1728216"/>
            <a:ext cx="2194560" cy="594360"/>
          </a:xfrm>
          <a:prstGeom prst="rect">
            <a:avLst/>
          </a:prstGeom>
          <a:noFill/>
          <a:ln/>
        </p:spPr>
        <p:txBody>
          <a:bodyPr wrap="square" lIns="0" tIns="0" rIns="0" bIns="0" rtlCol="0" anchor="ctr"/>
          <a:lstStyle/>
          <a:p>
            <a:pPr indent="0" marL="0">
              <a:buNone/>
            </a:pPr>
            <a:r>
              <a:rPr lang="en-US" sz="1400" b="1" dirty="0">
                <a:solidFill>
                  <a:schemeClr val="tx2"/>
                </a:solidFill>
              </a:rPr>
              <a:t>Core products</a:t>
            </a:r>
            <a:endParaRPr lang="en-US" sz="1400" dirty="0"/>
          </a:p>
        </p:txBody>
      </p:sp>
      <p:sp>
        <p:nvSpPr>
          <p:cNvPr id="9" name="Text 7"/>
          <p:cNvSpPr txBox="1"/>
          <p:nvPr/>
        </p:nvSpPr>
        <p:spPr>
          <a:xfrm>
            <a:off x="3017520" y="1728216"/>
            <a:ext cx="5486400" cy="594360"/>
          </a:xfrm>
          <a:prstGeom prst="rect">
            <a:avLst/>
          </a:prstGeom>
          <a:noFill/>
          <a:ln/>
        </p:spPr>
        <p:txBody>
          <a:bodyPr wrap="square" lIns="0" tIns="0" rIns="0" bIns="0" rtlCol="0" anchor="ctr"/>
          <a:lstStyle/>
          <a:p>
            <a:pPr indent="0" marL="0">
              <a:buNone/>
            </a:pPr>
            <a:r>
              <a:rPr lang="en-US" sz="1400" dirty="0">
                <a:solidFill>
                  <a:schemeClr val="tx1"/>
                </a:solidFill>
              </a:rPr>
              <a:t>Silicone and SPF lead on quality and price.</a:t>
            </a:r>
            <a:endParaRPr lang="en-US" sz="1400" dirty="0"/>
          </a:p>
        </p:txBody>
      </p:sp>
      <p:sp>
        <p:nvSpPr>
          <p:cNvPr id="10" name="Shape 8"/>
          <p:cNvSpPr/>
          <p:nvPr/>
        </p:nvSpPr>
        <p:spPr>
          <a:xfrm>
            <a:off x="548640" y="2322576"/>
            <a:ext cx="8046720" cy="594360"/>
          </a:xfrm>
          <a:prstGeom prst="rect">
            <a:avLst/>
          </a:prstGeom>
          <a:solidFill>
            <a:schemeClr val="bg2"/>
          </a:solidFill>
          <a:ln w="12700">
            <a:solidFill>
              <a:schemeClr val="bg2"/>
            </a:solidFill>
            <a:prstDash val="solid"/>
          </a:ln>
        </p:spPr>
      </p:sp>
      <p:sp>
        <p:nvSpPr>
          <p:cNvPr id="11" name="Shape 9"/>
          <p:cNvSpPr/>
          <p:nvPr/>
        </p:nvSpPr>
        <p:spPr>
          <a:xfrm>
            <a:off x="548640" y="2916936"/>
            <a:ext cx="8046720" cy="0"/>
          </a:xfrm>
          <a:prstGeom prst="line">
            <a:avLst/>
          </a:prstGeom>
          <a:noFill/>
          <a:ln w="6350">
            <a:solidFill>
              <a:srgbClr val="BCBEC0"/>
            </a:solidFill>
            <a:prstDash val="solid"/>
          </a:ln>
        </p:spPr>
      </p:sp>
      <p:sp>
        <p:nvSpPr>
          <p:cNvPr id="12" name="Text 10"/>
          <p:cNvSpPr txBox="1"/>
          <p:nvPr/>
        </p:nvSpPr>
        <p:spPr>
          <a:xfrm>
            <a:off x="640080" y="2322576"/>
            <a:ext cx="2194560" cy="594360"/>
          </a:xfrm>
          <a:prstGeom prst="rect">
            <a:avLst/>
          </a:prstGeom>
          <a:noFill/>
          <a:ln/>
        </p:spPr>
        <p:txBody>
          <a:bodyPr wrap="square" lIns="0" tIns="0" rIns="0" bIns="0" rtlCol="0" anchor="ctr"/>
          <a:lstStyle/>
          <a:p>
            <a:pPr indent="0" marL="0">
              <a:buNone/>
            </a:pPr>
            <a:r>
              <a:rPr lang="en-US" sz="1400" b="1" dirty="0">
                <a:solidFill>
                  <a:schemeClr val="tx2"/>
                </a:solidFill>
              </a:rPr>
              <a:t>Leads that close</a:t>
            </a:r>
            <a:endParaRPr lang="en-US" sz="1400" dirty="0"/>
          </a:p>
        </p:txBody>
      </p:sp>
      <p:sp>
        <p:nvSpPr>
          <p:cNvPr id="13" name="Text 11"/>
          <p:cNvSpPr txBox="1"/>
          <p:nvPr/>
        </p:nvSpPr>
        <p:spPr>
          <a:xfrm>
            <a:off x="3017520" y="2322576"/>
            <a:ext cx="5486400" cy="594360"/>
          </a:xfrm>
          <a:prstGeom prst="rect">
            <a:avLst/>
          </a:prstGeom>
          <a:noFill/>
          <a:ln/>
        </p:spPr>
        <p:txBody>
          <a:bodyPr wrap="square" lIns="0" tIns="0" rIns="0" bIns="0" rtlCol="0" anchor="ctr"/>
          <a:lstStyle/>
          <a:p>
            <a:pPr indent="0" marL="0">
              <a:buNone/>
            </a:pPr>
            <a:r>
              <a:rPr lang="en-US" sz="1400" dirty="0">
                <a:solidFill>
                  <a:schemeClr val="tx1"/>
                </a:solidFill>
              </a:rPr>
              <a:t>National account leads close at a high rate.</a:t>
            </a:r>
            <a:endParaRPr lang="en-US" sz="1400" dirty="0"/>
          </a:p>
        </p:txBody>
      </p:sp>
      <p:sp>
        <p:nvSpPr>
          <p:cNvPr id="14" name="Shape 12"/>
          <p:cNvSpPr/>
          <p:nvPr/>
        </p:nvSpPr>
        <p:spPr>
          <a:xfrm>
            <a:off x="548640" y="3511296"/>
            <a:ext cx="8046720" cy="0"/>
          </a:xfrm>
          <a:prstGeom prst="line">
            <a:avLst/>
          </a:prstGeom>
          <a:noFill/>
          <a:ln w="6350">
            <a:solidFill>
              <a:srgbClr val="BCBEC0"/>
            </a:solidFill>
            <a:prstDash val="solid"/>
          </a:ln>
        </p:spPr>
      </p:sp>
      <p:sp>
        <p:nvSpPr>
          <p:cNvPr id="15" name="Text 13"/>
          <p:cNvSpPr txBox="1"/>
          <p:nvPr/>
        </p:nvSpPr>
        <p:spPr>
          <a:xfrm>
            <a:off x="640080" y="2916936"/>
            <a:ext cx="2194560" cy="594360"/>
          </a:xfrm>
          <a:prstGeom prst="rect">
            <a:avLst/>
          </a:prstGeom>
          <a:noFill/>
          <a:ln/>
        </p:spPr>
        <p:txBody>
          <a:bodyPr wrap="square" lIns="0" tIns="0" rIns="0" bIns="0" rtlCol="0" anchor="ctr"/>
          <a:lstStyle/>
          <a:p>
            <a:pPr indent="0" marL="0">
              <a:buNone/>
            </a:pPr>
            <a:r>
              <a:rPr lang="en-US" sz="1400" b="1" dirty="0">
                <a:solidFill>
                  <a:schemeClr val="tx2"/>
                </a:solidFill>
              </a:rPr>
              <a:t>Flexibility on specifications</a:t>
            </a:r>
            <a:endParaRPr lang="en-US" sz="1400" dirty="0"/>
          </a:p>
        </p:txBody>
      </p:sp>
      <p:sp>
        <p:nvSpPr>
          <p:cNvPr id="16" name="Text 14"/>
          <p:cNvSpPr txBox="1"/>
          <p:nvPr/>
        </p:nvSpPr>
        <p:spPr>
          <a:xfrm>
            <a:off x="3017520" y="2916936"/>
            <a:ext cx="5486400" cy="594360"/>
          </a:xfrm>
          <a:prstGeom prst="rect">
            <a:avLst/>
          </a:prstGeom>
          <a:noFill/>
          <a:ln/>
        </p:spPr>
        <p:txBody>
          <a:bodyPr wrap="square" lIns="0" tIns="0" rIns="0" bIns="0" rtlCol="0" anchor="ctr"/>
          <a:lstStyle/>
          <a:p>
            <a:pPr indent="0" marL="0">
              <a:buNone/>
            </a:pPr>
            <a:r>
              <a:rPr lang="en-US" sz="1400" dirty="0">
                <a:solidFill>
                  <a:schemeClr val="tx1"/>
                </a:solidFill>
              </a:rPr>
              <a:t>Where other manufacturers require less, we remain willing to flex on scope and specifications.</a:t>
            </a:r>
            <a:endParaRPr lang="en-US" sz="1400" dirty="0"/>
          </a:p>
        </p:txBody>
      </p:sp>
      <p:sp>
        <p:nvSpPr>
          <p:cNvPr id="17" name="Shape 15"/>
          <p:cNvSpPr/>
          <p:nvPr/>
        </p:nvSpPr>
        <p:spPr>
          <a:xfrm>
            <a:off x="548640" y="3511296"/>
            <a:ext cx="8046720" cy="594360"/>
          </a:xfrm>
          <a:prstGeom prst="rect">
            <a:avLst/>
          </a:prstGeom>
          <a:solidFill>
            <a:schemeClr val="bg2"/>
          </a:solidFill>
          <a:ln w="12700">
            <a:solidFill>
              <a:schemeClr val="bg2"/>
            </a:solidFill>
            <a:prstDash val="solid"/>
          </a:ln>
        </p:spPr>
      </p:sp>
      <p:sp>
        <p:nvSpPr>
          <p:cNvPr id="18" name="Shape 16"/>
          <p:cNvSpPr/>
          <p:nvPr/>
        </p:nvSpPr>
        <p:spPr>
          <a:xfrm>
            <a:off x="548640" y="4105656"/>
            <a:ext cx="8046720" cy="0"/>
          </a:xfrm>
          <a:prstGeom prst="line">
            <a:avLst/>
          </a:prstGeom>
          <a:noFill/>
          <a:ln w="6350">
            <a:solidFill>
              <a:srgbClr val="BCBEC0"/>
            </a:solidFill>
            <a:prstDash val="solid"/>
          </a:ln>
        </p:spPr>
      </p:sp>
      <p:sp>
        <p:nvSpPr>
          <p:cNvPr id="19" name="Text 17"/>
          <p:cNvSpPr txBox="1"/>
          <p:nvPr/>
        </p:nvSpPr>
        <p:spPr>
          <a:xfrm>
            <a:off x="640080" y="3511296"/>
            <a:ext cx="2194560" cy="594360"/>
          </a:xfrm>
          <a:prstGeom prst="rect">
            <a:avLst/>
          </a:prstGeom>
          <a:noFill/>
          <a:ln/>
        </p:spPr>
        <p:txBody>
          <a:bodyPr wrap="square" lIns="0" tIns="0" rIns="0" bIns="0" rtlCol="0" anchor="ctr"/>
          <a:lstStyle/>
          <a:p>
            <a:pPr indent="0" marL="0">
              <a:buNone/>
            </a:pPr>
            <a:r>
              <a:rPr lang="en-US" sz="1400" b="1" dirty="0">
                <a:solidFill>
                  <a:schemeClr val="tx2"/>
                </a:solidFill>
              </a:rPr>
              <a:t>Few failures</a:t>
            </a:r>
            <a:endParaRPr lang="en-US" sz="1400" dirty="0"/>
          </a:p>
        </p:txBody>
      </p:sp>
      <p:sp>
        <p:nvSpPr>
          <p:cNvPr id="20" name="Text 18"/>
          <p:cNvSpPr txBox="1"/>
          <p:nvPr/>
        </p:nvSpPr>
        <p:spPr>
          <a:xfrm>
            <a:off x="3017520" y="3511296"/>
            <a:ext cx="5486400" cy="594360"/>
          </a:xfrm>
          <a:prstGeom prst="rect">
            <a:avLst/>
          </a:prstGeom>
          <a:noFill/>
          <a:ln/>
        </p:spPr>
        <p:txBody>
          <a:bodyPr wrap="square" lIns="0" tIns="0" rIns="0" bIns="0" rtlCol="0" anchor="ctr"/>
          <a:lstStyle/>
          <a:p>
            <a:pPr indent="0" marL="0">
              <a:buNone/>
            </a:pPr>
            <a:r>
              <a:rPr lang="en-US" sz="1400" dirty="0">
                <a:solidFill>
                  <a:schemeClr val="tx1"/>
                </a:solidFill>
              </a:rPr>
              <a:t>A single failure ends future work with a building owner. We must keep innovating.</a:t>
            </a:r>
            <a:endParaRPr lang="en-US" sz="1400" dirty="0"/>
          </a:p>
        </p:txBody>
      </p:sp>
      <p:sp>
        <p:nvSpPr>
          <p:cNvPr id="25" name="Slide Number Placeholder 0"/>
          <p:cNvSpPr>
            <a:spLocks noGrp="1"/>
          </p:cNvSpPr>
          <p:nvPr>
            <p:ph type="sldNum" sz="quarter" idx="4294967295"/>
          </p:nvPr>
        </p:nvSpPr>
        <p:spPr>
          <a:xfrm>
            <a:off x="8229600" y="4681728"/>
            <a:ext cx="365760" cy="210312"/>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3" type="title" hasCustomPrompt="1"/>
          </p:nvPr>
        </p:nvSpPr>
        <p:spPr>
          <a:xfrm>
            <a:off x="548640" y="365760"/>
            <a:ext cx="8046720" cy="548640"/>
          </a:xfrm>
          <a:prstGeom prst="rect">
            <a:avLst/>
          </a:prstGeom>
          <a:noFill/>
          <a:ln/>
        </p:spPr>
        <p:txBody>
          <a:bodyPr wrap="square" lIns="0" tIns="0" rIns="0" bIns="0" rtlCol="0" anchor="t"/>
          <a:lstStyle/>
          <a:p>
            <a:pPr algn="l" indent="0" marL="0">
              <a:buNone/>
            </a:pPr>
            <a:r>
              <a:rPr lang="en-US" sz="2600" b="1" dirty="0">
                <a:solidFill>
                  <a:schemeClr val="tx2"/>
                </a:solidFill>
              </a:rPr>
              <a:t>Proposed Service Standards</a:t>
            </a:r>
            <a:endParaRPr lang="en-US" sz="2600" dirty="0"/>
          </a:p>
        </p:txBody>
      </p:sp>
      <p:sp>
        <p:nvSpPr>
          <p:cNvPr id="3" name="Shape 1"/>
          <p:cNvSpPr/>
          <p:nvPr/>
        </p:nvSpPr>
        <p:spPr>
          <a:xfrm>
            <a:off x="548640" y="1143000"/>
            <a:ext cx="8046720" cy="310896"/>
          </a:xfrm>
          <a:prstGeom prst="rect">
            <a:avLst/>
          </a:prstGeom>
          <a:solidFill>
            <a:schemeClr val="tx2"/>
          </a:solidFill>
          <a:ln w="12700">
            <a:solidFill>
              <a:schemeClr val="tx2"/>
            </a:solidFill>
            <a:prstDash val="solid"/>
          </a:ln>
        </p:spPr>
      </p:sp>
      <p:sp>
        <p:nvSpPr>
          <p:cNvPr id="4" name="Text 2"/>
          <p:cNvSpPr txBox="1"/>
          <p:nvPr/>
        </p:nvSpPr>
        <p:spPr>
          <a:xfrm>
            <a:off x="640080" y="1143000"/>
            <a:ext cx="1645920" cy="310896"/>
          </a:xfrm>
          <a:prstGeom prst="rect">
            <a:avLst/>
          </a:prstGeom>
          <a:noFill/>
          <a:ln/>
        </p:spPr>
        <p:txBody>
          <a:bodyPr wrap="square" lIns="0" tIns="0" rIns="0" bIns="0" rtlCol="0" anchor="ctr"/>
          <a:lstStyle/>
          <a:p>
            <a:pPr indent="0" marL="0">
              <a:buNone/>
            </a:pPr>
            <a:r>
              <a:rPr lang="en-US" sz="1100" b="1" dirty="0">
                <a:solidFill>
                  <a:schemeClr val="bg1"/>
                </a:solidFill>
              </a:rPr>
              <a:t>Standard</a:t>
            </a:r>
            <a:endParaRPr lang="en-US" sz="1100" dirty="0"/>
          </a:p>
        </p:txBody>
      </p:sp>
      <p:sp>
        <p:nvSpPr>
          <p:cNvPr id="5" name="Text 3"/>
          <p:cNvSpPr txBox="1"/>
          <p:nvPr/>
        </p:nvSpPr>
        <p:spPr>
          <a:xfrm>
            <a:off x="2468880" y="1143000"/>
            <a:ext cx="4389120" cy="310896"/>
          </a:xfrm>
          <a:prstGeom prst="rect">
            <a:avLst/>
          </a:prstGeom>
          <a:noFill/>
          <a:ln/>
        </p:spPr>
        <p:txBody>
          <a:bodyPr wrap="square" lIns="0" tIns="0" rIns="0" bIns="0" rtlCol="0" anchor="ctr"/>
          <a:lstStyle/>
          <a:p>
            <a:pPr indent="0" marL="0">
              <a:buNone/>
            </a:pPr>
            <a:r>
              <a:rPr lang="en-US" sz="1100" b="1" dirty="0">
                <a:solidFill>
                  <a:schemeClr val="bg1"/>
                </a:solidFill>
              </a:rPr>
              <a:t>Commitment</a:t>
            </a:r>
            <a:endParaRPr lang="en-US" sz="1100" dirty="0"/>
          </a:p>
        </p:txBody>
      </p:sp>
      <p:sp>
        <p:nvSpPr>
          <p:cNvPr id="6" name="Text 4"/>
          <p:cNvSpPr txBox="1"/>
          <p:nvPr/>
        </p:nvSpPr>
        <p:spPr>
          <a:xfrm>
            <a:off x="7040880" y="1143000"/>
            <a:ext cx="1463040" cy="310896"/>
          </a:xfrm>
          <a:prstGeom prst="rect">
            <a:avLst/>
          </a:prstGeom>
          <a:noFill/>
          <a:ln/>
        </p:spPr>
        <p:txBody>
          <a:bodyPr wrap="square" lIns="0" tIns="0" rIns="0" bIns="0" rtlCol="0" anchor="ctr"/>
          <a:lstStyle/>
          <a:p>
            <a:pPr indent="0" marL="0">
              <a:buNone/>
            </a:pPr>
            <a:r>
              <a:rPr lang="en-US" sz="1100" b="1" dirty="0">
                <a:solidFill>
                  <a:schemeClr val="bg1"/>
                </a:solidFill>
              </a:rPr>
              <a:t>Addresses</a:t>
            </a:r>
            <a:endParaRPr lang="en-US" sz="1100" dirty="0"/>
          </a:p>
        </p:txBody>
      </p:sp>
      <p:sp>
        <p:nvSpPr>
          <p:cNvPr id="7" name="Shape 5"/>
          <p:cNvSpPr/>
          <p:nvPr/>
        </p:nvSpPr>
        <p:spPr>
          <a:xfrm>
            <a:off x="548640" y="2139696"/>
            <a:ext cx="8046720" cy="0"/>
          </a:xfrm>
          <a:prstGeom prst="line">
            <a:avLst/>
          </a:prstGeom>
          <a:noFill/>
          <a:ln w="6350">
            <a:solidFill>
              <a:srgbClr val="BCBEC0"/>
            </a:solidFill>
            <a:prstDash val="solid"/>
          </a:ln>
        </p:spPr>
      </p:sp>
      <p:sp>
        <p:nvSpPr>
          <p:cNvPr id="8" name="Text 6"/>
          <p:cNvSpPr txBox="1"/>
          <p:nvPr/>
        </p:nvSpPr>
        <p:spPr>
          <a:xfrm>
            <a:off x="640080" y="1453896"/>
            <a:ext cx="1645920" cy="685800"/>
          </a:xfrm>
          <a:prstGeom prst="rect">
            <a:avLst/>
          </a:prstGeom>
          <a:noFill/>
          <a:ln/>
        </p:spPr>
        <p:txBody>
          <a:bodyPr wrap="square" lIns="0" tIns="0" rIns="0" bIns="0" rtlCol="0" anchor="ctr"/>
          <a:lstStyle/>
          <a:p>
            <a:pPr indent="0" marL="0">
              <a:buNone/>
            </a:pPr>
            <a:r>
              <a:rPr lang="en-US" sz="2200" b="1" dirty="0">
                <a:solidFill>
                  <a:schemeClr val="accent1"/>
                </a:solidFill>
              </a:rPr>
              <a:t>4 hours</a:t>
            </a:r>
            <a:endParaRPr lang="en-US" sz="2200" dirty="0"/>
          </a:p>
        </p:txBody>
      </p:sp>
      <p:sp>
        <p:nvSpPr>
          <p:cNvPr id="9" name="Text 7"/>
          <p:cNvSpPr txBox="1"/>
          <p:nvPr/>
        </p:nvSpPr>
        <p:spPr>
          <a:xfrm>
            <a:off x="2468880" y="1453896"/>
            <a:ext cx="4389120" cy="685800"/>
          </a:xfrm>
          <a:prstGeom prst="rect">
            <a:avLst/>
          </a:prstGeom>
          <a:noFill/>
          <a:ln/>
        </p:spPr>
        <p:txBody>
          <a:bodyPr wrap="square" lIns="0" tIns="0" rIns="0" bIns="0" rtlCol="0" anchor="ctr"/>
          <a:lstStyle/>
          <a:p>
            <a:pPr indent="0" marL="0">
              <a:buNone/>
            </a:pPr>
            <a:r>
              <a:rPr lang="en-US" sz="1500" dirty="0">
                <a:solidFill>
                  <a:schemeClr val="tx1"/>
                </a:solidFill>
              </a:rPr>
              <a:t>Respond to every email and acknowledge every warranty claim</a:t>
            </a:r>
            <a:endParaRPr lang="en-US" sz="1500" dirty="0"/>
          </a:p>
        </p:txBody>
      </p:sp>
      <p:sp>
        <p:nvSpPr>
          <p:cNvPr id="10" name="Text 8"/>
          <p:cNvSpPr txBox="1"/>
          <p:nvPr/>
        </p:nvSpPr>
        <p:spPr>
          <a:xfrm>
            <a:off x="7040880" y="1453896"/>
            <a:ext cx="1463040" cy="685800"/>
          </a:xfrm>
          <a:prstGeom prst="rect">
            <a:avLst/>
          </a:prstGeom>
          <a:noFill/>
          <a:ln/>
        </p:spPr>
        <p:txBody>
          <a:bodyPr wrap="square" lIns="0" tIns="0" rIns="0" bIns="0" rtlCol="0" anchor="ctr"/>
          <a:lstStyle/>
          <a:p>
            <a:pPr indent="0" marL="0">
              <a:buNone/>
            </a:pPr>
            <a:r>
              <a:rPr lang="en-US" sz="1500" dirty="0">
                <a:solidFill>
                  <a:schemeClr val="tx1"/>
                </a:solidFill>
              </a:rPr>
              <a:t>Issues 1, 2</a:t>
            </a:r>
            <a:endParaRPr lang="en-US" sz="1500" dirty="0"/>
          </a:p>
        </p:txBody>
      </p:sp>
      <p:sp>
        <p:nvSpPr>
          <p:cNvPr id="11" name="Shape 9"/>
          <p:cNvSpPr/>
          <p:nvPr/>
        </p:nvSpPr>
        <p:spPr>
          <a:xfrm>
            <a:off x="548640" y="2139696"/>
            <a:ext cx="8046720" cy="685800"/>
          </a:xfrm>
          <a:prstGeom prst="rect">
            <a:avLst/>
          </a:prstGeom>
          <a:solidFill>
            <a:schemeClr val="bg2"/>
          </a:solidFill>
          <a:ln w="12700">
            <a:solidFill>
              <a:schemeClr val="bg2"/>
            </a:solidFill>
            <a:prstDash val="solid"/>
          </a:ln>
        </p:spPr>
      </p:sp>
      <p:sp>
        <p:nvSpPr>
          <p:cNvPr id="12" name="Shape 10"/>
          <p:cNvSpPr/>
          <p:nvPr/>
        </p:nvSpPr>
        <p:spPr>
          <a:xfrm>
            <a:off x="548640" y="2825496"/>
            <a:ext cx="8046720" cy="0"/>
          </a:xfrm>
          <a:prstGeom prst="line">
            <a:avLst/>
          </a:prstGeom>
          <a:noFill/>
          <a:ln w="6350">
            <a:solidFill>
              <a:srgbClr val="BCBEC0"/>
            </a:solidFill>
            <a:prstDash val="solid"/>
          </a:ln>
        </p:spPr>
      </p:sp>
      <p:sp>
        <p:nvSpPr>
          <p:cNvPr id="13" name="Text 11"/>
          <p:cNvSpPr txBox="1"/>
          <p:nvPr/>
        </p:nvSpPr>
        <p:spPr>
          <a:xfrm>
            <a:off x="640080" y="2139696"/>
            <a:ext cx="1645920" cy="685800"/>
          </a:xfrm>
          <a:prstGeom prst="rect">
            <a:avLst/>
          </a:prstGeom>
          <a:noFill/>
          <a:ln/>
        </p:spPr>
        <p:txBody>
          <a:bodyPr wrap="square" lIns="0" tIns="0" rIns="0" bIns="0" rtlCol="0" anchor="ctr"/>
          <a:lstStyle/>
          <a:p>
            <a:pPr indent="0" marL="0">
              <a:buNone/>
            </a:pPr>
            <a:r>
              <a:rPr lang="en-US" sz="2200" b="1" dirty="0">
                <a:solidFill>
                  <a:schemeClr val="accent1"/>
                </a:solidFill>
              </a:rPr>
              <a:t>4 days</a:t>
            </a:r>
            <a:endParaRPr lang="en-US" sz="2200" dirty="0"/>
          </a:p>
        </p:txBody>
      </p:sp>
      <p:sp>
        <p:nvSpPr>
          <p:cNvPr id="14" name="Text 12"/>
          <p:cNvSpPr txBox="1"/>
          <p:nvPr/>
        </p:nvSpPr>
        <p:spPr>
          <a:xfrm>
            <a:off x="2468880" y="2139696"/>
            <a:ext cx="4389120" cy="685800"/>
          </a:xfrm>
          <a:prstGeom prst="rect">
            <a:avLst/>
          </a:prstGeom>
          <a:noFill/>
          <a:ln/>
        </p:spPr>
        <p:txBody>
          <a:bodyPr wrap="square" lIns="0" tIns="0" rIns="0" bIns="0" rtlCol="0" anchor="ctr"/>
          <a:lstStyle/>
          <a:p>
            <a:pPr indent="0" marL="0">
              <a:buNone/>
            </a:pPr>
            <a:r>
              <a:rPr lang="en-US" sz="1500" dirty="0">
                <a:solidFill>
                  <a:schemeClr val="tx1"/>
                </a:solidFill>
              </a:rPr>
              <a:t>Complete a site visit on every warranty claim</a:t>
            </a:r>
            <a:endParaRPr lang="en-US" sz="1500" dirty="0"/>
          </a:p>
        </p:txBody>
      </p:sp>
      <p:sp>
        <p:nvSpPr>
          <p:cNvPr id="15" name="Text 13"/>
          <p:cNvSpPr txBox="1"/>
          <p:nvPr/>
        </p:nvSpPr>
        <p:spPr>
          <a:xfrm>
            <a:off x="7040880" y="2139696"/>
            <a:ext cx="1463040" cy="685800"/>
          </a:xfrm>
          <a:prstGeom prst="rect">
            <a:avLst/>
          </a:prstGeom>
          <a:noFill/>
          <a:ln/>
        </p:spPr>
        <p:txBody>
          <a:bodyPr wrap="square" lIns="0" tIns="0" rIns="0" bIns="0" rtlCol="0" anchor="ctr"/>
          <a:lstStyle/>
          <a:p>
            <a:pPr indent="0" marL="0">
              <a:buNone/>
            </a:pPr>
            <a:r>
              <a:rPr lang="en-US" sz="1500" dirty="0">
                <a:solidFill>
                  <a:schemeClr val="tx1"/>
                </a:solidFill>
              </a:rPr>
              <a:t>Issue 2</a:t>
            </a:r>
            <a:endParaRPr lang="en-US" sz="1500" dirty="0"/>
          </a:p>
        </p:txBody>
      </p:sp>
      <p:sp>
        <p:nvSpPr>
          <p:cNvPr id="16" name="Shape 14"/>
          <p:cNvSpPr/>
          <p:nvPr/>
        </p:nvSpPr>
        <p:spPr>
          <a:xfrm>
            <a:off x="548640" y="3511296"/>
            <a:ext cx="8046720" cy="0"/>
          </a:xfrm>
          <a:prstGeom prst="line">
            <a:avLst/>
          </a:prstGeom>
          <a:noFill/>
          <a:ln w="6350">
            <a:solidFill>
              <a:srgbClr val="BCBEC0"/>
            </a:solidFill>
            <a:prstDash val="solid"/>
          </a:ln>
        </p:spPr>
      </p:sp>
      <p:sp>
        <p:nvSpPr>
          <p:cNvPr id="17" name="Text 15"/>
          <p:cNvSpPr txBox="1"/>
          <p:nvPr/>
        </p:nvSpPr>
        <p:spPr>
          <a:xfrm>
            <a:off x="640080" y="2825496"/>
            <a:ext cx="1645920" cy="685800"/>
          </a:xfrm>
          <a:prstGeom prst="rect">
            <a:avLst/>
          </a:prstGeom>
          <a:noFill/>
          <a:ln/>
        </p:spPr>
        <p:txBody>
          <a:bodyPr wrap="square" lIns="0" tIns="0" rIns="0" bIns="0" rtlCol="0" anchor="ctr"/>
          <a:lstStyle/>
          <a:p>
            <a:pPr indent="0" marL="0">
              <a:buNone/>
            </a:pPr>
            <a:r>
              <a:rPr lang="en-US" sz="2200" b="1" dirty="0">
                <a:solidFill>
                  <a:schemeClr val="accent1"/>
                </a:solidFill>
              </a:rPr>
              <a:t>48 hours</a:t>
            </a:r>
            <a:endParaRPr lang="en-US" sz="2200" dirty="0"/>
          </a:p>
        </p:txBody>
      </p:sp>
      <p:sp>
        <p:nvSpPr>
          <p:cNvPr id="18" name="Text 16"/>
          <p:cNvSpPr txBox="1"/>
          <p:nvPr/>
        </p:nvSpPr>
        <p:spPr>
          <a:xfrm>
            <a:off x="2468880" y="2825496"/>
            <a:ext cx="4389120" cy="685800"/>
          </a:xfrm>
          <a:prstGeom prst="rect">
            <a:avLst/>
          </a:prstGeom>
          <a:noFill/>
          <a:ln/>
        </p:spPr>
        <p:txBody>
          <a:bodyPr wrap="square" lIns="0" tIns="0" rIns="0" bIns="0" rtlCol="0" anchor="ctr"/>
          <a:lstStyle/>
          <a:p>
            <a:pPr indent="0" marL="0">
              <a:buNone/>
            </a:pPr>
            <a:r>
              <a:rPr lang="en-US" sz="1500" dirty="0">
                <a:solidFill>
                  <a:schemeClr val="tx1"/>
                </a:solidFill>
              </a:rPr>
              <a:t>Have material ready to ship, accessories included</a:t>
            </a:r>
            <a:endParaRPr lang="en-US" sz="1500" dirty="0"/>
          </a:p>
        </p:txBody>
      </p:sp>
      <p:sp>
        <p:nvSpPr>
          <p:cNvPr id="19" name="Text 17"/>
          <p:cNvSpPr txBox="1"/>
          <p:nvPr/>
        </p:nvSpPr>
        <p:spPr>
          <a:xfrm>
            <a:off x="7040880" y="2825496"/>
            <a:ext cx="1463040" cy="685800"/>
          </a:xfrm>
          <a:prstGeom prst="rect">
            <a:avLst/>
          </a:prstGeom>
          <a:noFill/>
          <a:ln/>
        </p:spPr>
        <p:txBody>
          <a:bodyPr wrap="square" lIns="0" tIns="0" rIns="0" bIns="0" rtlCol="0" anchor="ctr"/>
          <a:lstStyle/>
          <a:p>
            <a:pPr indent="0" marL="0">
              <a:buNone/>
            </a:pPr>
            <a:r>
              <a:rPr lang="en-US" sz="1500" dirty="0">
                <a:solidFill>
                  <a:schemeClr val="tx1"/>
                </a:solidFill>
              </a:rPr>
              <a:t>Issue 4</a:t>
            </a:r>
            <a:endParaRPr lang="en-US" sz="1500" dirty="0"/>
          </a:p>
        </p:txBody>
      </p:sp>
      <p:sp>
        <p:nvSpPr>
          <p:cNvPr id="20" name="Shape 18"/>
          <p:cNvSpPr/>
          <p:nvPr/>
        </p:nvSpPr>
        <p:spPr>
          <a:xfrm>
            <a:off x="548640" y="3511296"/>
            <a:ext cx="8046720" cy="685800"/>
          </a:xfrm>
          <a:prstGeom prst="rect">
            <a:avLst/>
          </a:prstGeom>
          <a:solidFill>
            <a:schemeClr val="bg2"/>
          </a:solidFill>
          <a:ln w="12700">
            <a:solidFill>
              <a:schemeClr val="bg2"/>
            </a:solidFill>
            <a:prstDash val="solid"/>
          </a:ln>
        </p:spPr>
      </p:sp>
      <p:sp>
        <p:nvSpPr>
          <p:cNvPr id="21" name="Shape 19"/>
          <p:cNvSpPr/>
          <p:nvPr/>
        </p:nvSpPr>
        <p:spPr>
          <a:xfrm>
            <a:off x="548640" y="4197096"/>
            <a:ext cx="8046720" cy="0"/>
          </a:xfrm>
          <a:prstGeom prst="line">
            <a:avLst/>
          </a:prstGeom>
          <a:noFill/>
          <a:ln w="6350">
            <a:solidFill>
              <a:srgbClr val="BCBEC0"/>
            </a:solidFill>
            <a:prstDash val="solid"/>
          </a:ln>
        </p:spPr>
      </p:sp>
      <p:sp>
        <p:nvSpPr>
          <p:cNvPr id="22" name="Text 20"/>
          <p:cNvSpPr txBox="1"/>
          <p:nvPr/>
        </p:nvSpPr>
        <p:spPr>
          <a:xfrm>
            <a:off x="640080" y="3511296"/>
            <a:ext cx="1645920" cy="685800"/>
          </a:xfrm>
          <a:prstGeom prst="rect">
            <a:avLst/>
          </a:prstGeom>
          <a:noFill/>
          <a:ln/>
        </p:spPr>
        <p:txBody>
          <a:bodyPr wrap="square" lIns="0" tIns="0" rIns="0" bIns="0" rtlCol="0" anchor="ctr"/>
          <a:lstStyle/>
          <a:p>
            <a:pPr indent="0" marL="0">
              <a:buNone/>
            </a:pPr>
            <a:r>
              <a:rPr lang="en-US" sz="2200" b="1" dirty="0">
                <a:solidFill>
                  <a:schemeClr val="accent1"/>
                </a:solidFill>
              </a:rPr>
              <a:t>Daily</a:t>
            </a:r>
            <a:endParaRPr lang="en-US" sz="2200" dirty="0"/>
          </a:p>
        </p:txBody>
      </p:sp>
      <p:sp>
        <p:nvSpPr>
          <p:cNvPr id="23" name="Text 21"/>
          <p:cNvSpPr txBox="1"/>
          <p:nvPr/>
        </p:nvSpPr>
        <p:spPr>
          <a:xfrm>
            <a:off x="2468880" y="3511296"/>
            <a:ext cx="4389120" cy="685800"/>
          </a:xfrm>
          <a:prstGeom prst="rect">
            <a:avLst/>
          </a:prstGeom>
          <a:noFill/>
          <a:ln/>
        </p:spPr>
        <p:txBody>
          <a:bodyPr wrap="square" lIns="0" tIns="0" rIns="0" bIns="0" rtlCol="0" anchor="ctr"/>
          <a:lstStyle/>
          <a:p>
            <a:pPr indent="0" marL="0">
              <a:buNone/>
            </a:pPr>
            <a:r>
              <a:rPr lang="en-US" sz="1500" dirty="0">
                <a:solidFill>
                  <a:schemeClr val="tx1"/>
                </a:solidFill>
              </a:rPr>
              <a:t>Proactive order updates from CS until delivery</a:t>
            </a:r>
            <a:endParaRPr lang="en-US" sz="1500" dirty="0"/>
          </a:p>
        </p:txBody>
      </p:sp>
      <p:sp>
        <p:nvSpPr>
          <p:cNvPr id="24" name="Text 22"/>
          <p:cNvSpPr txBox="1"/>
          <p:nvPr/>
        </p:nvSpPr>
        <p:spPr>
          <a:xfrm>
            <a:off x="7040880" y="3511296"/>
            <a:ext cx="1463040" cy="685800"/>
          </a:xfrm>
          <a:prstGeom prst="rect">
            <a:avLst/>
          </a:prstGeom>
          <a:noFill/>
          <a:ln/>
        </p:spPr>
        <p:txBody>
          <a:bodyPr wrap="square" lIns="0" tIns="0" rIns="0" bIns="0" rtlCol="0" anchor="ctr"/>
          <a:lstStyle/>
          <a:p>
            <a:pPr indent="0" marL="0">
              <a:buNone/>
            </a:pPr>
            <a:r>
              <a:rPr lang="en-US" sz="1500" dirty="0">
                <a:solidFill>
                  <a:schemeClr val="tx1"/>
                </a:solidFill>
              </a:rPr>
              <a:t>Issue 3</a:t>
            </a:r>
            <a:endParaRPr lang="en-US" sz="1500" dirty="0"/>
          </a:p>
        </p:txBody>
      </p:sp>
      <p:sp>
        <p:nvSpPr>
          <p:cNvPr id="25" name="Slide Number Placeholder 0"/>
          <p:cNvSpPr>
            <a:spLocks noGrp="1"/>
          </p:cNvSpPr>
          <p:nvPr>
            <p:ph type="sldNum" sz="quarter" idx="4294967295"/>
          </p:nvPr>
        </p:nvSpPr>
        <p:spPr>
          <a:xfrm>
            <a:off x="8229600" y="4681728"/>
            <a:ext cx="365760" cy="210312"/>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3" type="title" hasCustomPrompt="1"/>
          </p:nvPr>
        </p:nvSpPr>
        <p:spPr>
          <a:xfrm>
            <a:off x="548640" y="365760"/>
            <a:ext cx="8046720" cy="548640"/>
          </a:xfrm>
          <a:prstGeom prst="rect">
            <a:avLst/>
          </a:prstGeom>
          <a:noFill/>
          <a:ln/>
        </p:spPr>
        <p:txBody>
          <a:bodyPr wrap="square" lIns="0" tIns="0" rIns="0" bIns="0" rtlCol="0" anchor="t"/>
          <a:lstStyle/>
          <a:p>
            <a:pPr algn="l" indent="0" marL="0">
              <a:buNone/>
            </a:pPr>
            <a:r>
              <a:rPr lang="en-US" sz="2600" b="1" dirty="0">
                <a:solidFill>
                  <a:schemeClr val="tx2"/>
                </a:solidFill>
              </a:rPr>
              <a:t>Decisions Requested Today</a:t>
            </a:r>
            <a:endParaRPr lang="en-US" sz="2600" dirty="0"/>
          </a:p>
        </p:txBody>
      </p:sp>
      <p:sp>
        <p:nvSpPr>
          <p:cNvPr id="3" name="Text 1"/>
          <p:cNvSpPr txBox="1"/>
          <p:nvPr/>
        </p:nvSpPr>
        <p:spPr>
          <a:xfrm>
            <a:off x="548640" y="960120"/>
            <a:ext cx="8046720" cy="274320"/>
          </a:xfrm>
          <a:prstGeom prst="rect">
            <a:avLst/>
          </a:prstGeom>
          <a:noFill/>
          <a:ln/>
        </p:spPr>
        <p:txBody>
          <a:bodyPr wrap="square" lIns="0" tIns="0" rIns="0" bIns="0" rtlCol="0" anchor="t"/>
          <a:lstStyle/>
          <a:p>
            <a:pPr indent="0" marL="0">
              <a:buNone/>
            </a:pPr>
            <a:r>
              <a:rPr lang="en-US" sz="1400" dirty="0">
                <a:solidFill>
                  <a:schemeClr val="tx1"/>
                </a:solidFill>
              </a:rPr>
              <a:t>Approve the corrective actions, assign an owner to each issue, and review progress monthly.</a:t>
            </a:r>
            <a:endParaRPr lang="en-US" sz="1400" dirty="0"/>
          </a:p>
        </p:txBody>
      </p:sp>
      <p:sp>
        <p:nvSpPr>
          <p:cNvPr id="4" name="Shape 2"/>
          <p:cNvSpPr/>
          <p:nvPr/>
        </p:nvSpPr>
        <p:spPr>
          <a:xfrm>
            <a:off x="548640" y="1417320"/>
            <a:ext cx="8046720" cy="310896"/>
          </a:xfrm>
          <a:prstGeom prst="rect">
            <a:avLst/>
          </a:prstGeom>
          <a:solidFill>
            <a:schemeClr val="tx2"/>
          </a:solidFill>
          <a:ln w="12700">
            <a:solidFill>
              <a:schemeClr val="tx2"/>
            </a:solidFill>
            <a:prstDash val="solid"/>
          </a:ln>
        </p:spPr>
      </p:sp>
      <p:sp>
        <p:nvSpPr>
          <p:cNvPr id="5" name="Text 3"/>
          <p:cNvSpPr txBox="1"/>
          <p:nvPr/>
        </p:nvSpPr>
        <p:spPr>
          <a:xfrm>
            <a:off x="640080" y="1417320"/>
            <a:ext cx="1920240" cy="310896"/>
          </a:xfrm>
          <a:prstGeom prst="rect">
            <a:avLst/>
          </a:prstGeom>
          <a:noFill/>
          <a:ln/>
        </p:spPr>
        <p:txBody>
          <a:bodyPr wrap="square" lIns="0" tIns="0" rIns="0" bIns="0" rtlCol="0" anchor="ctr"/>
          <a:lstStyle/>
          <a:p>
            <a:pPr indent="0" marL="0">
              <a:buNone/>
            </a:pPr>
            <a:r>
              <a:rPr lang="en-US" sz="1100" b="1" dirty="0">
                <a:solidFill>
                  <a:schemeClr val="bg1"/>
                </a:solidFill>
              </a:rPr>
              <a:t>Issue</a:t>
            </a:r>
            <a:endParaRPr lang="en-US" sz="1100" dirty="0"/>
          </a:p>
        </p:txBody>
      </p:sp>
      <p:sp>
        <p:nvSpPr>
          <p:cNvPr id="6" name="Text 4"/>
          <p:cNvSpPr txBox="1"/>
          <p:nvPr/>
        </p:nvSpPr>
        <p:spPr>
          <a:xfrm>
            <a:off x="2743200" y="1417320"/>
            <a:ext cx="2926080" cy="310896"/>
          </a:xfrm>
          <a:prstGeom prst="rect">
            <a:avLst/>
          </a:prstGeom>
          <a:noFill/>
          <a:ln/>
        </p:spPr>
        <p:txBody>
          <a:bodyPr wrap="square" lIns="0" tIns="0" rIns="0" bIns="0" rtlCol="0" anchor="ctr"/>
          <a:lstStyle/>
          <a:p>
            <a:pPr indent="0" marL="0">
              <a:buNone/>
            </a:pPr>
            <a:r>
              <a:rPr lang="en-US" sz="1100" b="1" dirty="0">
                <a:solidFill>
                  <a:schemeClr val="bg1"/>
                </a:solidFill>
              </a:rPr>
              <a:t>Key action</a:t>
            </a:r>
            <a:endParaRPr lang="en-US" sz="1100" dirty="0"/>
          </a:p>
        </p:txBody>
      </p:sp>
      <p:sp>
        <p:nvSpPr>
          <p:cNvPr id="7" name="Text 5"/>
          <p:cNvSpPr txBox="1"/>
          <p:nvPr/>
        </p:nvSpPr>
        <p:spPr>
          <a:xfrm>
            <a:off x="5852160" y="1417320"/>
            <a:ext cx="1371600" cy="310896"/>
          </a:xfrm>
          <a:prstGeom prst="rect">
            <a:avLst/>
          </a:prstGeom>
          <a:noFill/>
          <a:ln/>
        </p:spPr>
        <p:txBody>
          <a:bodyPr wrap="square" lIns="0" tIns="0" rIns="0" bIns="0" rtlCol="0" anchor="ctr"/>
          <a:lstStyle/>
          <a:p>
            <a:pPr indent="0" marL="0">
              <a:buNone/>
            </a:pPr>
            <a:r>
              <a:rPr lang="en-US" sz="1100" b="1" dirty="0">
                <a:solidFill>
                  <a:schemeClr val="bg1"/>
                </a:solidFill>
              </a:rPr>
              <a:t>Measure</a:t>
            </a:r>
            <a:endParaRPr lang="en-US" sz="1100" dirty="0"/>
          </a:p>
        </p:txBody>
      </p:sp>
      <p:sp>
        <p:nvSpPr>
          <p:cNvPr id="8" name="Text 6"/>
          <p:cNvSpPr txBox="1"/>
          <p:nvPr/>
        </p:nvSpPr>
        <p:spPr>
          <a:xfrm>
            <a:off x="7406640" y="1417320"/>
            <a:ext cx="1097280" cy="310896"/>
          </a:xfrm>
          <a:prstGeom prst="rect">
            <a:avLst/>
          </a:prstGeom>
          <a:noFill/>
          <a:ln/>
        </p:spPr>
        <p:txBody>
          <a:bodyPr wrap="square" lIns="0" tIns="0" rIns="0" bIns="0" rtlCol="0" anchor="ctr"/>
          <a:lstStyle/>
          <a:p>
            <a:pPr indent="0" marL="0">
              <a:buNone/>
            </a:pPr>
            <a:r>
              <a:rPr lang="en-US" sz="1100" b="1" dirty="0">
                <a:solidFill>
                  <a:schemeClr val="bg1"/>
                </a:solidFill>
              </a:rPr>
              <a:t>Owner</a:t>
            </a:r>
            <a:endParaRPr lang="en-US" sz="1100" dirty="0"/>
          </a:p>
        </p:txBody>
      </p:sp>
      <p:sp>
        <p:nvSpPr>
          <p:cNvPr id="9" name="Shape 7"/>
          <p:cNvSpPr/>
          <p:nvPr/>
        </p:nvSpPr>
        <p:spPr>
          <a:xfrm>
            <a:off x="548640" y="2276856"/>
            <a:ext cx="8046720" cy="0"/>
          </a:xfrm>
          <a:prstGeom prst="line">
            <a:avLst/>
          </a:prstGeom>
          <a:noFill/>
          <a:ln w="6350">
            <a:solidFill>
              <a:srgbClr val="BCBEC0"/>
            </a:solidFill>
            <a:prstDash val="solid"/>
          </a:ln>
        </p:spPr>
      </p:sp>
      <p:sp>
        <p:nvSpPr>
          <p:cNvPr id="10" name="Text 8"/>
          <p:cNvSpPr txBox="1"/>
          <p:nvPr/>
        </p:nvSpPr>
        <p:spPr>
          <a:xfrm>
            <a:off x="640080" y="1728216"/>
            <a:ext cx="1920240" cy="548640"/>
          </a:xfrm>
          <a:prstGeom prst="rect">
            <a:avLst/>
          </a:prstGeom>
          <a:noFill/>
          <a:ln/>
        </p:spPr>
        <p:txBody>
          <a:bodyPr wrap="square" lIns="0" tIns="0" rIns="0" bIns="0" rtlCol="0" anchor="ctr"/>
          <a:lstStyle/>
          <a:p>
            <a:pPr indent="0" marL="0">
              <a:buNone/>
            </a:pPr>
            <a:r>
              <a:rPr lang="en-US" sz="1300" b="1" dirty="0">
                <a:solidFill>
                  <a:schemeClr val="tx2"/>
                </a:solidFill>
              </a:rPr>
              <a:t>1. Customer Service</a:t>
            </a:r>
            <a:endParaRPr lang="en-US" sz="1300" dirty="0"/>
          </a:p>
        </p:txBody>
      </p:sp>
      <p:sp>
        <p:nvSpPr>
          <p:cNvPr id="11" name="Text 9"/>
          <p:cNvSpPr txBox="1"/>
          <p:nvPr/>
        </p:nvSpPr>
        <p:spPr>
          <a:xfrm>
            <a:off x="2743200" y="1728216"/>
            <a:ext cx="2926080" cy="548640"/>
          </a:xfrm>
          <a:prstGeom prst="rect">
            <a:avLst/>
          </a:prstGeom>
          <a:noFill/>
          <a:ln/>
        </p:spPr>
        <p:txBody>
          <a:bodyPr wrap="square" lIns="0" tIns="0" rIns="0" bIns="0" rtlCol="0" anchor="ctr"/>
          <a:lstStyle/>
          <a:p>
            <a:pPr indent="0" marL="0">
              <a:buNone/>
            </a:pPr>
            <a:r>
              <a:rPr lang="en-US" sz="1300" dirty="0">
                <a:solidFill>
                  <a:schemeClr val="tx1"/>
                </a:solidFill>
              </a:rPr>
              <a:t>4-hour response; inventory visibility</a:t>
            </a:r>
            <a:endParaRPr lang="en-US" sz="1300" dirty="0"/>
          </a:p>
        </p:txBody>
      </p:sp>
      <p:sp>
        <p:nvSpPr>
          <p:cNvPr id="12" name="Text 10"/>
          <p:cNvSpPr txBox="1"/>
          <p:nvPr/>
        </p:nvSpPr>
        <p:spPr>
          <a:xfrm>
            <a:off x="5852160" y="1728216"/>
            <a:ext cx="1371600" cy="548640"/>
          </a:xfrm>
          <a:prstGeom prst="rect">
            <a:avLst/>
          </a:prstGeom>
          <a:noFill/>
          <a:ln/>
        </p:spPr>
        <p:txBody>
          <a:bodyPr wrap="square" lIns="0" tIns="0" rIns="0" bIns="0" rtlCol="0" anchor="ctr"/>
          <a:lstStyle/>
          <a:p>
            <a:pPr indent="0" marL="0">
              <a:buNone/>
            </a:pPr>
            <a:r>
              <a:rPr lang="en-US" sz="1300" dirty="0">
                <a:solidFill>
                  <a:schemeClr val="tx1"/>
                </a:solidFill>
              </a:rPr>
              <a:t>Response time</a:t>
            </a:r>
            <a:endParaRPr lang="en-US" sz="1300" dirty="0"/>
          </a:p>
        </p:txBody>
      </p:sp>
      <p:sp>
        <p:nvSpPr>
          <p:cNvPr id="13" name="Shape 11"/>
          <p:cNvSpPr/>
          <p:nvPr/>
        </p:nvSpPr>
        <p:spPr>
          <a:xfrm>
            <a:off x="7406640" y="2148840"/>
            <a:ext cx="1097280" cy="0"/>
          </a:xfrm>
          <a:prstGeom prst="line">
            <a:avLst/>
          </a:prstGeom>
          <a:noFill/>
          <a:ln w="9525">
            <a:solidFill>
              <a:schemeClr val="tx1"/>
            </a:solidFill>
            <a:prstDash val="solid"/>
          </a:ln>
        </p:spPr>
      </p:sp>
      <p:sp>
        <p:nvSpPr>
          <p:cNvPr id="14" name="Shape 12"/>
          <p:cNvSpPr/>
          <p:nvPr/>
        </p:nvSpPr>
        <p:spPr>
          <a:xfrm>
            <a:off x="548640" y="2276856"/>
            <a:ext cx="8046720" cy="548640"/>
          </a:xfrm>
          <a:prstGeom prst="rect">
            <a:avLst/>
          </a:prstGeom>
          <a:solidFill>
            <a:schemeClr val="bg2"/>
          </a:solidFill>
          <a:ln w="12700">
            <a:solidFill>
              <a:schemeClr val="bg2"/>
            </a:solidFill>
            <a:prstDash val="solid"/>
          </a:ln>
        </p:spPr>
      </p:sp>
      <p:sp>
        <p:nvSpPr>
          <p:cNvPr id="15" name="Shape 13"/>
          <p:cNvSpPr/>
          <p:nvPr/>
        </p:nvSpPr>
        <p:spPr>
          <a:xfrm>
            <a:off x="548640" y="2825496"/>
            <a:ext cx="8046720" cy="0"/>
          </a:xfrm>
          <a:prstGeom prst="line">
            <a:avLst/>
          </a:prstGeom>
          <a:noFill/>
          <a:ln w="6350">
            <a:solidFill>
              <a:srgbClr val="BCBEC0"/>
            </a:solidFill>
            <a:prstDash val="solid"/>
          </a:ln>
        </p:spPr>
      </p:sp>
      <p:sp>
        <p:nvSpPr>
          <p:cNvPr id="16" name="Text 14"/>
          <p:cNvSpPr txBox="1"/>
          <p:nvPr/>
        </p:nvSpPr>
        <p:spPr>
          <a:xfrm>
            <a:off x="640080" y="2276856"/>
            <a:ext cx="1920240" cy="548640"/>
          </a:xfrm>
          <a:prstGeom prst="rect">
            <a:avLst/>
          </a:prstGeom>
          <a:noFill/>
          <a:ln/>
        </p:spPr>
        <p:txBody>
          <a:bodyPr wrap="square" lIns="0" tIns="0" rIns="0" bIns="0" rtlCol="0" anchor="ctr"/>
          <a:lstStyle/>
          <a:p>
            <a:pPr indent="0" marL="0">
              <a:buNone/>
            </a:pPr>
            <a:r>
              <a:rPr lang="en-US" sz="1300" b="1" dirty="0">
                <a:solidFill>
                  <a:schemeClr val="tx2"/>
                </a:solidFill>
              </a:rPr>
              <a:t>2. Warranty</a:t>
            </a:r>
            <a:endParaRPr lang="en-US" sz="1300" dirty="0"/>
          </a:p>
        </p:txBody>
      </p:sp>
      <p:sp>
        <p:nvSpPr>
          <p:cNvPr id="17" name="Text 15"/>
          <p:cNvSpPr txBox="1"/>
          <p:nvPr/>
        </p:nvSpPr>
        <p:spPr>
          <a:xfrm>
            <a:off x="2743200" y="2276856"/>
            <a:ext cx="2926080" cy="548640"/>
          </a:xfrm>
          <a:prstGeom prst="rect">
            <a:avLst/>
          </a:prstGeom>
          <a:noFill/>
          <a:ln/>
        </p:spPr>
        <p:txBody>
          <a:bodyPr wrap="square" lIns="0" tIns="0" rIns="0" bIns="0" rtlCol="0" anchor="ctr"/>
          <a:lstStyle/>
          <a:p>
            <a:pPr indent="0" marL="0">
              <a:buNone/>
            </a:pPr>
            <a:r>
              <a:rPr lang="en-US" sz="1300" dirty="0">
                <a:solidFill>
                  <a:schemeClr val="tx1"/>
                </a:solidFill>
              </a:rPr>
              <a:t>4-hour acknowledgement; 4-day visit</a:t>
            </a:r>
            <a:endParaRPr lang="en-US" sz="1300" dirty="0"/>
          </a:p>
        </p:txBody>
      </p:sp>
      <p:sp>
        <p:nvSpPr>
          <p:cNvPr id="18" name="Text 16"/>
          <p:cNvSpPr txBox="1"/>
          <p:nvPr/>
        </p:nvSpPr>
        <p:spPr>
          <a:xfrm>
            <a:off x="5852160" y="2276856"/>
            <a:ext cx="1371600" cy="548640"/>
          </a:xfrm>
          <a:prstGeom prst="rect">
            <a:avLst/>
          </a:prstGeom>
          <a:noFill/>
          <a:ln/>
        </p:spPr>
        <p:txBody>
          <a:bodyPr wrap="square" lIns="0" tIns="0" rIns="0" bIns="0" rtlCol="0" anchor="ctr"/>
          <a:lstStyle/>
          <a:p>
            <a:pPr indent="0" marL="0">
              <a:buNone/>
            </a:pPr>
            <a:r>
              <a:rPr lang="en-US" sz="1300" dirty="0">
                <a:solidFill>
                  <a:schemeClr val="tx1"/>
                </a:solidFill>
              </a:rPr>
              <a:t>Claim response</a:t>
            </a:r>
            <a:endParaRPr lang="en-US" sz="1300" dirty="0"/>
          </a:p>
        </p:txBody>
      </p:sp>
      <p:sp>
        <p:nvSpPr>
          <p:cNvPr id="19" name="Shape 17"/>
          <p:cNvSpPr/>
          <p:nvPr/>
        </p:nvSpPr>
        <p:spPr>
          <a:xfrm>
            <a:off x="7406640" y="2697480"/>
            <a:ext cx="1097280" cy="0"/>
          </a:xfrm>
          <a:prstGeom prst="line">
            <a:avLst/>
          </a:prstGeom>
          <a:noFill/>
          <a:ln w="9525">
            <a:solidFill>
              <a:schemeClr val="tx1"/>
            </a:solidFill>
            <a:prstDash val="solid"/>
          </a:ln>
        </p:spPr>
      </p:sp>
      <p:sp>
        <p:nvSpPr>
          <p:cNvPr id="20" name="Shape 18"/>
          <p:cNvSpPr/>
          <p:nvPr/>
        </p:nvSpPr>
        <p:spPr>
          <a:xfrm>
            <a:off x="548640" y="3374136"/>
            <a:ext cx="8046720" cy="0"/>
          </a:xfrm>
          <a:prstGeom prst="line">
            <a:avLst/>
          </a:prstGeom>
          <a:noFill/>
          <a:ln w="6350">
            <a:solidFill>
              <a:srgbClr val="BCBEC0"/>
            </a:solidFill>
            <a:prstDash val="solid"/>
          </a:ln>
        </p:spPr>
      </p:sp>
      <p:sp>
        <p:nvSpPr>
          <p:cNvPr id="21" name="Text 19"/>
          <p:cNvSpPr txBox="1"/>
          <p:nvPr/>
        </p:nvSpPr>
        <p:spPr>
          <a:xfrm>
            <a:off x="640080" y="2825496"/>
            <a:ext cx="1920240" cy="548640"/>
          </a:xfrm>
          <a:prstGeom prst="rect">
            <a:avLst/>
          </a:prstGeom>
          <a:noFill/>
          <a:ln/>
        </p:spPr>
        <p:txBody>
          <a:bodyPr wrap="square" lIns="0" tIns="0" rIns="0" bIns="0" rtlCol="0" anchor="ctr"/>
          <a:lstStyle/>
          <a:p>
            <a:pPr indent="0" marL="0">
              <a:buNone/>
            </a:pPr>
            <a:r>
              <a:rPr lang="en-US" sz="1300" b="1" dirty="0">
                <a:solidFill>
                  <a:schemeClr val="tx2"/>
                </a:solidFill>
              </a:rPr>
              <a:t>3. Logistics</a:t>
            </a:r>
            <a:endParaRPr lang="en-US" sz="1300" dirty="0"/>
          </a:p>
        </p:txBody>
      </p:sp>
      <p:sp>
        <p:nvSpPr>
          <p:cNvPr id="22" name="Text 20"/>
          <p:cNvSpPr txBox="1"/>
          <p:nvPr/>
        </p:nvSpPr>
        <p:spPr>
          <a:xfrm>
            <a:off x="2743200" y="2825496"/>
            <a:ext cx="2926080" cy="548640"/>
          </a:xfrm>
          <a:prstGeom prst="rect">
            <a:avLst/>
          </a:prstGeom>
          <a:noFill/>
          <a:ln/>
        </p:spPr>
        <p:txBody>
          <a:bodyPr wrap="square" lIns="0" tIns="0" rIns="0" bIns="0" rtlCol="0" anchor="ctr"/>
          <a:lstStyle/>
          <a:p>
            <a:pPr indent="0" marL="0">
              <a:buNone/>
            </a:pPr>
            <a:r>
              <a:rPr lang="en-US" sz="1300" dirty="0">
                <a:solidFill>
                  <a:schemeClr val="tx1"/>
                </a:solidFill>
              </a:rPr>
              <a:t>Advance notice; tracking; daily updates</a:t>
            </a:r>
            <a:endParaRPr lang="en-US" sz="1300" dirty="0"/>
          </a:p>
        </p:txBody>
      </p:sp>
      <p:sp>
        <p:nvSpPr>
          <p:cNvPr id="23" name="Text 21"/>
          <p:cNvSpPr txBox="1"/>
          <p:nvPr/>
        </p:nvSpPr>
        <p:spPr>
          <a:xfrm>
            <a:off x="5852160" y="2825496"/>
            <a:ext cx="1371600" cy="548640"/>
          </a:xfrm>
          <a:prstGeom prst="rect">
            <a:avLst/>
          </a:prstGeom>
          <a:noFill/>
          <a:ln/>
        </p:spPr>
        <p:txBody>
          <a:bodyPr wrap="square" lIns="0" tIns="0" rIns="0" bIns="0" rtlCol="0" anchor="ctr"/>
          <a:lstStyle/>
          <a:p>
            <a:pPr indent="0" marL="0">
              <a:buNone/>
            </a:pPr>
            <a:r>
              <a:rPr lang="en-US" sz="1300" dirty="0">
                <a:solidFill>
                  <a:schemeClr val="tx1"/>
                </a:solidFill>
              </a:rPr>
              <a:t>On-time deliveries</a:t>
            </a:r>
            <a:endParaRPr lang="en-US" sz="1300" dirty="0"/>
          </a:p>
        </p:txBody>
      </p:sp>
      <p:sp>
        <p:nvSpPr>
          <p:cNvPr id="24" name="Shape 22"/>
          <p:cNvSpPr/>
          <p:nvPr/>
        </p:nvSpPr>
        <p:spPr>
          <a:xfrm>
            <a:off x="7406640" y="3246120"/>
            <a:ext cx="1097280" cy="0"/>
          </a:xfrm>
          <a:prstGeom prst="line">
            <a:avLst/>
          </a:prstGeom>
          <a:noFill/>
          <a:ln w="9525">
            <a:solidFill>
              <a:schemeClr val="tx1"/>
            </a:solidFill>
            <a:prstDash val="solid"/>
          </a:ln>
        </p:spPr>
      </p:sp>
      <p:sp>
        <p:nvSpPr>
          <p:cNvPr id="25" name="Shape 23"/>
          <p:cNvSpPr/>
          <p:nvPr/>
        </p:nvSpPr>
        <p:spPr>
          <a:xfrm>
            <a:off x="548640" y="3374136"/>
            <a:ext cx="8046720" cy="548640"/>
          </a:xfrm>
          <a:prstGeom prst="rect">
            <a:avLst/>
          </a:prstGeom>
          <a:solidFill>
            <a:schemeClr val="bg2"/>
          </a:solidFill>
          <a:ln w="12700">
            <a:solidFill>
              <a:schemeClr val="bg2"/>
            </a:solidFill>
            <a:prstDash val="solid"/>
          </a:ln>
        </p:spPr>
      </p:sp>
      <p:sp>
        <p:nvSpPr>
          <p:cNvPr id="26" name="Shape 24"/>
          <p:cNvSpPr/>
          <p:nvPr/>
        </p:nvSpPr>
        <p:spPr>
          <a:xfrm>
            <a:off x="548640" y="3922776"/>
            <a:ext cx="8046720" cy="0"/>
          </a:xfrm>
          <a:prstGeom prst="line">
            <a:avLst/>
          </a:prstGeom>
          <a:noFill/>
          <a:ln w="6350">
            <a:solidFill>
              <a:srgbClr val="BCBEC0"/>
            </a:solidFill>
            <a:prstDash val="solid"/>
          </a:ln>
        </p:spPr>
      </p:sp>
      <p:sp>
        <p:nvSpPr>
          <p:cNvPr id="27" name="Text 25"/>
          <p:cNvSpPr txBox="1"/>
          <p:nvPr/>
        </p:nvSpPr>
        <p:spPr>
          <a:xfrm>
            <a:off x="640080" y="3374136"/>
            <a:ext cx="1920240" cy="548640"/>
          </a:xfrm>
          <a:prstGeom prst="rect">
            <a:avLst/>
          </a:prstGeom>
          <a:noFill/>
          <a:ln/>
        </p:spPr>
        <p:txBody>
          <a:bodyPr wrap="square" lIns="0" tIns="0" rIns="0" bIns="0" rtlCol="0" anchor="ctr"/>
          <a:lstStyle/>
          <a:p>
            <a:pPr indent="0" marL="0">
              <a:buNone/>
            </a:pPr>
            <a:r>
              <a:rPr lang="en-US" sz="1300" b="1" dirty="0">
                <a:solidFill>
                  <a:schemeClr val="tx2"/>
                </a:solidFill>
              </a:rPr>
              <a:t>4. Material</a:t>
            </a:r>
            <a:endParaRPr lang="en-US" sz="1300" dirty="0"/>
          </a:p>
        </p:txBody>
      </p:sp>
      <p:sp>
        <p:nvSpPr>
          <p:cNvPr id="28" name="Text 26"/>
          <p:cNvSpPr txBox="1"/>
          <p:nvPr/>
        </p:nvSpPr>
        <p:spPr>
          <a:xfrm>
            <a:off x="2743200" y="3374136"/>
            <a:ext cx="2926080" cy="548640"/>
          </a:xfrm>
          <a:prstGeom prst="rect">
            <a:avLst/>
          </a:prstGeom>
          <a:noFill/>
          <a:ln/>
        </p:spPr>
        <p:txBody>
          <a:bodyPr wrap="square" lIns="0" tIns="0" rIns="0" bIns="0" rtlCol="0" anchor="ctr"/>
          <a:lstStyle/>
          <a:p>
            <a:pPr indent="0" marL="0">
              <a:buNone/>
            </a:pPr>
            <a:r>
              <a:rPr lang="en-US" sz="1300" dirty="0">
                <a:solidFill>
                  <a:schemeClr val="tx1"/>
                </a:solidFill>
              </a:rPr>
              <a:t>Accessories ready in 48 hours</a:t>
            </a:r>
            <a:endParaRPr lang="en-US" sz="1300" dirty="0"/>
          </a:p>
        </p:txBody>
      </p:sp>
      <p:sp>
        <p:nvSpPr>
          <p:cNvPr id="29" name="Text 27"/>
          <p:cNvSpPr txBox="1"/>
          <p:nvPr/>
        </p:nvSpPr>
        <p:spPr>
          <a:xfrm>
            <a:off x="5852160" y="3374136"/>
            <a:ext cx="1371600" cy="548640"/>
          </a:xfrm>
          <a:prstGeom prst="rect">
            <a:avLst/>
          </a:prstGeom>
          <a:noFill/>
          <a:ln/>
        </p:spPr>
        <p:txBody>
          <a:bodyPr wrap="square" lIns="0" tIns="0" rIns="0" bIns="0" rtlCol="0" anchor="ctr"/>
          <a:lstStyle/>
          <a:p>
            <a:pPr indent="0" marL="0">
              <a:buNone/>
            </a:pPr>
            <a:r>
              <a:rPr lang="en-US" sz="1300" dirty="0">
                <a:solidFill>
                  <a:schemeClr val="tx1"/>
                </a:solidFill>
              </a:rPr>
              <a:t>48-hour readiness</a:t>
            </a:r>
            <a:endParaRPr lang="en-US" sz="1300" dirty="0"/>
          </a:p>
        </p:txBody>
      </p:sp>
      <p:sp>
        <p:nvSpPr>
          <p:cNvPr id="30" name="Shape 28"/>
          <p:cNvSpPr/>
          <p:nvPr/>
        </p:nvSpPr>
        <p:spPr>
          <a:xfrm>
            <a:off x="7406640" y="3794760"/>
            <a:ext cx="1097280" cy="0"/>
          </a:xfrm>
          <a:prstGeom prst="line">
            <a:avLst/>
          </a:prstGeom>
          <a:noFill/>
          <a:ln w="9525">
            <a:solidFill>
              <a:schemeClr val="tx1"/>
            </a:solidFill>
            <a:prstDash val="solid"/>
          </a:ln>
        </p:spPr>
      </p:sp>
      <p:sp>
        <p:nvSpPr>
          <p:cNvPr id="31" name="Shape 29"/>
          <p:cNvSpPr/>
          <p:nvPr/>
        </p:nvSpPr>
        <p:spPr>
          <a:xfrm>
            <a:off x="548640" y="4471416"/>
            <a:ext cx="8046720" cy="0"/>
          </a:xfrm>
          <a:prstGeom prst="line">
            <a:avLst/>
          </a:prstGeom>
          <a:noFill/>
          <a:ln w="6350">
            <a:solidFill>
              <a:srgbClr val="BCBEC0"/>
            </a:solidFill>
            <a:prstDash val="solid"/>
          </a:ln>
        </p:spPr>
      </p:sp>
      <p:sp>
        <p:nvSpPr>
          <p:cNvPr id="32" name="Text 30"/>
          <p:cNvSpPr txBox="1"/>
          <p:nvPr/>
        </p:nvSpPr>
        <p:spPr>
          <a:xfrm>
            <a:off x="640080" y="3922776"/>
            <a:ext cx="1920240" cy="548640"/>
          </a:xfrm>
          <a:prstGeom prst="rect">
            <a:avLst/>
          </a:prstGeom>
          <a:noFill/>
          <a:ln/>
        </p:spPr>
        <p:txBody>
          <a:bodyPr wrap="square" lIns="0" tIns="0" rIns="0" bIns="0" rtlCol="0" anchor="ctr"/>
          <a:lstStyle/>
          <a:p>
            <a:pPr indent="0" marL="0">
              <a:buNone/>
            </a:pPr>
            <a:r>
              <a:rPr lang="en-US" sz="1300" b="1" dirty="0">
                <a:solidFill>
                  <a:schemeClr val="tx2"/>
                </a:solidFill>
              </a:rPr>
              <a:t>5. Leads</a:t>
            </a:r>
            <a:endParaRPr lang="en-US" sz="1300" dirty="0"/>
          </a:p>
        </p:txBody>
      </p:sp>
      <p:sp>
        <p:nvSpPr>
          <p:cNvPr id="33" name="Text 31"/>
          <p:cNvSpPr txBox="1"/>
          <p:nvPr/>
        </p:nvSpPr>
        <p:spPr>
          <a:xfrm>
            <a:off x="2743200" y="3922776"/>
            <a:ext cx="2926080" cy="548640"/>
          </a:xfrm>
          <a:prstGeom prst="rect">
            <a:avLst/>
          </a:prstGeom>
          <a:noFill/>
          <a:ln/>
        </p:spPr>
        <p:txBody>
          <a:bodyPr wrap="square" lIns="0" tIns="0" rIns="0" bIns="0" rtlCol="0" anchor="ctr"/>
          <a:lstStyle/>
          <a:p>
            <a:pPr indent="0" marL="0">
              <a:buNone/>
            </a:pPr>
            <a:r>
              <a:rPr lang="en-US" sz="1300" dirty="0">
                <a:solidFill>
                  <a:schemeClr val="tx1"/>
                </a:solidFill>
              </a:rPr>
              <a:t>Division partnerships; team time</a:t>
            </a:r>
            <a:endParaRPr lang="en-US" sz="1300" dirty="0"/>
          </a:p>
        </p:txBody>
      </p:sp>
      <p:sp>
        <p:nvSpPr>
          <p:cNvPr id="34" name="Text 32"/>
          <p:cNvSpPr txBox="1"/>
          <p:nvPr/>
        </p:nvSpPr>
        <p:spPr>
          <a:xfrm>
            <a:off x="5852160" y="3922776"/>
            <a:ext cx="1371600" cy="548640"/>
          </a:xfrm>
          <a:prstGeom prst="rect">
            <a:avLst/>
          </a:prstGeom>
          <a:noFill/>
          <a:ln/>
        </p:spPr>
        <p:txBody>
          <a:bodyPr wrap="square" lIns="0" tIns="0" rIns="0" bIns="0" rtlCol="0" anchor="ctr"/>
          <a:lstStyle/>
          <a:p>
            <a:pPr indent="0" marL="0">
              <a:buNone/>
            </a:pPr>
            <a:r>
              <a:rPr lang="en-US" sz="1300" dirty="0">
                <a:solidFill>
                  <a:schemeClr val="tx1"/>
                </a:solidFill>
              </a:rPr>
              <a:t>Leads delivered</a:t>
            </a:r>
            <a:endParaRPr lang="en-US" sz="1300" dirty="0"/>
          </a:p>
        </p:txBody>
      </p:sp>
      <p:sp>
        <p:nvSpPr>
          <p:cNvPr id="35" name="Shape 33"/>
          <p:cNvSpPr/>
          <p:nvPr/>
        </p:nvSpPr>
        <p:spPr>
          <a:xfrm>
            <a:off x="7406640" y="4343400"/>
            <a:ext cx="1097280" cy="0"/>
          </a:xfrm>
          <a:prstGeom prst="line">
            <a:avLst/>
          </a:prstGeom>
          <a:noFill/>
          <a:ln w="9525">
            <a:solidFill>
              <a:schemeClr val="tx1"/>
            </a:solidFill>
            <a:prstDash val="solid"/>
          </a:ln>
        </p:spPr>
      </p:sp>
      <p:sp>
        <p:nvSpPr>
          <p:cNvPr id="25" name="Slide Number Placeholder 0"/>
          <p:cNvSpPr>
            <a:spLocks noGrp="1"/>
          </p:cNvSpPr>
          <p:nvPr>
            <p:ph type="sldNum" sz="quarter" idx="4294967295"/>
          </p:nvPr>
        </p:nvSpPr>
        <p:spPr>
          <a:xfrm>
            <a:off x="8229600" y="4681728"/>
            <a:ext cx="365760" cy="210312"/>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3" type="title" hasCustomPrompt="1"/>
          </p:nvPr>
        </p:nvSpPr>
        <p:spPr>
          <a:xfrm>
            <a:off x="548640" y="365760"/>
            <a:ext cx="8046720" cy="548640"/>
          </a:xfrm>
          <a:prstGeom prst="rect">
            <a:avLst/>
          </a:prstGeom>
          <a:noFill/>
          <a:ln/>
        </p:spPr>
        <p:txBody>
          <a:bodyPr wrap="square" lIns="0" tIns="0" rIns="0" bIns="0" rtlCol="0" anchor="t"/>
          <a:lstStyle/>
          <a:p>
            <a:pPr algn="l" indent="0" marL="0">
              <a:buNone/>
            </a:pPr>
            <a:r>
              <a:rPr lang="en-US" sz="2600" b="1" dirty="0">
                <a:solidFill>
                  <a:schemeClr val="tx2"/>
                </a:solidFill>
              </a:rPr>
              <a:t>Appendix: Detailed Assessment by Area</a:t>
            </a:r>
            <a:endParaRPr lang="en-US" sz="2600" dirty="0"/>
          </a:p>
        </p:txBody>
      </p:sp>
      <p:sp>
        <p:nvSpPr>
          <p:cNvPr id="3" name="Product Quality"/>
          <p:cNvSpPr/>
          <p:nvPr/>
        </p:nvSpPr>
        <p:spPr>
          <a:xfrm>
            <a:off x="548640" y="1051560"/>
            <a:ext cx="2560320" cy="1536192"/>
          </a:xfrm>
          <a:prstGeom prst="rect">
            <a:avLst/>
          </a:prstGeom>
          <a:solidFill>
            <a:schemeClr val="bg1"/>
          </a:solidFill>
          <a:ln w="9525">
            <a:solidFill>
              <a:srgbClr val="BCBEC0"/>
            </a:solidFill>
            <a:prstDash val="solid"/>
          </a:ln>
        </p:spPr>
      </p:sp>
      <p:sp>
        <p:nvSpPr>
          <p:cNvPr id="4" name="Text 2"/>
          <p:cNvSpPr txBox="1"/>
          <p:nvPr/>
        </p:nvSpPr>
        <p:spPr>
          <a:xfrm>
            <a:off x="685800" y="1161288"/>
            <a:ext cx="1554480" cy="237744"/>
          </a:xfrm>
          <a:prstGeom prst="rect">
            <a:avLst/>
          </a:prstGeom>
          <a:noFill/>
          <a:ln/>
        </p:spPr>
        <p:txBody>
          <a:bodyPr wrap="square" lIns="0" tIns="0" rIns="0" bIns="0" rtlCol="0" anchor="t"/>
          <a:lstStyle/>
          <a:p>
            <a:pPr indent="0" marL="0">
              <a:buNone/>
            </a:pPr>
            <a:r>
              <a:rPr lang="en-US" sz="1300" b="1" dirty="0">
                <a:solidFill>
                  <a:schemeClr val="tx2"/>
                </a:solidFill>
              </a:rPr>
              <a:t>Product Quality</a:t>
            </a:r>
            <a:endParaRPr lang="en-US" sz="1300" dirty="0"/>
          </a:p>
        </p:txBody>
      </p:sp>
      <p:sp>
        <p:nvSpPr>
          <p:cNvPr id="5" name="Status Strength"/>
          <p:cNvSpPr/>
          <p:nvPr/>
        </p:nvSpPr>
        <p:spPr>
          <a:xfrm>
            <a:off x="2194560" y="1161288"/>
            <a:ext cx="777240" cy="237744"/>
          </a:xfrm>
          <a:prstGeom prst="rect">
            <a:avLst/>
          </a:prstGeom>
          <a:solidFill>
            <a:schemeClr val="accent4"/>
          </a:solidFill>
          <a:ln>
            <a:solidFill>
              <a:schemeClr val="accent4"/>
            </a:solidFill>
          </a:ln>
        </p:spPr>
        <p:txBody>
          <a:bodyPr wrap="square" lIns="0" tIns="0" rIns="0" bIns="0" rtlCol="0" anchor="ctr"/>
          <a:lstStyle/>
          <a:p>
            <a:pPr algn="ctr" indent="0" marL="0">
              <a:buNone/>
            </a:pPr>
            <a:r>
              <a:rPr lang="en-US" sz="1000" b="1" dirty="0">
                <a:solidFill>
                  <a:schemeClr val="bg1"/>
                </a:solidFill>
              </a:rPr>
              <a:t>Strength</a:t>
            </a:r>
            <a:endParaRPr lang="en-US" sz="1000" dirty="0"/>
          </a:p>
        </p:txBody>
      </p:sp>
      <p:sp>
        <p:nvSpPr>
          <p:cNvPr id="6" name="Shape 4"/>
          <p:cNvSpPr/>
          <p:nvPr/>
        </p:nvSpPr>
        <p:spPr>
          <a:xfrm>
            <a:off x="704088" y="1517904"/>
            <a:ext cx="109728" cy="109728"/>
          </a:xfrm>
          <a:prstGeom prst="ellipse">
            <a:avLst/>
          </a:prstGeom>
          <a:solidFill>
            <a:schemeClr val="accent4"/>
          </a:solidFill>
          <a:ln w="12700">
            <a:solidFill>
              <a:schemeClr val="accent4"/>
            </a:solidFill>
            <a:prstDash val="solid"/>
          </a:ln>
        </p:spPr>
      </p:sp>
      <p:sp>
        <p:nvSpPr>
          <p:cNvPr id="7" name="Text 5"/>
          <p:cNvSpPr txBox="1"/>
          <p:nvPr/>
        </p:nvSpPr>
        <p:spPr>
          <a:xfrm>
            <a:off x="896112" y="1481328"/>
            <a:ext cx="2103120" cy="173736"/>
          </a:xfrm>
          <a:prstGeom prst="rect">
            <a:avLst/>
          </a:prstGeom>
          <a:noFill/>
          <a:ln/>
        </p:spPr>
        <p:txBody>
          <a:bodyPr wrap="square" lIns="0" tIns="0" rIns="0" bIns="0" rtlCol="0" anchor="t"/>
          <a:lstStyle/>
          <a:p>
            <a:pPr indent="0" marL="0">
              <a:buNone/>
            </a:pPr>
            <a:r>
              <a:rPr lang="en-US" sz="1100" dirty="0">
                <a:solidFill>
                  <a:schemeClr val="tx1"/>
                </a:solidFill>
              </a:rPr>
              <a:t>Silicone</a:t>
            </a:r>
            <a:endParaRPr lang="en-US" sz="1100" dirty="0"/>
          </a:p>
        </p:txBody>
      </p:sp>
      <p:sp>
        <p:nvSpPr>
          <p:cNvPr id="8" name="Shape 6"/>
          <p:cNvSpPr/>
          <p:nvPr/>
        </p:nvSpPr>
        <p:spPr>
          <a:xfrm>
            <a:off x="704088" y="1696212"/>
            <a:ext cx="109728" cy="109728"/>
          </a:xfrm>
          <a:prstGeom prst="ellipse">
            <a:avLst/>
          </a:prstGeom>
          <a:solidFill>
            <a:schemeClr val="accent4"/>
          </a:solidFill>
          <a:ln w="12700">
            <a:solidFill>
              <a:schemeClr val="accent4"/>
            </a:solidFill>
            <a:prstDash val="solid"/>
          </a:ln>
        </p:spPr>
      </p:sp>
      <p:sp>
        <p:nvSpPr>
          <p:cNvPr id="9" name="Text 7"/>
          <p:cNvSpPr txBox="1"/>
          <p:nvPr/>
        </p:nvSpPr>
        <p:spPr>
          <a:xfrm>
            <a:off x="896112" y="1659636"/>
            <a:ext cx="2103120" cy="173736"/>
          </a:xfrm>
          <a:prstGeom prst="rect">
            <a:avLst/>
          </a:prstGeom>
          <a:noFill/>
          <a:ln/>
        </p:spPr>
        <p:txBody>
          <a:bodyPr wrap="square" lIns="0" tIns="0" rIns="0" bIns="0" rtlCol="0" anchor="t"/>
          <a:lstStyle/>
          <a:p>
            <a:pPr indent="0" marL="0">
              <a:buNone/>
            </a:pPr>
            <a:r>
              <a:rPr lang="en-US" sz="1100" dirty="0">
                <a:solidFill>
                  <a:schemeClr val="tx1"/>
                </a:solidFill>
              </a:rPr>
              <a:t>SPF</a:t>
            </a:r>
            <a:endParaRPr lang="en-US" sz="1100" dirty="0"/>
          </a:p>
        </p:txBody>
      </p:sp>
      <p:sp>
        <p:nvSpPr>
          <p:cNvPr id="10" name="Shape 8"/>
          <p:cNvSpPr/>
          <p:nvPr/>
        </p:nvSpPr>
        <p:spPr>
          <a:xfrm>
            <a:off x="704088" y="1874520"/>
            <a:ext cx="109728" cy="109728"/>
          </a:xfrm>
          <a:prstGeom prst="ellipse">
            <a:avLst/>
          </a:prstGeom>
          <a:solidFill>
            <a:schemeClr val="accent5"/>
          </a:solidFill>
          <a:ln w="12700">
            <a:solidFill>
              <a:schemeClr val="accent5"/>
            </a:solidFill>
            <a:prstDash val="solid"/>
          </a:ln>
        </p:spPr>
      </p:sp>
      <p:sp>
        <p:nvSpPr>
          <p:cNvPr id="11" name="Text 9"/>
          <p:cNvSpPr txBox="1"/>
          <p:nvPr/>
        </p:nvSpPr>
        <p:spPr>
          <a:xfrm>
            <a:off x="896112" y="1837944"/>
            <a:ext cx="2103120" cy="173736"/>
          </a:xfrm>
          <a:prstGeom prst="rect">
            <a:avLst/>
          </a:prstGeom>
          <a:noFill/>
          <a:ln/>
        </p:spPr>
        <p:txBody>
          <a:bodyPr wrap="square" lIns="0" tIns="0" rIns="0" bIns="0" rtlCol="0" anchor="t"/>
          <a:lstStyle/>
          <a:p>
            <a:pPr indent="0" marL="0">
              <a:buNone/>
            </a:pPr>
            <a:r>
              <a:rPr lang="en-US" sz="1100" dirty="0">
                <a:solidFill>
                  <a:schemeClr val="tx1"/>
                </a:solidFill>
              </a:rPr>
              <a:t>Acrylic</a:t>
            </a:r>
            <a:endParaRPr lang="en-US" sz="1100" dirty="0"/>
          </a:p>
        </p:txBody>
      </p:sp>
      <p:sp>
        <p:nvSpPr>
          <p:cNvPr id="12" name="Shape 10"/>
          <p:cNvSpPr/>
          <p:nvPr/>
        </p:nvSpPr>
        <p:spPr>
          <a:xfrm>
            <a:off x="704088" y="2052828"/>
            <a:ext cx="109728" cy="109728"/>
          </a:xfrm>
          <a:prstGeom prst="ellipse">
            <a:avLst/>
          </a:prstGeom>
          <a:solidFill>
            <a:schemeClr val="accent3"/>
          </a:solidFill>
          <a:ln w="12700">
            <a:solidFill>
              <a:schemeClr val="accent3"/>
            </a:solidFill>
            <a:prstDash val="solid"/>
          </a:ln>
        </p:spPr>
      </p:sp>
      <p:sp>
        <p:nvSpPr>
          <p:cNvPr id="13" name="Text 11"/>
          <p:cNvSpPr txBox="1"/>
          <p:nvPr/>
        </p:nvSpPr>
        <p:spPr>
          <a:xfrm>
            <a:off x="896112" y="2016252"/>
            <a:ext cx="2103120" cy="173736"/>
          </a:xfrm>
          <a:prstGeom prst="rect">
            <a:avLst/>
          </a:prstGeom>
          <a:noFill/>
          <a:ln/>
        </p:spPr>
        <p:txBody>
          <a:bodyPr wrap="square" lIns="0" tIns="0" rIns="0" bIns="0" rtlCol="0" anchor="t"/>
          <a:lstStyle/>
          <a:p>
            <a:pPr indent="0" marL="0">
              <a:buNone/>
            </a:pPr>
            <a:r>
              <a:rPr lang="en-US" sz="1100" dirty="0">
                <a:solidFill>
                  <a:schemeClr val="tx1"/>
                </a:solidFill>
              </a:rPr>
              <a:t>Acrylic clumping</a:t>
            </a:r>
            <a:endParaRPr lang="en-US" sz="1100" dirty="0"/>
          </a:p>
        </p:txBody>
      </p:sp>
      <p:sp>
        <p:nvSpPr>
          <p:cNvPr id="14" name="Shape 12"/>
          <p:cNvSpPr/>
          <p:nvPr/>
        </p:nvSpPr>
        <p:spPr>
          <a:xfrm>
            <a:off x="704088" y="2231136"/>
            <a:ext cx="109728" cy="109728"/>
          </a:xfrm>
          <a:prstGeom prst="ellipse">
            <a:avLst/>
          </a:prstGeom>
          <a:solidFill>
            <a:schemeClr val="accent6"/>
          </a:solidFill>
          <a:ln w="12700">
            <a:solidFill>
              <a:schemeClr val="accent6"/>
            </a:solidFill>
            <a:prstDash val="solid"/>
          </a:ln>
        </p:spPr>
      </p:sp>
      <p:sp>
        <p:nvSpPr>
          <p:cNvPr id="15" name="Text 13"/>
          <p:cNvSpPr txBox="1"/>
          <p:nvPr/>
        </p:nvSpPr>
        <p:spPr>
          <a:xfrm>
            <a:off x="896112" y="2194560"/>
            <a:ext cx="2103120" cy="173736"/>
          </a:xfrm>
          <a:prstGeom prst="rect">
            <a:avLst/>
          </a:prstGeom>
          <a:noFill/>
          <a:ln/>
        </p:spPr>
        <p:txBody>
          <a:bodyPr wrap="square" lIns="0" tIns="0" rIns="0" bIns="0" rtlCol="0" anchor="t"/>
          <a:lstStyle/>
          <a:p>
            <a:pPr indent="0" marL="0">
              <a:buNone/>
            </a:pPr>
            <a:r>
              <a:rPr lang="en-US" sz="1100" dirty="0">
                <a:solidFill>
                  <a:schemeClr val="tx1"/>
                </a:solidFill>
              </a:rPr>
              <a:t>Seam treatments</a:t>
            </a:r>
            <a:endParaRPr lang="en-US" sz="1100" dirty="0"/>
          </a:p>
        </p:txBody>
      </p:sp>
      <p:sp>
        <p:nvSpPr>
          <p:cNvPr id="16" name="Shape 14"/>
          <p:cNvSpPr/>
          <p:nvPr/>
        </p:nvSpPr>
        <p:spPr>
          <a:xfrm>
            <a:off x="704088" y="2409444"/>
            <a:ext cx="109728" cy="109728"/>
          </a:xfrm>
          <a:prstGeom prst="ellipse">
            <a:avLst/>
          </a:prstGeom>
          <a:solidFill>
            <a:schemeClr val="accent3"/>
          </a:solidFill>
          <a:ln w="12700">
            <a:solidFill>
              <a:schemeClr val="accent3"/>
            </a:solidFill>
            <a:prstDash val="solid"/>
          </a:ln>
        </p:spPr>
      </p:sp>
      <p:sp>
        <p:nvSpPr>
          <p:cNvPr id="17" name="Text 15"/>
          <p:cNvSpPr txBox="1"/>
          <p:nvPr/>
        </p:nvSpPr>
        <p:spPr>
          <a:xfrm>
            <a:off x="896112" y="2372868"/>
            <a:ext cx="2103120" cy="173736"/>
          </a:xfrm>
          <a:prstGeom prst="rect">
            <a:avLst/>
          </a:prstGeom>
          <a:noFill/>
          <a:ln/>
        </p:spPr>
        <p:txBody>
          <a:bodyPr wrap="square" lIns="0" tIns="0" rIns="0" bIns="0" rtlCol="0" anchor="t"/>
          <a:lstStyle/>
          <a:p>
            <a:pPr indent="0" marL="0">
              <a:buNone/>
            </a:pPr>
            <a:r>
              <a:rPr lang="en-US" sz="1100" dirty="0">
                <a:solidFill>
                  <a:schemeClr val="tx1"/>
                </a:solidFill>
              </a:rPr>
              <a:t>Urethane system</a:t>
            </a:r>
            <a:endParaRPr lang="en-US" sz="1100" dirty="0"/>
          </a:p>
        </p:txBody>
      </p:sp>
      <p:sp>
        <p:nvSpPr>
          <p:cNvPr id="18" name="Availability"/>
          <p:cNvSpPr/>
          <p:nvPr/>
        </p:nvSpPr>
        <p:spPr>
          <a:xfrm>
            <a:off x="3291840" y="1051560"/>
            <a:ext cx="2560320" cy="1536192"/>
          </a:xfrm>
          <a:prstGeom prst="rect">
            <a:avLst/>
          </a:prstGeom>
          <a:solidFill>
            <a:schemeClr val="bg1"/>
          </a:solidFill>
          <a:ln w="9525">
            <a:solidFill>
              <a:srgbClr val="BCBEC0"/>
            </a:solidFill>
            <a:prstDash val="solid"/>
          </a:ln>
        </p:spPr>
      </p:sp>
      <p:sp>
        <p:nvSpPr>
          <p:cNvPr id="19" name="Text 17"/>
          <p:cNvSpPr txBox="1"/>
          <p:nvPr/>
        </p:nvSpPr>
        <p:spPr>
          <a:xfrm>
            <a:off x="3429000" y="1161288"/>
            <a:ext cx="1554480" cy="237744"/>
          </a:xfrm>
          <a:prstGeom prst="rect">
            <a:avLst/>
          </a:prstGeom>
          <a:noFill/>
          <a:ln/>
        </p:spPr>
        <p:txBody>
          <a:bodyPr wrap="square" lIns="0" tIns="0" rIns="0" bIns="0" rtlCol="0" anchor="t"/>
          <a:lstStyle/>
          <a:p>
            <a:pPr indent="0" marL="0">
              <a:buNone/>
            </a:pPr>
            <a:r>
              <a:rPr lang="en-US" sz="1300" b="1" dirty="0">
                <a:solidFill>
                  <a:schemeClr val="tx2"/>
                </a:solidFill>
              </a:rPr>
              <a:t>Availability</a:t>
            </a:r>
            <a:endParaRPr lang="en-US" sz="1300" dirty="0"/>
          </a:p>
        </p:txBody>
      </p:sp>
      <p:sp>
        <p:nvSpPr>
          <p:cNvPr id="20" name="Status Watch"/>
          <p:cNvSpPr/>
          <p:nvPr/>
        </p:nvSpPr>
        <p:spPr>
          <a:xfrm>
            <a:off x="4937760" y="1161288"/>
            <a:ext cx="777240" cy="237744"/>
          </a:xfrm>
          <a:prstGeom prst="rect">
            <a:avLst/>
          </a:prstGeom>
          <a:solidFill>
            <a:schemeClr val="accent5"/>
          </a:solidFill>
          <a:ln>
            <a:solidFill>
              <a:schemeClr val="accent5"/>
            </a:solidFill>
          </a:ln>
        </p:spPr>
        <p:txBody>
          <a:bodyPr wrap="square" lIns="0" tIns="0" rIns="0" bIns="0" rtlCol="0" anchor="ctr"/>
          <a:lstStyle/>
          <a:p>
            <a:pPr algn="ctr" indent="0" marL="0">
              <a:buNone/>
            </a:pPr>
            <a:r>
              <a:rPr lang="en-US" sz="1000" b="1" dirty="0">
                <a:solidFill>
                  <a:schemeClr val="tx1"/>
                </a:solidFill>
              </a:rPr>
              <a:t>Watch</a:t>
            </a:r>
            <a:endParaRPr lang="en-US" sz="1000" dirty="0"/>
          </a:p>
        </p:txBody>
      </p:sp>
      <p:sp>
        <p:nvSpPr>
          <p:cNvPr id="21" name="Shape 19"/>
          <p:cNvSpPr/>
          <p:nvPr/>
        </p:nvSpPr>
        <p:spPr>
          <a:xfrm>
            <a:off x="3447288" y="1517904"/>
            <a:ext cx="109728" cy="109728"/>
          </a:xfrm>
          <a:prstGeom prst="ellipse">
            <a:avLst/>
          </a:prstGeom>
          <a:solidFill>
            <a:schemeClr val="accent4"/>
          </a:solidFill>
          <a:ln w="12700">
            <a:solidFill>
              <a:schemeClr val="accent4"/>
            </a:solidFill>
            <a:prstDash val="solid"/>
          </a:ln>
        </p:spPr>
      </p:sp>
      <p:sp>
        <p:nvSpPr>
          <p:cNvPr id="22" name="Text 20"/>
          <p:cNvSpPr txBox="1"/>
          <p:nvPr/>
        </p:nvSpPr>
        <p:spPr>
          <a:xfrm>
            <a:off x="3639312" y="1481328"/>
            <a:ext cx="2103120" cy="173736"/>
          </a:xfrm>
          <a:prstGeom prst="rect">
            <a:avLst/>
          </a:prstGeom>
          <a:noFill/>
          <a:ln/>
        </p:spPr>
        <p:txBody>
          <a:bodyPr wrap="square" lIns="0" tIns="0" rIns="0" bIns="0" rtlCol="0" anchor="t"/>
          <a:lstStyle/>
          <a:p>
            <a:pPr indent="0" marL="0">
              <a:buNone/>
            </a:pPr>
            <a:r>
              <a:rPr lang="en-US" sz="1100" dirty="0">
                <a:solidFill>
                  <a:schemeClr val="tx1"/>
                </a:solidFill>
              </a:rPr>
              <a:t>Silicone</a:t>
            </a:r>
            <a:endParaRPr lang="en-US" sz="1100" dirty="0"/>
          </a:p>
        </p:txBody>
      </p:sp>
      <p:sp>
        <p:nvSpPr>
          <p:cNvPr id="23" name="Shape 21"/>
          <p:cNvSpPr/>
          <p:nvPr/>
        </p:nvSpPr>
        <p:spPr>
          <a:xfrm>
            <a:off x="3447288" y="1696212"/>
            <a:ext cx="109728" cy="109728"/>
          </a:xfrm>
          <a:prstGeom prst="ellipse">
            <a:avLst/>
          </a:prstGeom>
          <a:solidFill>
            <a:schemeClr val="accent5"/>
          </a:solidFill>
          <a:ln w="12700">
            <a:solidFill>
              <a:schemeClr val="accent5"/>
            </a:solidFill>
            <a:prstDash val="solid"/>
          </a:ln>
        </p:spPr>
      </p:sp>
      <p:sp>
        <p:nvSpPr>
          <p:cNvPr id="24" name="Text 22"/>
          <p:cNvSpPr txBox="1"/>
          <p:nvPr/>
        </p:nvSpPr>
        <p:spPr>
          <a:xfrm>
            <a:off x="3639312" y="1659636"/>
            <a:ext cx="2103120" cy="173736"/>
          </a:xfrm>
          <a:prstGeom prst="rect">
            <a:avLst/>
          </a:prstGeom>
          <a:noFill/>
          <a:ln/>
        </p:spPr>
        <p:txBody>
          <a:bodyPr wrap="square" lIns="0" tIns="0" rIns="0" bIns="0" rtlCol="0" anchor="t"/>
          <a:lstStyle/>
          <a:p>
            <a:pPr indent="0" marL="0">
              <a:buNone/>
            </a:pPr>
            <a:r>
              <a:rPr lang="en-US" sz="1100" dirty="0">
                <a:solidFill>
                  <a:schemeClr val="tx1"/>
                </a:solidFill>
              </a:rPr>
              <a:t>Accessories</a:t>
            </a:r>
            <a:endParaRPr lang="en-US" sz="1100" dirty="0"/>
          </a:p>
        </p:txBody>
      </p:sp>
      <p:sp>
        <p:nvSpPr>
          <p:cNvPr id="25" name="Shape 23"/>
          <p:cNvSpPr/>
          <p:nvPr/>
        </p:nvSpPr>
        <p:spPr>
          <a:xfrm>
            <a:off x="3447288" y="1874520"/>
            <a:ext cx="109728" cy="109728"/>
          </a:xfrm>
          <a:prstGeom prst="ellipse">
            <a:avLst/>
          </a:prstGeom>
          <a:solidFill>
            <a:schemeClr val="accent6"/>
          </a:solidFill>
          <a:ln w="12700">
            <a:solidFill>
              <a:schemeClr val="accent6"/>
            </a:solidFill>
            <a:prstDash val="solid"/>
          </a:ln>
        </p:spPr>
      </p:sp>
      <p:sp>
        <p:nvSpPr>
          <p:cNvPr id="26" name="Text 24"/>
          <p:cNvSpPr txBox="1"/>
          <p:nvPr/>
        </p:nvSpPr>
        <p:spPr>
          <a:xfrm>
            <a:off x="3639312" y="1837944"/>
            <a:ext cx="2103120" cy="173736"/>
          </a:xfrm>
          <a:prstGeom prst="rect">
            <a:avLst/>
          </a:prstGeom>
          <a:noFill/>
          <a:ln/>
        </p:spPr>
        <p:txBody>
          <a:bodyPr wrap="square" lIns="0" tIns="0" rIns="0" bIns="0" rtlCol="0" anchor="t"/>
          <a:lstStyle/>
          <a:p>
            <a:pPr indent="0" marL="0">
              <a:buNone/>
            </a:pPr>
            <a:r>
              <a:rPr lang="en-US" sz="1100" dirty="0">
                <a:solidFill>
                  <a:schemeClr val="tx1"/>
                </a:solidFill>
              </a:rPr>
              <a:t>Acrylic</a:t>
            </a:r>
            <a:endParaRPr lang="en-US" sz="1100" dirty="0"/>
          </a:p>
        </p:txBody>
      </p:sp>
      <p:sp>
        <p:nvSpPr>
          <p:cNvPr id="27" name="Shape 25"/>
          <p:cNvSpPr/>
          <p:nvPr/>
        </p:nvSpPr>
        <p:spPr>
          <a:xfrm>
            <a:off x="3447288" y="2052828"/>
            <a:ext cx="109728" cy="109728"/>
          </a:xfrm>
          <a:prstGeom prst="ellipse">
            <a:avLst/>
          </a:prstGeom>
          <a:solidFill>
            <a:schemeClr val="accent6"/>
          </a:solidFill>
          <a:ln w="12700">
            <a:solidFill>
              <a:schemeClr val="accent6"/>
            </a:solidFill>
            <a:prstDash val="solid"/>
          </a:ln>
        </p:spPr>
      </p:sp>
      <p:sp>
        <p:nvSpPr>
          <p:cNvPr id="28" name="Text 26"/>
          <p:cNvSpPr txBox="1"/>
          <p:nvPr/>
        </p:nvSpPr>
        <p:spPr>
          <a:xfrm>
            <a:off x="3639312" y="2016252"/>
            <a:ext cx="2103120" cy="173736"/>
          </a:xfrm>
          <a:prstGeom prst="rect">
            <a:avLst/>
          </a:prstGeom>
          <a:noFill/>
          <a:ln/>
        </p:spPr>
        <p:txBody>
          <a:bodyPr wrap="square" lIns="0" tIns="0" rIns="0" bIns="0" rtlCol="0" anchor="t"/>
          <a:lstStyle/>
          <a:p>
            <a:pPr indent="0" marL="0">
              <a:buNone/>
            </a:pPr>
            <a:r>
              <a:rPr lang="en-US" sz="1100" dirty="0">
                <a:solidFill>
                  <a:schemeClr val="tx1"/>
                </a:solidFill>
              </a:rPr>
              <a:t>Primers and bleed blockers</a:t>
            </a:r>
            <a:endParaRPr lang="en-US" sz="1100" dirty="0"/>
          </a:p>
        </p:txBody>
      </p:sp>
      <p:sp>
        <p:nvSpPr>
          <p:cNvPr id="29" name="Leads and Pricing"/>
          <p:cNvSpPr/>
          <p:nvPr/>
        </p:nvSpPr>
        <p:spPr>
          <a:xfrm>
            <a:off x="6035040" y="1051560"/>
            <a:ext cx="2560320" cy="1536192"/>
          </a:xfrm>
          <a:prstGeom prst="rect">
            <a:avLst/>
          </a:prstGeom>
          <a:solidFill>
            <a:schemeClr val="bg1"/>
          </a:solidFill>
          <a:ln w="9525">
            <a:solidFill>
              <a:srgbClr val="BCBEC0"/>
            </a:solidFill>
            <a:prstDash val="solid"/>
          </a:ln>
        </p:spPr>
      </p:sp>
      <p:sp>
        <p:nvSpPr>
          <p:cNvPr id="30" name="Text 28"/>
          <p:cNvSpPr txBox="1"/>
          <p:nvPr/>
        </p:nvSpPr>
        <p:spPr>
          <a:xfrm>
            <a:off x="6172200" y="1161288"/>
            <a:ext cx="1554480" cy="237744"/>
          </a:xfrm>
          <a:prstGeom prst="rect">
            <a:avLst/>
          </a:prstGeom>
          <a:noFill/>
          <a:ln/>
        </p:spPr>
        <p:txBody>
          <a:bodyPr wrap="square" lIns="0" tIns="0" rIns="0" bIns="0" rtlCol="0" anchor="t"/>
          <a:lstStyle/>
          <a:p>
            <a:pPr indent="0" marL="0">
              <a:buNone/>
            </a:pPr>
            <a:r>
              <a:rPr lang="en-US" sz="1300" b="1" dirty="0">
                <a:solidFill>
                  <a:schemeClr val="tx2"/>
                </a:solidFill>
              </a:rPr>
              <a:t>Leads and Pricing</a:t>
            </a:r>
            <a:endParaRPr lang="en-US" sz="1300" dirty="0"/>
          </a:p>
        </p:txBody>
      </p:sp>
      <p:sp>
        <p:nvSpPr>
          <p:cNvPr id="31" name="Status Strength"/>
          <p:cNvSpPr/>
          <p:nvPr/>
        </p:nvSpPr>
        <p:spPr>
          <a:xfrm>
            <a:off x="7680960" y="1161288"/>
            <a:ext cx="777240" cy="237744"/>
          </a:xfrm>
          <a:prstGeom prst="rect">
            <a:avLst/>
          </a:prstGeom>
          <a:solidFill>
            <a:schemeClr val="accent4"/>
          </a:solidFill>
          <a:ln>
            <a:solidFill>
              <a:schemeClr val="accent4"/>
            </a:solidFill>
          </a:ln>
        </p:spPr>
        <p:txBody>
          <a:bodyPr wrap="square" lIns="0" tIns="0" rIns="0" bIns="0" rtlCol="0" anchor="ctr"/>
          <a:lstStyle/>
          <a:p>
            <a:pPr algn="ctr" indent="0" marL="0">
              <a:buNone/>
            </a:pPr>
            <a:r>
              <a:rPr lang="en-US" sz="1000" b="1" dirty="0">
                <a:solidFill>
                  <a:schemeClr val="bg1"/>
                </a:solidFill>
              </a:rPr>
              <a:t>Strength</a:t>
            </a:r>
            <a:endParaRPr lang="en-US" sz="1000" dirty="0"/>
          </a:p>
        </p:txBody>
      </p:sp>
      <p:sp>
        <p:nvSpPr>
          <p:cNvPr id="32" name="Shape 30"/>
          <p:cNvSpPr/>
          <p:nvPr/>
        </p:nvSpPr>
        <p:spPr>
          <a:xfrm>
            <a:off x="6190488" y="1517904"/>
            <a:ext cx="109728" cy="109728"/>
          </a:xfrm>
          <a:prstGeom prst="ellipse">
            <a:avLst/>
          </a:prstGeom>
          <a:solidFill>
            <a:schemeClr val="accent4"/>
          </a:solidFill>
          <a:ln w="12700">
            <a:solidFill>
              <a:schemeClr val="accent4"/>
            </a:solidFill>
            <a:prstDash val="solid"/>
          </a:ln>
        </p:spPr>
      </p:sp>
      <p:sp>
        <p:nvSpPr>
          <p:cNvPr id="33" name="Text 31"/>
          <p:cNvSpPr txBox="1"/>
          <p:nvPr/>
        </p:nvSpPr>
        <p:spPr>
          <a:xfrm>
            <a:off x="6382512" y="1481328"/>
            <a:ext cx="2103120" cy="173736"/>
          </a:xfrm>
          <a:prstGeom prst="rect">
            <a:avLst/>
          </a:prstGeom>
          <a:noFill/>
          <a:ln/>
        </p:spPr>
        <p:txBody>
          <a:bodyPr wrap="square" lIns="0" tIns="0" rIns="0" bIns="0" rtlCol="0" anchor="t"/>
          <a:lstStyle/>
          <a:p>
            <a:pPr indent="0" marL="0">
              <a:buNone/>
            </a:pPr>
            <a:r>
              <a:rPr lang="en-US" sz="1100" dirty="0">
                <a:solidFill>
                  <a:schemeClr val="tx1"/>
                </a:solidFill>
              </a:rPr>
              <a:t>Henry-provided leads</a:t>
            </a:r>
            <a:endParaRPr lang="en-US" sz="1100" dirty="0"/>
          </a:p>
        </p:txBody>
      </p:sp>
      <p:sp>
        <p:nvSpPr>
          <p:cNvPr id="34" name="Shape 32"/>
          <p:cNvSpPr/>
          <p:nvPr/>
        </p:nvSpPr>
        <p:spPr>
          <a:xfrm>
            <a:off x="6190488" y="1696212"/>
            <a:ext cx="109728" cy="109728"/>
          </a:xfrm>
          <a:prstGeom prst="ellipse">
            <a:avLst/>
          </a:prstGeom>
          <a:solidFill>
            <a:schemeClr val="accent4"/>
          </a:solidFill>
          <a:ln w="12700">
            <a:solidFill>
              <a:schemeClr val="accent4"/>
            </a:solidFill>
            <a:prstDash val="solid"/>
          </a:ln>
        </p:spPr>
      </p:sp>
      <p:sp>
        <p:nvSpPr>
          <p:cNvPr id="35" name="Text 33"/>
          <p:cNvSpPr txBox="1"/>
          <p:nvPr/>
        </p:nvSpPr>
        <p:spPr>
          <a:xfrm>
            <a:off x="6382512" y="1659636"/>
            <a:ext cx="2103120" cy="173736"/>
          </a:xfrm>
          <a:prstGeom prst="rect">
            <a:avLst/>
          </a:prstGeom>
          <a:noFill/>
          <a:ln/>
        </p:spPr>
        <p:txBody>
          <a:bodyPr wrap="square" lIns="0" tIns="0" rIns="0" bIns="0" rtlCol="0" anchor="t"/>
          <a:lstStyle/>
          <a:p>
            <a:pPr indent="0" marL="0">
              <a:buNone/>
            </a:pPr>
            <a:r>
              <a:rPr lang="en-US" sz="1100" dirty="0">
                <a:solidFill>
                  <a:schemeClr val="tx1"/>
                </a:solidFill>
              </a:rPr>
              <a:t>Silicone price</a:t>
            </a:r>
            <a:endParaRPr lang="en-US" sz="1100" dirty="0"/>
          </a:p>
        </p:txBody>
      </p:sp>
      <p:sp>
        <p:nvSpPr>
          <p:cNvPr id="36" name="Shape 34"/>
          <p:cNvSpPr/>
          <p:nvPr/>
        </p:nvSpPr>
        <p:spPr>
          <a:xfrm>
            <a:off x="6190488" y="1874520"/>
            <a:ext cx="109728" cy="109728"/>
          </a:xfrm>
          <a:prstGeom prst="ellipse">
            <a:avLst/>
          </a:prstGeom>
          <a:solidFill>
            <a:schemeClr val="accent4"/>
          </a:solidFill>
          <a:ln w="12700">
            <a:solidFill>
              <a:schemeClr val="accent4"/>
            </a:solidFill>
            <a:prstDash val="solid"/>
          </a:ln>
        </p:spPr>
      </p:sp>
      <p:sp>
        <p:nvSpPr>
          <p:cNvPr id="37" name="Text 35"/>
          <p:cNvSpPr txBox="1"/>
          <p:nvPr/>
        </p:nvSpPr>
        <p:spPr>
          <a:xfrm>
            <a:off x="6382512" y="1837944"/>
            <a:ext cx="2103120" cy="173736"/>
          </a:xfrm>
          <a:prstGeom prst="rect">
            <a:avLst/>
          </a:prstGeom>
          <a:noFill/>
          <a:ln/>
        </p:spPr>
        <p:txBody>
          <a:bodyPr wrap="square" lIns="0" tIns="0" rIns="0" bIns="0" rtlCol="0" anchor="t"/>
          <a:lstStyle/>
          <a:p>
            <a:pPr indent="0" marL="0">
              <a:buNone/>
            </a:pPr>
            <a:r>
              <a:rPr lang="en-US" sz="1100" dirty="0">
                <a:solidFill>
                  <a:schemeClr val="tx1"/>
                </a:solidFill>
              </a:rPr>
              <a:t>Acrylic price</a:t>
            </a:r>
            <a:endParaRPr lang="en-US" sz="1100" dirty="0"/>
          </a:p>
        </p:txBody>
      </p:sp>
      <p:sp>
        <p:nvSpPr>
          <p:cNvPr id="38" name="Shape 36"/>
          <p:cNvSpPr/>
          <p:nvPr/>
        </p:nvSpPr>
        <p:spPr>
          <a:xfrm>
            <a:off x="6190488" y="2052828"/>
            <a:ext cx="109728" cy="109728"/>
          </a:xfrm>
          <a:prstGeom prst="ellipse">
            <a:avLst/>
          </a:prstGeom>
          <a:solidFill>
            <a:schemeClr val="accent5"/>
          </a:solidFill>
          <a:ln w="12700">
            <a:solidFill>
              <a:schemeClr val="accent5"/>
            </a:solidFill>
            <a:prstDash val="solid"/>
          </a:ln>
        </p:spPr>
      </p:sp>
      <p:sp>
        <p:nvSpPr>
          <p:cNvPr id="39" name="Text 37"/>
          <p:cNvSpPr txBox="1"/>
          <p:nvPr/>
        </p:nvSpPr>
        <p:spPr>
          <a:xfrm>
            <a:off x="6382512" y="2016252"/>
            <a:ext cx="2103120" cy="173736"/>
          </a:xfrm>
          <a:prstGeom prst="rect">
            <a:avLst/>
          </a:prstGeom>
          <a:noFill/>
          <a:ln/>
        </p:spPr>
        <p:txBody>
          <a:bodyPr wrap="square" lIns="0" tIns="0" rIns="0" bIns="0" rtlCol="0" anchor="t"/>
          <a:lstStyle/>
          <a:p>
            <a:pPr indent="0" marL="0">
              <a:buNone/>
            </a:pPr>
            <a:r>
              <a:rPr lang="en-US" sz="1100" dirty="0">
                <a:solidFill>
                  <a:schemeClr val="tx1"/>
                </a:solidFill>
              </a:rPr>
              <a:t>SPF price</a:t>
            </a:r>
            <a:endParaRPr lang="en-US" sz="1100" dirty="0"/>
          </a:p>
        </p:txBody>
      </p:sp>
      <p:sp>
        <p:nvSpPr>
          <p:cNvPr id="40" name="Shape 38"/>
          <p:cNvSpPr/>
          <p:nvPr/>
        </p:nvSpPr>
        <p:spPr>
          <a:xfrm>
            <a:off x="6190488" y="2231136"/>
            <a:ext cx="109728" cy="109728"/>
          </a:xfrm>
          <a:prstGeom prst="ellipse">
            <a:avLst/>
          </a:prstGeom>
          <a:solidFill>
            <a:schemeClr val="accent5"/>
          </a:solidFill>
          <a:ln w="12700">
            <a:solidFill>
              <a:schemeClr val="accent5"/>
            </a:solidFill>
            <a:prstDash val="solid"/>
          </a:ln>
        </p:spPr>
      </p:sp>
      <p:sp>
        <p:nvSpPr>
          <p:cNvPr id="41" name="Text 39"/>
          <p:cNvSpPr txBox="1"/>
          <p:nvPr/>
        </p:nvSpPr>
        <p:spPr>
          <a:xfrm>
            <a:off x="6382512" y="2194560"/>
            <a:ext cx="2103120" cy="173736"/>
          </a:xfrm>
          <a:prstGeom prst="rect">
            <a:avLst/>
          </a:prstGeom>
          <a:noFill/>
          <a:ln/>
        </p:spPr>
        <p:txBody>
          <a:bodyPr wrap="square" lIns="0" tIns="0" rIns="0" bIns="0" rtlCol="0" anchor="t"/>
          <a:lstStyle/>
          <a:p>
            <a:pPr indent="0" marL="0">
              <a:buNone/>
            </a:pPr>
            <a:r>
              <a:rPr lang="en-US" sz="1100" dirty="0">
                <a:solidFill>
                  <a:schemeClr val="tx1"/>
                </a:solidFill>
              </a:rPr>
              <a:t>Emulsion price</a:t>
            </a:r>
            <a:endParaRPr lang="en-US" sz="1100" dirty="0"/>
          </a:p>
        </p:txBody>
      </p:sp>
      <p:sp>
        <p:nvSpPr>
          <p:cNvPr id="42" name="Logistics"/>
          <p:cNvSpPr/>
          <p:nvPr/>
        </p:nvSpPr>
        <p:spPr>
          <a:xfrm>
            <a:off x="548640" y="2679192"/>
            <a:ext cx="2560320" cy="1536192"/>
          </a:xfrm>
          <a:prstGeom prst="rect">
            <a:avLst/>
          </a:prstGeom>
          <a:solidFill>
            <a:schemeClr val="bg1"/>
          </a:solidFill>
          <a:ln w="9525">
            <a:solidFill>
              <a:srgbClr val="BCBEC0"/>
            </a:solidFill>
            <a:prstDash val="solid"/>
          </a:ln>
        </p:spPr>
      </p:sp>
      <p:sp>
        <p:nvSpPr>
          <p:cNvPr id="43" name="Text 41"/>
          <p:cNvSpPr txBox="1"/>
          <p:nvPr/>
        </p:nvSpPr>
        <p:spPr>
          <a:xfrm>
            <a:off x="685800" y="2788920"/>
            <a:ext cx="1554480" cy="237744"/>
          </a:xfrm>
          <a:prstGeom prst="rect">
            <a:avLst/>
          </a:prstGeom>
          <a:noFill/>
          <a:ln/>
        </p:spPr>
        <p:txBody>
          <a:bodyPr wrap="square" lIns="0" tIns="0" rIns="0" bIns="0" rtlCol="0" anchor="t"/>
          <a:lstStyle/>
          <a:p>
            <a:pPr indent="0" marL="0">
              <a:buNone/>
            </a:pPr>
            <a:r>
              <a:rPr lang="en-US" sz="1300" b="1" dirty="0">
                <a:solidFill>
                  <a:schemeClr val="tx2"/>
                </a:solidFill>
              </a:rPr>
              <a:t>Logistics</a:t>
            </a:r>
            <a:endParaRPr lang="en-US" sz="1300" dirty="0"/>
          </a:p>
        </p:txBody>
      </p:sp>
      <p:sp>
        <p:nvSpPr>
          <p:cNvPr id="44" name="Status At Risk"/>
          <p:cNvSpPr/>
          <p:nvPr/>
        </p:nvSpPr>
        <p:spPr>
          <a:xfrm>
            <a:off x="2194560" y="2788920"/>
            <a:ext cx="777240" cy="237744"/>
          </a:xfrm>
          <a:prstGeom prst="rect">
            <a:avLst/>
          </a:prstGeom>
          <a:solidFill>
            <a:schemeClr val="accent6"/>
          </a:solidFill>
          <a:ln>
            <a:solidFill>
              <a:schemeClr val="accent6"/>
            </a:solidFill>
          </a:ln>
        </p:spPr>
        <p:txBody>
          <a:bodyPr wrap="square" lIns="0" tIns="0" rIns="0" bIns="0" rtlCol="0" anchor="ctr"/>
          <a:lstStyle/>
          <a:p>
            <a:pPr algn="ctr" indent="0" marL="0">
              <a:buNone/>
            </a:pPr>
            <a:r>
              <a:rPr lang="en-US" sz="1000" b="1" dirty="0">
                <a:solidFill>
                  <a:schemeClr val="bg1"/>
                </a:solidFill>
              </a:rPr>
              <a:t>At Risk</a:t>
            </a:r>
            <a:endParaRPr lang="en-US" sz="1000" dirty="0"/>
          </a:p>
        </p:txBody>
      </p:sp>
      <p:sp>
        <p:nvSpPr>
          <p:cNvPr id="45" name="Shape 43"/>
          <p:cNvSpPr/>
          <p:nvPr/>
        </p:nvSpPr>
        <p:spPr>
          <a:xfrm>
            <a:off x="704088" y="3145536"/>
            <a:ext cx="109728" cy="109728"/>
          </a:xfrm>
          <a:prstGeom prst="ellipse">
            <a:avLst/>
          </a:prstGeom>
          <a:solidFill>
            <a:schemeClr val="accent6"/>
          </a:solidFill>
          <a:ln w="12700">
            <a:solidFill>
              <a:schemeClr val="accent6"/>
            </a:solidFill>
            <a:prstDash val="solid"/>
          </a:ln>
        </p:spPr>
      </p:sp>
      <p:sp>
        <p:nvSpPr>
          <p:cNvPr id="46" name="Text 44"/>
          <p:cNvSpPr txBox="1"/>
          <p:nvPr/>
        </p:nvSpPr>
        <p:spPr>
          <a:xfrm>
            <a:off x="896112" y="3108960"/>
            <a:ext cx="2103120" cy="173736"/>
          </a:xfrm>
          <a:prstGeom prst="rect">
            <a:avLst/>
          </a:prstGeom>
          <a:noFill/>
          <a:ln/>
        </p:spPr>
        <p:txBody>
          <a:bodyPr wrap="square" lIns="0" tIns="0" rIns="0" bIns="0" rtlCol="0" anchor="t"/>
          <a:lstStyle/>
          <a:p>
            <a:pPr indent="0" marL="0">
              <a:buNone/>
            </a:pPr>
            <a:r>
              <a:rPr lang="en-US" sz="1100" dirty="0">
                <a:solidFill>
                  <a:schemeClr val="tx1"/>
                </a:solidFill>
              </a:rPr>
              <a:t>Tracking information</a:t>
            </a:r>
            <a:endParaRPr lang="en-US" sz="1100" dirty="0"/>
          </a:p>
        </p:txBody>
      </p:sp>
      <p:sp>
        <p:nvSpPr>
          <p:cNvPr id="47" name="Shape 45"/>
          <p:cNvSpPr/>
          <p:nvPr/>
        </p:nvSpPr>
        <p:spPr>
          <a:xfrm>
            <a:off x="704088" y="3323844"/>
            <a:ext cx="109728" cy="109728"/>
          </a:xfrm>
          <a:prstGeom prst="ellipse">
            <a:avLst/>
          </a:prstGeom>
          <a:solidFill>
            <a:schemeClr val="accent3"/>
          </a:solidFill>
          <a:ln w="12700">
            <a:solidFill>
              <a:schemeClr val="accent3"/>
            </a:solidFill>
            <a:prstDash val="solid"/>
          </a:ln>
        </p:spPr>
      </p:sp>
      <p:sp>
        <p:nvSpPr>
          <p:cNvPr id="48" name="Text 46"/>
          <p:cNvSpPr txBox="1"/>
          <p:nvPr/>
        </p:nvSpPr>
        <p:spPr>
          <a:xfrm>
            <a:off x="896112" y="3287268"/>
            <a:ext cx="2103120" cy="173736"/>
          </a:xfrm>
          <a:prstGeom prst="rect">
            <a:avLst/>
          </a:prstGeom>
          <a:noFill/>
          <a:ln/>
        </p:spPr>
        <p:txBody>
          <a:bodyPr wrap="square" lIns="0" tIns="0" rIns="0" bIns="0" rtlCol="0" anchor="t"/>
          <a:lstStyle/>
          <a:p>
            <a:pPr indent="0" marL="0">
              <a:buNone/>
            </a:pPr>
            <a:r>
              <a:rPr lang="en-US" sz="1100" dirty="0">
                <a:solidFill>
                  <a:schemeClr val="tx1"/>
                </a:solidFill>
              </a:rPr>
              <a:t>On-time delivery</a:t>
            </a:r>
            <a:endParaRPr lang="en-US" sz="1100" dirty="0"/>
          </a:p>
        </p:txBody>
      </p:sp>
      <p:sp>
        <p:nvSpPr>
          <p:cNvPr id="49" name="Shape 47"/>
          <p:cNvSpPr/>
          <p:nvPr/>
        </p:nvSpPr>
        <p:spPr>
          <a:xfrm>
            <a:off x="704088" y="3502152"/>
            <a:ext cx="109728" cy="109728"/>
          </a:xfrm>
          <a:prstGeom prst="ellipse">
            <a:avLst/>
          </a:prstGeom>
          <a:solidFill>
            <a:schemeClr val="accent5"/>
          </a:solidFill>
          <a:ln w="12700">
            <a:solidFill>
              <a:schemeClr val="accent5"/>
            </a:solidFill>
            <a:prstDash val="solid"/>
          </a:ln>
        </p:spPr>
      </p:sp>
      <p:sp>
        <p:nvSpPr>
          <p:cNvPr id="50" name="Text 48"/>
          <p:cNvSpPr txBox="1"/>
          <p:nvPr/>
        </p:nvSpPr>
        <p:spPr>
          <a:xfrm>
            <a:off x="896112" y="3465576"/>
            <a:ext cx="2103120" cy="173736"/>
          </a:xfrm>
          <a:prstGeom prst="rect">
            <a:avLst/>
          </a:prstGeom>
          <a:noFill/>
          <a:ln/>
        </p:spPr>
        <p:txBody>
          <a:bodyPr wrap="square" lIns="0" tIns="0" rIns="0" bIns="0" rtlCol="0" anchor="t"/>
          <a:lstStyle/>
          <a:p>
            <a:pPr indent="0" marL="0">
              <a:buNone/>
            </a:pPr>
            <a:r>
              <a:rPr lang="en-US" sz="1100" dirty="0">
                <a:solidFill>
                  <a:schemeClr val="tx1"/>
                </a:solidFill>
              </a:rPr>
              <a:t>Delivered undamaged</a:t>
            </a:r>
            <a:endParaRPr lang="en-US" sz="1100" dirty="0"/>
          </a:p>
        </p:txBody>
      </p:sp>
      <p:sp>
        <p:nvSpPr>
          <p:cNvPr id="51" name="Customer Service"/>
          <p:cNvSpPr/>
          <p:nvPr/>
        </p:nvSpPr>
        <p:spPr>
          <a:xfrm>
            <a:off x="3291840" y="2679192"/>
            <a:ext cx="2560320" cy="1536192"/>
          </a:xfrm>
          <a:prstGeom prst="rect">
            <a:avLst/>
          </a:prstGeom>
          <a:solidFill>
            <a:schemeClr val="bg1"/>
          </a:solidFill>
          <a:ln w="9525">
            <a:solidFill>
              <a:srgbClr val="BCBEC0"/>
            </a:solidFill>
            <a:prstDash val="solid"/>
          </a:ln>
        </p:spPr>
      </p:sp>
      <p:sp>
        <p:nvSpPr>
          <p:cNvPr id="52" name="Text 50"/>
          <p:cNvSpPr txBox="1"/>
          <p:nvPr/>
        </p:nvSpPr>
        <p:spPr>
          <a:xfrm>
            <a:off x="3429000" y="2788920"/>
            <a:ext cx="1554480" cy="237744"/>
          </a:xfrm>
          <a:prstGeom prst="rect">
            <a:avLst/>
          </a:prstGeom>
          <a:noFill/>
          <a:ln/>
        </p:spPr>
        <p:txBody>
          <a:bodyPr wrap="square" lIns="0" tIns="0" rIns="0" bIns="0" rtlCol="0" anchor="t"/>
          <a:lstStyle/>
          <a:p>
            <a:pPr indent="0" marL="0">
              <a:buNone/>
            </a:pPr>
            <a:r>
              <a:rPr lang="en-US" sz="1300" b="1" dirty="0">
                <a:solidFill>
                  <a:schemeClr val="tx2"/>
                </a:solidFill>
              </a:rPr>
              <a:t>Customer Service</a:t>
            </a:r>
            <a:endParaRPr lang="en-US" sz="1300" dirty="0"/>
          </a:p>
        </p:txBody>
      </p:sp>
      <p:sp>
        <p:nvSpPr>
          <p:cNvPr id="53" name="Status At Risk"/>
          <p:cNvSpPr/>
          <p:nvPr/>
        </p:nvSpPr>
        <p:spPr>
          <a:xfrm>
            <a:off x="4937760" y="2788920"/>
            <a:ext cx="777240" cy="237744"/>
          </a:xfrm>
          <a:prstGeom prst="rect">
            <a:avLst/>
          </a:prstGeom>
          <a:solidFill>
            <a:schemeClr val="accent6"/>
          </a:solidFill>
          <a:ln>
            <a:solidFill>
              <a:schemeClr val="accent6"/>
            </a:solidFill>
          </a:ln>
        </p:spPr>
        <p:txBody>
          <a:bodyPr wrap="square" lIns="0" tIns="0" rIns="0" bIns="0" rtlCol="0" anchor="ctr"/>
          <a:lstStyle/>
          <a:p>
            <a:pPr algn="ctr" indent="0" marL="0">
              <a:buNone/>
            </a:pPr>
            <a:r>
              <a:rPr lang="en-US" sz="1000" b="1" dirty="0">
                <a:solidFill>
                  <a:schemeClr val="bg1"/>
                </a:solidFill>
              </a:rPr>
              <a:t>At Risk</a:t>
            </a:r>
            <a:endParaRPr lang="en-US" sz="1000" dirty="0"/>
          </a:p>
        </p:txBody>
      </p:sp>
      <p:sp>
        <p:nvSpPr>
          <p:cNvPr id="54" name="Shape 52"/>
          <p:cNvSpPr/>
          <p:nvPr/>
        </p:nvSpPr>
        <p:spPr>
          <a:xfrm>
            <a:off x="3447288" y="3145536"/>
            <a:ext cx="109728" cy="109728"/>
          </a:xfrm>
          <a:prstGeom prst="ellipse">
            <a:avLst/>
          </a:prstGeom>
          <a:solidFill>
            <a:schemeClr val="accent3"/>
          </a:solidFill>
          <a:ln w="12700">
            <a:solidFill>
              <a:schemeClr val="accent3"/>
            </a:solidFill>
            <a:prstDash val="solid"/>
          </a:ln>
        </p:spPr>
      </p:sp>
      <p:sp>
        <p:nvSpPr>
          <p:cNvPr id="55" name="Text 53"/>
          <p:cNvSpPr txBox="1"/>
          <p:nvPr/>
        </p:nvSpPr>
        <p:spPr>
          <a:xfrm>
            <a:off x="3639312" y="3108960"/>
            <a:ext cx="2103120" cy="173736"/>
          </a:xfrm>
          <a:prstGeom prst="rect">
            <a:avLst/>
          </a:prstGeom>
          <a:noFill/>
          <a:ln/>
        </p:spPr>
        <p:txBody>
          <a:bodyPr wrap="square" lIns="0" tIns="0" rIns="0" bIns="0" rtlCol="0" anchor="t"/>
          <a:lstStyle/>
          <a:p>
            <a:pPr indent="0" marL="0">
              <a:buNone/>
            </a:pPr>
            <a:r>
              <a:rPr lang="en-US" sz="1100" dirty="0">
                <a:solidFill>
                  <a:schemeClr val="tx1"/>
                </a:solidFill>
              </a:rPr>
              <a:t>We ask for SKU numbers</a:t>
            </a:r>
            <a:endParaRPr lang="en-US" sz="1100" dirty="0"/>
          </a:p>
        </p:txBody>
      </p:sp>
      <p:sp>
        <p:nvSpPr>
          <p:cNvPr id="56" name="Shape 54"/>
          <p:cNvSpPr/>
          <p:nvPr/>
        </p:nvSpPr>
        <p:spPr>
          <a:xfrm>
            <a:off x="3447288" y="3323844"/>
            <a:ext cx="109728" cy="109728"/>
          </a:xfrm>
          <a:prstGeom prst="ellipse">
            <a:avLst/>
          </a:prstGeom>
          <a:solidFill>
            <a:schemeClr val="accent5"/>
          </a:solidFill>
          <a:ln w="12700">
            <a:solidFill>
              <a:schemeClr val="accent5"/>
            </a:solidFill>
            <a:prstDash val="solid"/>
          </a:ln>
        </p:spPr>
      </p:sp>
      <p:sp>
        <p:nvSpPr>
          <p:cNvPr id="57" name="Text 55"/>
          <p:cNvSpPr txBox="1"/>
          <p:nvPr/>
        </p:nvSpPr>
        <p:spPr>
          <a:xfrm>
            <a:off x="3639312" y="3287268"/>
            <a:ext cx="2103120" cy="173736"/>
          </a:xfrm>
          <a:prstGeom prst="rect">
            <a:avLst/>
          </a:prstGeom>
          <a:noFill/>
          <a:ln/>
        </p:spPr>
        <p:txBody>
          <a:bodyPr wrap="square" lIns="0" tIns="0" rIns="0" bIns="0" rtlCol="0" anchor="t"/>
          <a:lstStyle/>
          <a:p>
            <a:pPr indent="0" marL="0">
              <a:buNone/>
            </a:pPr>
            <a:r>
              <a:rPr lang="en-US" sz="1100" dirty="0">
                <a:solidFill>
                  <a:schemeClr val="tx1"/>
                </a:solidFill>
              </a:rPr>
              <a:t>We ask for our form</a:t>
            </a:r>
            <a:endParaRPr lang="en-US" sz="1100" dirty="0"/>
          </a:p>
        </p:txBody>
      </p:sp>
      <p:sp>
        <p:nvSpPr>
          <p:cNvPr id="58" name="Shape 56"/>
          <p:cNvSpPr/>
          <p:nvPr/>
        </p:nvSpPr>
        <p:spPr>
          <a:xfrm>
            <a:off x="3447288" y="3502152"/>
            <a:ext cx="109728" cy="109728"/>
          </a:xfrm>
          <a:prstGeom prst="ellipse">
            <a:avLst/>
          </a:prstGeom>
          <a:solidFill>
            <a:schemeClr val="accent3"/>
          </a:solidFill>
          <a:ln w="12700">
            <a:solidFill>
              <a:schemeClr val="accent3"/>
            </a:solidFill>
            <a:prstDash val="solid"/>
          </a:ln>
        </p:spPr>
      </p:sp>
      <p:sp>
        <p:nvSpPr>
          <p:cNvPr id="59" name="Text 57"/>
          <p:cNvSpPr txBox="1"/>
          <p:nvPr/>
        </p:nvSpPr>
        <p:spPr>
          <a:xfrm>
            <a:off x="3639312" y="3465576"/>
            <a:ext cx="2103120" cy="173736"/>
          </a:xfrm>
          <a:prstGeom prst="rect">
            <a:avLst/>
          </a:prstGeom>
          <a:noFill/>
          <a:ln/>
        </p:spPr>
        <p:txBody>
          <a:bodyPr wrap="square" lIns="0" tIns="0" rIns="0" bIns="0" rtlCol="0" anchor="t"/>
          <a:lstStyle/>
          <a:p>
            <a:pPr indent="0" marL="0">
              <a:buNone/>
            </a:pPr>
            <a:r>
              <a:rPr lang="en-US" sz="1100" dirty="0">
                <a:solidFill>
                  <a:schemeClr val="tx1"/>
                </a:solidFill>
              </a:rPr>
              <a:t>Tracking without asking</a:t>
            </a:r>
            <a:endParaRPr lang="en-US" sz="1100" dirty="0"/>
          </a:p>
        </p:txBody>
      </p:sp>
      <p:sp>
        <p:nvSpPr>
          <p:cNvPr id="60" name="Shape 58"/>
          <p:cNvSpPr/>
          <p:nvPr/>
        </p:nvSpPr>
        <p:spPr>
          <a:xfrm>
            <a:off x="3447288" y="3680460"/>
            <a:ext cx="109728" cy="109728"/>
          </a:xfrm>
          <a:prstGeom prst="ellipse">
            <a:avLst/>
          </a:prstGeom>
          <a:solidFill>
            <a:schemeClr val="accent3"/>
          </a:solidFill>
          <a:ln w="12700">
            <a:solidFill>
              <a:schemeClr val="accent3"/>
            </a:solidFill>
            <a:prstDash val="solid"/>
          </a:ln>
        </p:spPr>
      </p:sp>
      <p:sp>
        <p:nvSpPr>
          <p:cNvPr id="61" name="Text 59"/>
          <p:cNvSpPr txBox="1"/>
          <p:nvPr/>
        </p:nvSpPr>
        <p:spPr>
          <a:xfrm>
            <a:off x="3639312" y="3643884"/>
            <a:ext cx="2103120" cy="173736"/>
          </a:xfrm>
          <a:prstGeom prst="rect">
            <a:avLst/>
          </a:prstGeom>
          <a:noFill/>
          <a:ln/>
        </p:spPr>
        <p:txBody>
          <a:bodyPr wrap="square" lIns="0" tIns="0" rIns="0" bIns="0" rtlCol="0" anchor="t"/>
          <a:lstStyle/>
          <a:p>
            <a:pPr indent="0" marL="0">
              <a:buNone/>
            </a:pPr>
            <a:r>
              <a:rPr lang="en-US" sz="1100" dirty="0">
                <a:solidFill>
                  <a:schemeClr val="tx1"/>
                </a:solidFill>
              </a:rPr>
              <a:t>Keeping jobs on schedule</a:t>
            </a:r>
            <a:endParaRPr lang="en-US" sz="1100" dirty="0"/>
          </a:p>
        </p:txBody>
      </p:sp>
      <p:sp>
        <p:nvSpPr>
          <p:cNvPr id="62" name="Shape 60"/>
          <p:cNvSpPr/>
          <p:nvPr/>
        </p:nvSpPr>
        <p:spPr>
          <a:xfrm>
            <a:off x="3447288" y="3858768"/>
            <a:ext cx="109728" cy="109728"/>
          </a:xfrm>
          <a:prstGeom prst="ellipse">
            <a:avLst/>
          </a:prstGeom>
          <a:solidFill>
            <a:schemeClr val="accent5"/>
          </a:solidFill>
          <a:ln w="12700">
            <a:solidFill>
              <a:schemeClr val="accent5"/>
            </a:solidFill>
            <a:prstDash val="solid"/>
          </a:ln>
        </p:spPr>
      </p:sp>
      <p:sp>
        <p:nvSpPr>
          <p:cNvPr id="63" name="Text 61"/>
          <p:cNvSpPr txBox="1"/>
          <p:nvPr/>
        </p:nvSpPr>
        <p:spPr>
          <a:xfrm>
            <a:off x="3639312" y="3822192"/>
            <a:ext cx="2103120" cy="173736"/>
          </a:xfrm>
          <a:prstGeom prst="rect">
            <a:avLst/>
          </a:prstGeom>
          <a:noFill/>
          <a:ln/>
        </p:spPr>
        <p:txBody>
          <a:bodyPr wrap="square" lIns="0" tIns="0" rIns="0" bIns="0" rtlCol="0" anchor="t"/>
          <a:lstStyle/>
          <a:p>
            <a:pPr indent="0" marL="0">
              <a:buNone/>
            </a:pPr>
            <a:r>
              <a:rPr lang="en-US" sz="1100" dirty="0">
                <a:solidFill>
                  <a:schemeClr val="tx1"/>
                </a:solidFill>
              </a:rPr>
              <a:t>Attitude</a:t>
            </a:r>
            <a:endParaRPr lang="en-US" sz="1100" dirty="0"/>
          </a:p>
        </p:txBody>
      </p:sp>
      <p:sp>
        <p:nvSpPr>
          <p:cNvPr id="64" name="Shape 62"/>
          <p:cNvSpPr/>
          <p:nvPr/>
        </p:nvSpPr>
        <p:spPr>
          <a:xfrm>
            <a:off x="3447288" y="4037076"/>
            <a:ext cx="109728" cy="109728"/>
          </a:xfrm>
          <a:prstGeom prst="ellipse">
            <a:avLst/>
          </a:prstGeom>
          <a:solidFill>
            <a:schemeClr val="accent3"/>
          </a:solidFill>
          <a:ln w="12700">
            <a:solidFill>
              <a:schemeClr val="accent3"/>
            </a:solidFill>
            <a:prstDash val="solid"/>
          </a:ln>
        </p:spPr>
      </p:sp>
      <p:sp>
        <p:nvSpPr>
          <p:cNvPr id="65" name="Text 63"/>
          <p:cNvSpPr txBox="1"/>
          <p:nvPr/>
        </p:nvSpPr>
        <p:spPr>
          <a:xfrm>
            <a:off x="3639312" y="4000500"/>
            <a:ext cx="2103120" cy="173736"/>
          </a:xfrm>
          <a:prstGeom prst="rect">
            <a:avLst/>
          </a:prstGeom>
          <a:noFill/>
          <a:ln/>
        </p:spPr>
        <p:txBody>
          <a:bodyPr wrap="square" lIns="0" tIns="0" rIns="0" bIns="0" rtlCol="0" anchor="t"/>
          <a:lstStyle/>
          <a:p>
            <a:pPr indent="0" marL="0">
              <a:buNone/>
            </a:pPr>
            <a:r>
              <a:rPr lang="en-US" sz="1100" dirty="0">
                <a:solidFill>
                  <a:schemeClr val="tx1"/>
                </a:solidFill>
              </a:rPr>
              <a:t>Reps reachable by email</a:t>
            </a:r>
            <a:endParaRPr lang="en-US" sz="1100" dirty="0"/>
          </a:p>
        </p:txBody>
      </p:sp>
      <p:sp>
        <p:nvSpPr>
          <p:cNvPr id="66" name="Warranty"/>
          <p:cNvSpPr/>
          <p:nvPr/>
        </p:nvSpPr>
        <p:spPr>
          <a:xfrm>
            <a:off x="6035040" y="2679192"/>
            <a:ext cx="2560320" cy="1536192"/>
          </a:xfrm>
          <a:prstGeom prst="rect">
            <a:avLst/>
          </a:prstGeom>
          <a:solidFill>
            <a:schemeClr val="bg1"/>
          </a:solidFill>
          <a:ln w="9525">
            <a:solidFill>
              <a:srgbClr val="BCBEC0"/>
            </a:solidFill>
            <a:prstDash val="solid"/>
          </a:ln>
        </p:spPr>
      </p:sp>
      <p:sp>
        <p:nvSpPr>
          <p:cNvPr id="67" name="Text 65"/>
          <p:cNvSpPr txBox="1"/>
          <p:nvPr/>
        </p:nvSpPr>
        <p:spPr>
          <a:xfrm>
            <a:off x="6172200" y="2788920"/>
            <a:ext cx="1554480" cy="237744"/>
          </a:xfrm>
          <a:prstGeom prst="rect">
            <a:avLst/>
          </a:prstGeom>
          <a:noFill/>
          <a:ln/>
        </p:spPr>
        <p:txBody>
          <a:bodyPr wrap="square" lIns="0" tIns="0" rIns="0" bIns="0" rtlCol="0" anchor="t"/>
          <a:lstStyle/>
          <a:p>
            <a:pPr indent="0" marL="0">
              <a:buNone/>
            </a:pPr>
            <a:r>
              <a:rPr lang="en-US" sz="1300" b="1" dirty="0">
                <a:solidFill>
                  <a:schemeClr val="tx2"/>
                </a:solidFill>
              </a:rPr>
              <a:t>Warranty</a:t>
            </a:r>
            <a:endParaRPr lang="en-US" sz="1300" dirty="0"/>
          </a:p>
        </p:txBody>
      </p:sp>
      <p:sp>
        <p:nvSpPr>
          <p:cNvPr id="68" name="Status Watch"/>
          <p:cNvSpPr/>
          <p:nvPr/>
        </p:nvSpPr>
        <p:spPr>
          <a:xfrm>
            <a:off x="7680960" y="2788920"/>
            <a:ext cx="777240" cy="237744"/>
          </a:xfrm>
          <a:prstGeom prst="rect">
            <a:avLst/>
          </a:prstGeom>
          <a:solidFill>
            <a:schemeClr val="accent5"/>
          </a:solidFill>
          <a:ln>
            <a:solidFill>
              <a:schemeClr val="accent5"/>
            </a:solidFill>
          </a:ln>
        </p:spPr>
        <p:txBody>
          <a:bodyPr wrap="square" lIns="0" tIns="0" rIns="0" bIns="0" rtlCol="0" anchor="ctr"/>
          <a:lstStyle/>
          <a:p>
            <a:pPr algn="ctr" indent="0" marL="0">
              <a:buNone/>
            </a:pPr>
            <a:r>
              <a:rPr lang="en-US" sz="1000" b="1" dirty="0">
                <a:solidFill>
                  <a:schemeClr val="tx1"/>
                </a:solidFill>
              </a:rPr>
              <a:t>Watch</a:t>
            </a:r>
            <a:endParaRPr lang="en-US" sz="1000" dirty="0"/>
          </a:p>
        </p:txBody>
      </p:sp>
      <p:sp>
        <p:nvSpPr>
          <p:cNvPr id="69" name="Shape 67"/>
          <p:cNvSpPr/>
          <p:nvPr/>
        </p:nvSpPr>
        <p:spPr>
          <a:xfrm>
            <a:off x="6190488" y="3145536"/>
            <a:ext cx="109728" cy="109728"/>
          </a:xfrm>
          <a:prstGeom prst="ellipse">
            <a:avLst/>
          </a:prstGeom>
          <a:solidFill>
            <a:schemeClr val="accent4"/>
          </a:solidFill>
          <a:ln w="12700">
            <a:solidFill>
              <a:schemeClr val="accent4"/>
            </a:solidFill>
            <a:prstDash val="solid"/>
          </a:ln>
        </p:spPr>
      </p:sp>
      <p:sp>
        <p:nvSpPr>
          <p:cNvPr id="70" name="Text 68"/>
          <p:cNvSpPr txBox="1"/>
          <p:nvPr/>
        </p:nvSpPr>
        <p:spPr>
          <a:xfrm>
            <a:off x="6382512" y="3108960"/>
            <a:ext cx="2103120" cy="173736"/>
          </a:xfrm>
          <a:prstGeom prst="rect">
            <a:avLst/>
          </a:prstGeom>
          <a:noFill/>
          <a:ln/>
        </p:spPr>
        <p:txBody>
          <a:bodyPr wrap="square" lIns="0" tIns="0" rIns="0" bIns="0" rtlCol="0" anchor="t"/>
          <a:lstStyle/>
          <a:p>
            <a:pPr indent="0" marL="0">
              <a:buNone/>
            </a:pPr>
            <a:r>
              <a:rPr lang="en-US" sz="1100" dirty="0">
                <a:solidFill>
                  <a:schemeClr val="tx1"/>
                </a:solidFill>
              </a:rPr>
              <a:t>Means something to owners</a:t>
            </a:r>
            <a:endParaRPr lang="en-US" sz="1100" dirty="0"/>
          </a:p>
        </p:txBody>
      </p:sp>
      <p:sp>
        <p:nvSpPr>
          <p:cNvPr id="71" name="Shape 69"/>
          <p:cNvSpPr/>
          <p:nvPr/>
        </p:nvSpPr>
        <p:spPr>
          <a:xfrm>
            <a:off x="6190488" y="3323844"/>
            <a:ext cx="109728" cy="109728"/>
          </a:xfrm>
          <a:prstGeom prst="ellipse">
            <a:avLst/>
          </a:prstGeom>
          <a:solidFill>
            <a:schemeClr val="accent4"/>
          </a:solidFill>
          <a:ln w="12700">
            <a:solidFill>
              <a:schemeClr val="accent4"/>
            </a:solidFill>
            <a:prstDash val="solid"/>
          </a:ln>
        </p:spPr>
      </p:sp>
      <p:sp>
        <p:nvSpPr>
          <p:cNvPr id="72" name="Text 70"/>
          <p:cNvSpPr txBox="1"/>
          <p:nvPr/>
        </p:nvSpPr>
        <p:spPr>
          <a:xfrm>
            <a:off x="6382512" y="3287268"/>
            <a:ext cx="2103120" cy="173736"/>
          </a:xfrm>
          <a:prstGeom prst="rect">
            <a:avLst/>
          </a:prstGeom>
          <a:noFill/>
          <a:ln/>
        </p:spPr>
        <p:txBody>
          <a:bodyPr wrap="square" lIns="0" tIns="0" rIns="0" bIns="0" rtlCol="0" anchor="t"/>
          <a:lstStyle/>
          <a:p>
            <a:pPr indent="0" marL="0">
              <a:buNone/>
            </a:pPr>
            <a:r>
              <a:rPr lang="en-US" sz="1100" dirty="0">
                <a:solidFill>
                  <a:schemeClr val="tx1"/>
                </a:solidFill>
              </a:rPr>
              <a:t>Claim process</a:t>
            </a:r>
            <a:endParaRPr lang="en-US" sz="1100" dirty="0"/>
          </a:p>
        </p:txBody>
      </p:sp>
      <p:sp>
        <p:nvSpPr>
          <p:cNvPr id="73" name="Shape 71"/>
          <p:cNvSpPr/>
          <p:nvPr/>
        </p:nvSpPr>
        <p:spPr>
          <a:xfrm>
            <a:off x="6190488" y="3502152"/>
            <a:ext cx="109728" cy="109728"/>
          </a:xfrm>
          <a:prstGeom prst="ellipse">
            <a:avLst/>
          </a:prstGeom>
          <a:solidFill>
            <a:schemeClr val="accent6"/>
          </a:solidFill>
          <a:ln w="12700">
            <a:solidFill>
              <a:schemeClr val="accent6"/>
            </a:solidFill>
            <a:prstDash val="solid"/>
          </a:ln>
        </p:spPr>
      </p:sp>
      <p:sp>
        <p:nvSpPr>
          <p:cNvPr id="74" name="Text 72"/>
          <p:cNvSpPr txBox="1"/>
          <p:nvPr/>
        </p:nvSpPr>
        <p:spPr>
          <a:xfrm>
            <a:off x="6382512" y="3465576"/>
            <a:ext cx="2103120" cy="173736"/>
          </a:xfrm>
          <a:prstGeom prst="rect">
            <a:avLst/>
          </a:prstGeom>
          <a:noFill/>
          <a:ln/>
        </p:spPr>
        <p:txBody>
          <a:bodyPr wrap="square" lIns="0" tIns="0" rIns="0" bIns="0" rtlCol="0" anchor="t"/>
          <a:lstStyle/>
          <a:p>
            <a:pPr indent="0" marL="0">
              <a:buNone/>
            </a:pPr>
            <a:r>
              <a:rPr lang="en-US" sz="1100" dirty="0">
                <a:solidFill>
                  <a:schemeClr val="tx1"/>
                </a:solidFill>
              </a:rPr>
              <a:t>Ease of processing</a:t>
            </a:r>
            <a:endParaRPr lang="en-US" sz="1100" dirty="0"/>
          </a:p>
        </p:txBody>
      </p:sp>
      <p:sp>
        <p:nvSpPr>
          <p:cNvPr id="75" name="Shape 73"/>
          <p:cNvSpPr/>
          <p:nvPr/>
        </p:nvSpPr>
        <p:spPr>
          <a:xfrm>
            <a:off x="6190488" y="3680460"/>
            <a:ext cx="109728" cy="109728"/>
          </a:xfrm>
          <a:prstGeom prst="ellipse">
            <a:avLst/>
          </a:prstGeom>
          <a:solidFill>
            <a:schemeClr val="accent5"/>
          </a:solidFill>
          <a:ln w="12700">
            <a:solidFill>
              <a:schemeClr val="accent5"/>
            </a:solidFill>
            <a:prstDash val="solid"/>
          </a:ln>
        </p:spPr>
      </p:sp>
      <p:sp>
        <p:nvSpPr>
          <p:cNvPr id="76" name="Text 74"/>
          <p:cNvSpPr txBox="1"/>
          <p:nvPr/>
        </p:nvSpPr>
        <p:spPr>
          <a:xfrm>
            <a:off x="6382512" y="3643884"/>
            <a:ext cx="2103120" cy="173736"/>
          </a:xfrm>
          <a:prstGeom prst="rect">
            <a:avLst/>
          </a:prstGeom>
          <a:noFill/>
          <a:ln/>
        </p:spPr>
        <p:txBody>
          <a:bodyPr wrap="square" lIns="0" tIns="0" rIns="0" bIns="0" rtlCol="0" anchor="t"/>
          <a:lstStyle/>
          <a:p>
            <a:pPr indent="0" marL="0">
              <a:buNone/>
            </a:pPr>
            <a:r>
              <a:rPr lang="en-US" sz="1100" dirty="0">
                <a:solidFill>
                  <a:schemeClr val="tx1"/>
                </a:solidFill>
              </a:rPr>
              <a:t>Flexibility on standard spec</a:t>
            </a:r>
            <a:endParaRPr lang="en-US" sz="1100" dirty="0"/>
          </a:p>
        </p:txBody>
      </p:sp>
      <p:sp>
        <p:nvSpPr>
          <p:cNvPr id="77" name="Shape 75"/>
          <p:cNvSpPr/>
          <p:nvPr/>
        </p:nvSpPr>
        <p:spPr>
          <a:xfrm>
            <a:off x="548640" y="4288536"/>
            <a:ext cx="109728" cy="109728"/>
          </a:xfrm>
          <a:prstGeom prst="ellipse">
            <a:avLst/>
          </a:prstGeom>
          <a:solidFill>
            <a:schemeClr val="accent4"/>
          </a:solidFill>
          <a:ln w="12700">
            <a:solidFill>
              <a:schemeClr val="accent4"/>
            </a:solidFill>
            <a:prstDash val="solid"/>
          </a:ln>
        </p:spPr>
      </p:sp>
      <p:sp>
        <p:nvSpPr>
          <p:cNvPr id="78" name="Text 76"/>
          <p:cNvSpPr txBox="1"/>
          <p:nvPr/>
        </p:nvSpPr>
        <p:spPr>
          <a:xfrm>
            <a:off x="704088" y="4233672"/>
            <a:ext cx="777240" cy="228600"/>
          </a:xfrm>
          <a:prstGeom prst="rect">
            <a:avLst/>
          </a:prstGeom>
          <a:noFill/>
          <a:ln/>
        </p:spPr>
        <p:txBody>
          <a:bodyPr wrap="square" lIns="0" tIns="0" rIns="0" bIns="0" rtlCol="0" anchor="ctr"/>
          <a:lstStyle/>
          <a:p>
            <a:pPr indent="0" marL="0">
              <a:buNone/>
            </a:pPr>
            <a:r>
              <a:rPr lang="en-US" sz="1000" dirty="0">
                <a:solidFill>
                  <a:srgbClr val="5F5D5E"/>
                </a:solidFill>
              </a:rPr>
              <a:t>Strength</a:t>
            </a:r>
            <a:endParaRPr lang="en-US" sz="1000" dirty="0"/>
          </a:p>
        </p:txBody>
      </p:sp>
      <p:sp>
        <p:nvSpPr>
          <p:cNvPr id="79" name="Shape 77"/>
          <p:cNvSpPr/>
          <p:nvPr/>
        </p:nvSpPr>
        <p:spPr>
          <a:xfrm>
            <a:off x="1554480" y="4288536"/>
            <a:ext cx="109728" cy="109728"/>
          </a:xfrm>
          <a:prstGeom prst="ellipse">
            <a:avLst/>
          </a:prstGeom>
          <a:solidFill>
            <a:schemeClr val="accent5"/>
          </a:solidFill>
          <a:ln w="12700">
            <a:solidFill>
              <a:schemeClr val="accent5"/>
            </a:solidFill>
            <a:prstDash val="solid"/>
          </a:ln>
        </p:spPr>
      </p:sp>
      <p:sp>
        <p:nvSpPr>
          <p:cNvPr id="80" name="Text 78"/>
          <p:cNvSpPr txBox="1"/>
          <p:nvPr/>
        </p:nvSpPr>
        <p:spPr>
          <a:xfrm>
            <a:off x="1709928" y="4233672"/>
            <a:ext cx="777240" cy="228600"/>
          </a:xfrm>
          <a:prstGeom prst="rect">
            <a:avLst/>
          </a:prstGeom>
          <a:noFill/>
          <a:ln/>
        </p:spPr>
        <p:txBody>
          <a:bodyPr wrap="square" lIns="0" tIns="0" rIns="0" bIns="0" rtlCol="0" anchor="ctr"/>
          <a:lstStyle/>
          <a:p>
            <a:pPr indent="0" marL="0">
              <a:buNone/>
            </a:pPr>
            <a:r>
              <a:rPr lang="en-US" sz="1000" dirty="0">
                <a:solidFill>
                  <a:srgbClr val="5F5D5E"/>
                </a:solidFill>
              </a:rPr>
              <a:t>Watch</a:t>
            </a:r>
            <a:endParaRPr lang="en-US" sz="1000" dirty="0"/>
          </a:p>
        </p:txBody>
      </p:sp>
      <p:sp>
        <p:nvSpPr>
          <p:cNvPr id="81" name="Shape 79"/>
          <p:cNvSpPr/>
          <p:nvPr/>
        </p:nvSpPr>
        <p:spPr>
          <a:xfrm>
            <a:off x="2560320" y="4288536"/>
            <a:ext cx="109728" cy="109728"/>
          </a:xfrm>
          <a:prstGeom prst="ellipse">
            <a:avLst/>
          </a:prstGeom>
          <a:solidFill>
            <a:schemeClr val="accent6"/>
          </a:solidFill>
          <a:ln w="12700">
            <a:solidFill>
              <a:schemeClr val="accent6"/>
            </a:solidFill>
            <a:prstDash val="solid"/>
          </a:ln>
        </p:spPr>
      </p:sp>
      <p:sp>
        <p:nvSpPr>
          <p:cNvPr id="82" name="Text 80"/>
          <p:cNvSpPr txBox="1"/>
          <p:nvPr/>
        </p:nvSpPr>
        <p:spPr>
          <a:xfrm>
            <a:off x="2715768" y="4233672"/>
            <a:ext cx="777240" cy="228600"/>
          </a:xfrm>
          <a:prstGeom prst="rect">
            <a:avLst/>
          </a:prstGeom>
          <a:noFill/>
          <a:ln/>
        </p:spPr>
        <p:txBody>
          <a:bodyPr wrap="square" lIns="0" tIns="0" rIns="0" bIns="0" rtlCol="0" anchor="ctr"/>
          <a:lstStyle/>
          <a:p>
            <a:pPr indent="0" marL="0">
              <a:buNone/>
            </a:pPr>
            <a:r>
              <a:rPr lang="en-US" sz="1000" dirty="0">
                <a:solidFill>
                  <a:srgbClr val="5F5D5E"/>
                </a:solidFill>
              </a:rPr>
              <a:t>At Risk</a:t>
            </a:r>
            <a:endParaRPr lang="en-US" sz="1000" dirty="0"/>
          </a:p>
        </p:txBody>
      </p:sp>
      <p:sp>
        <p:nvSpPr>
          <p:cNvPr id="83" name="Shape 81"/>
          <p:cNvSpPr/>
          <p:nvPr/>
        </p:nvSpPr>
        <p:spPr>
          <a:xfrm>
            <a:off x="3566160" y="4288536"/>
            <a:ext cx="109728" cy="109728"/>
          </a:xfrm>
          <a:prstGeom prst="ellipse">
            <a:avLst/>
          </a:prstGeom>
          <a:solidFill>
            <a:schemeClr val="accent3"/>
          </a:solidFill>
          <a:ln w="12700">
            <a:solidFill>
              <a:schemeClr val="accent3"/>
            </a:solidFill>
            <a:prstDash val="solid"/>
          </a:ln>
        </p:spPr>
      </p:sp>
      <p:sp>
        <p:nvSpPr>
          <p:cNvPr id="84" name="Text 82"/>
          <p:cNvSpPr txBox="1"/>
          <p:nvPr/>
        </p:nvSpPr>
        <p:spPr>
          <a:xfrm>
            <a:off x="3721608" y="4233672"/>
            <a:ext cx="777240" cy="228600"/>
          </a:xfrm>
          <a:prstGeom prst="rect">
            <a:avLst/>
          </a:prstGeom>
          <a:noFill/>
          <a:ln/>
        </p:spPr>
        <p:txBody>
          <a:bodyPr wrap="square" lIns="0" tIns="0" rIns="0" bIns="0" rtlCol="0" anchor="ctr"/>
          <a:lstStyle/>
          <a:p>
            <a:pPr indent="0" marL="0">
              <a:buNone/>
            </a:pPr>
            <a:r>
              <a:rPr lang="en-US" sz="1000" dirty="0">
                <a:solidFill>
                  <a:srgbClr val="5F5D5E"/>
                </a:solidFill>
              </a:rPr>
              <a:t>Critical</a:t>
            </a:r>
            <a:endParaRPr lang="en-US" sz="1000" dirty="0"/>
          </a:p>
        </p:txBody>
      </p:sp>
      <p:sp>
        <p:nvSpPr>
          <p:cNvPr id="25" name="Slide Number Placeholder 0"/>
          <p:cNvSpPr>
            <a:spLocks noGrp="1"/>
          </p:cNvSpPr>
          <p:nvPr>
            <p:ph type="sldNum" sz="quarter" idx="4294967295"/>
          </p:nvPr>
        </p:nvSpPr>
        <p:spPr>
          <a:xfrm>
            <a:off x="8229600" y="4681728"/>
            <a:ext cx="365760" cy="210312"/>
          </a:xfrm>
          <a:prstGeom prst="rect">
            <a:avLst/>
          </a:prstGeom>
          <a:extLst>
            <a:ext uri="{C572A759-6A51-4108-AA02-DFA0A04FC94B}">
              <ma14:wrappingTextBoxFlag xmlns:ma14="http://schemas.microsoft.com/office/mac/drawingml/2011/main" val="0"/>
            </a:ext>
          </a:extLst>
        </p:spPr>
        <p:txBody>
          <a:bodyPr/>
          <a:lstStyle>
            <a:lvl1pPr>
              <a:defRPr sz="1000">
                <a:solidFill>
                  <a:srgbClr val="5F5D5E"/>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Henry Tier 1 Retention">
  <a:themeElements>
    <a:clrScheme name="Henry Tier 1 Retention">
      <a:dk1>
        <a:srgbClr val="333132"/>
      </a:dk1>
      <a:lt1>
        <a:srgbClr val="FFFFFF"/>
      </a:lt1>
      <a:dk2>
        <a:srgbClr val="00306C"/>
      </a:dk2>
      <a:lt2>
        <a:srgbClr val="F1F1F2"/>
      </a:lt2>
      <a:accent1>
        <a:srgbClr val="0054A6"/>
      </a:accent1>
      <a:accent2>
        <a:srgbClr val="0090D2"/>
      </a:accent2>
      <a:accent3>
        <a:srgbClr val="C0392B"/>
      </a:accent3>
      <a:accent4>
        <a:srgbClr val="2E7D4F"/>
      </a:accent4>
      <a:accent5>
        <a:srgbClr val="E0A526"/>
      </a:accent5>
      <a:accent6>
        <a:srgbClr val="D9682A"/>
      </a:accent6>
      <a:hlink>
        <a:srgbClr val="0054A6"/>
      </a:hlink>
      <a:folHlink>
        <a:srgbClr val="00306C"/>
      </a:folHlink>
    </a:clrScheme>
    <a:fontScheme name="Henry Tier 1 Retentio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Henry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Tier 1 Roofer Retention</dc:title>
  <dc:subject>PptxGenJS Presentation</dc:subject>
  <dc:creator>PptxGenJS</dc:creator>
  <cp:lastModifiedBy>PptxGenJS</cp:lastModifiedBy>
  <cp:revision>1</cp:revision>
  <dcterms:created xsi:type="dcterms:W3CDTF">2026-10-15T15:57:56Z</dcterms:created>
  <dcterms:modified xsi:type="dcterms:W3CDTF">2026-10-15T15:57:56Z</dcterms:modified>
</cp:coreProperties>
</file>