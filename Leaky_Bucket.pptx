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caf42d5-f295-ceb9-ea34-234856eb40a8}">
          <p14:sldIdLst>
            <p14:sldId id="256"/>
            <p14:sldId id="257"/>
          </p14:sldIdLst>
        </p14:section>
        <p14:section name="Where we stand" id="{9b4fbc97-de17-b5f5-f1b9-d6816d1bc4a8}">
          <p14:sldIdLst>
            <p14:sldId id="258"/>
            <p14:sldId id="259"/>
          </p14:sldIdLst>
        </p14:section>
        <p14:section name="The leaks" id="{6fc04542-f07c-48bf-5478-0c576f7eb576}">
          <p14:sldIdLst>
            <p14:sldId id="260"/>
            <p14:sldId id="261"/>
            <p14:sldId id="262"/>
            <p14:sldId id="263"/>
            <p14:sldId id="264"/>
          </p14:sldIdLst>
        </p14:section>
        <p14:section name="The fix" id="{2c050f1c-f2a8-245d-2058-94a633fbaf91}">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core message: Henry wins Tier 1 roofers' business on product, leads and price, then loses it through service problems we control. Every slide that follows is either a leak or a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not the product. Roofers come to us for quality, leads and price. They leave because we are hard to work with. None of the leaks are caused by the market. They are caused by how we take orders, answer questions, and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original 'How to get and build upon Tier 1 roofers' business' tree, regrouped into six areas. Colors follow the original deck: green is a strength, yellow is watch, orange is at risk, red is broken. Product, leads and price are mostly green. Logistics and customer service hold almost all of the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as one roofer's week. Each step is a real piece of feedback from the detractor list; together they show how small service misses add up to a lost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Consistent feedback is that we are difficult to deal with. Order taking: CS sends an Excel file with over 200 SKUs when the customer has already said what they want. Response times on inquiries can exceed 24 hours. If we are out of PG988 at Kingman but have it at Carson, CS should get the product to the customer as fast as possible, especially when they need it by a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Sign-offs: competitors move fast, some without walking the site. Walking the roof within the 2-year window, while the roofer is still responsible for leaks, protects everyone. Bunching sign-offs in areas 3+ hours from home base also cuts travel cost. Claims: building owners expect action within 24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is that we are unreliable. If no delivery date is noted we put one on the order acknowledgement, but if we can get material out sooner we ship without telling the customer. Sometimes no one is there to receive it. This is more of a roofer detractor, but it makes Henry and Carlisle look unprofessional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ready to ship within 48 hours is not just a recent problem. The accessories needed to start a job (primer, bleed blockers, mastics) have to be available, not just the main coating.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quality is not the problem: national account leads close at a high rate. Volume is. Today the national accounts team spends time putting out fires and covering customer service. Fixing service frees that time for lead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reasons roofers come to us in the first place. Fixing service should not cost us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numbers come straight from the fixes on the detractor list. They give every team one clear standard and give us something to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leads and new products only help if the bucket holds. Proposed next steps: assign an owner per leak, report on the four numbers weekly, and close the open product and pricing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65760"/>
          </a:xfrm>
          <a:prstGeom prst="rect">
            <a:avLst/>
          </a:prstGeom>
          <a:noFill/>
          <a:ln/>
        </p:spPr>
        <p:txBody>
          <a:bodyPr wrap="square" rtlCol="0"/>
          <a:lstStyle>
            <a:lvl1pPr indent="0" marL="0">
              <a:buNone/>
              <a:defRPr lang="en-US" sz="1300" b="1" spc="200" kern="0" dirty="0">
                <a:solidFill>
                  <a:schemeClr val="accent3"/>
                </a:solidFill>
              </a:defRPr>
            </a:lvl1pPr>
          </a:lstStyle>
          <a:p>
            <a:pPr indent="0" marL="0">
              <a:buNone/>
            </a:pPr>
            <a:endParaRPr lang="en-US" sz="1300" dirty="0"/>
          </a:p>
        </p:txBody>
      </p:sp>
      <p:sp>
        <p:nvSpPr>
          <p:cNvPr id="3" name="Text 0"/>
          <p:cNvSpPr/>
          <p:nvPr>
            <p:ph idx="101" type="title" hasCustomPrompt="1"/>
          </p:nvPr>
        </p:nvSpPr>
        <p:spPr>
          <a:xfrm>
            <a:off x="548640" y="1554480"/>
            <a:ext cx="8046720" cy="1280160"/>
          </a:xfrm>
          <a:prstGeom prst="rect">
            <a:avLst/>
          </a:prstGeom>
          <a:noFill/>
          <a:ln/>
        </p:spPr>
        <p:txBody>
          <a:bodyPr wrap="square" rtlCol="0"/>
          <a:lstStyle>
            <a:lvl1pPr algn="l" indent="0" marL="0">
              <a:buNone/>
              <a:defRPr lang="en-US" sz="4000" b="1" dirty="0">
                <a:solidFill>
                  <a:schemeClr val="bg1"/>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4" name="Text 0"/>
          <p:cNvSpPr/>
          <p:nvPr>
            <p:ph idx="102" type="body" hasCustomPrompt="1"/>
          </p:nvPr>
        </p:nvSpPr>
        <p:spPr>
          <a:xfrm>
            <a:off x="548640" y="2926080"/>
            <a:ext cx="5669280" cy="12801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3657600" cy="228600"/>
          </a:xfrm>
          <a:prstGeom prst="rect">
            <a:avLst/>
          </a:prstGeom>
          <a:noFill/>
          <a:ln/>
        </p:spPr>
        <p:txBody>
          <a:bodyPr wrap="square" lIns="0" tIns="0" rIns="0" bIns="0" rtlCol="0" anchor="ctr"/>
          <a:lstStyle/>
          <a:p>
            <a:pPr indent="0" marL="0">
              <a:buNone/>
            </a:pPr>
            <a:r>
              <a:rPr lang="en-US" sz="1000" dirty="0">
                <a:solidFill>
                  <a:schemeClr val="accent6"/>
                </a:solidFill>
              </a:rPr>
              <a:t>Tier 1 roofer retention</a:t>
            </a:r>
            <a:endParaRPr lang="en-US" sz="1000" dirty="0"/>
          </a:p>
        </p:txBody>
      </p:sp>
      <p:sp>
        <p:nvSpPr>
          <p:cNvPr id="3" name="Text 1"/>
          <p:cNvSpPr/>
          <p:nvPr>
            <p:ph idx="101" type="body" hasCustomPrompt="1"/>
          </p:nvPr>
        </p:nvSpPr>
        <p:spPr>
          <a:xfrm>
            <a:off x="457200" y="274320"/>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457200" y="530352"/>
            <a:ext cx="8229600" cy="54864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3.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65760"/>
          </a:xfrm>
          <a:prstGeom prst="rect">
            <a:avLst/>
          </a:prstGeom>
          <a:noFill/>
          <a:ln/>
        </p:spPr>
        <p:txBody>
          <a:bodyPr wrap="square" lIns="0" tIns="0" rIns="0" bIns="0" rtlCol="0"/>
          <a:lstStyle/>
          <a:p>
            <a:pPr indent="0" marL="0">
              <a:buNone/>
            </a:pPr>
            <a:r>
              <a:rPr lang="en-US" sz="1300" b="1" spc="200" kern="0" dirty="0">
                <a:solidFill>
                  <a:schemeClr val="accent3"/>
                </a:solidFill>
              </a:rPr>
              <a:t>TIER 1 ROOFER RETENTION</a:t>
            </a:r>
            <a:endParaRPr lang="en-US" sz="1300" dirty="0"/>
          </a:p>
        </p:txBody>
      </p:sp>
      <p:sp>
        <p:nvSpPr>
          <p:cNvPr id="3" name="Text 0"/>
          <p:cNvSpPr/>
          <p:nvPr>
            <p:ph idx="101" type="title" hasCustomPrompt="1"/>
          </p:nvPr>
        </p:nvSpPr>
        <p:spPr>
          <a:xfrm>
            <a:off x="548640" y="1554480"/>
            <a:ext cx="8046720" cy="1280160"/>
          </a:xfrm>
          <a:prstGeom prst="rect">
            <a:avLst/>
          </a:prstGeom>
          <a:noFill/>
          <a:ln/>
        </p:spPr>
        <p:txBody>
          <a:bodyPr wrap="square" lIns="0" tIns="0" rIns="0" bIns="0" rtlCol="0" anchor="t"/>
          <a:lstStyle/>
          <a:p>
            <a:pPr algn="l" indent="0" marL="0">
              <a:buNone/>
            </a:pPr>
            <a:r>
              <a:rPr lang="en-US" sz="4000" b="1" dirty="0">
                <a:solidFill>
                  <a:schemeClr val="bg1"/>
                </a:solidFill>
                <a:latin typeface="Arial" pitchFamily="34" charset="0"/>
                <a:ea typeface="Arial" pitchFamily="34" charset="-122"/>
                <a:cs typeface="Arial" pitchFamily="34" charset="-120"/>
              </a:rPr>
              <a:t>Our bucket is leaking</a:t>
            </a:r>
            <a:endParaRPr lang="en-US" sz="4000" dirty="0"/>
          </a:p>
        </p:txBody>
      </p:sp>
      <p:sp>
        <p:nvSpPr>
          <p:cNvPr id="4" name="Text 0"/>
          <p:cNvSpPr/>
          <p:nvPr>
            <p:ph idx="102" type="body" hasCustomPrompt="1"/>
          </p:nvPr>
        </p:nvSpPr>
        <p:spPr>
          <a:xfrm>
            <a:off x="548640" y="2926080"/>
            <a:ext cx="5669280" cy="1280160"/>
          </a:xfrm>
          <a:prstGeom prst="rect">
            <a:avLst/>
          </a:prstGeom>
          <a:noFill/>
          <a:ln/>
        </p:spPr>
        <p:txBody>
          <a:bodyPr wrap="square" lIns="0" tIns="0" rIns="0" bIns="0" rtlCol="0" anchor="t"/>
          <a:lstStyle/>
          <a:p>
            <a:pPr indent="0" marL="0">
              <a:buNone/>
            </a:pPr>
            <a:r>
              <a:rPr lang="en-US" sz="1800" dirty="0">
                <a:solidFill>
                  <a:schemeClr val="bg2"/>
                </a:solidFill>
              </a:rPr>
              <a:t>We win Tier 1 roofers with product, leads and price. We lose them on service. Here is where the leaks are, and how we plug them.</a:t>
            </a:r>
            <a:endParaRPr lang="en-US" sz="1800" dirty="0"/>
          </a:p>
        </p:txBody>
      </p:sp>
      <p:pic>
        <p:nvPicPr>
          <p:cNvPr id="5" name="Image 0" descr="preencoded.png">    </p:cNvPr>
          <p:cNvPicPr>
            <a:picLocks noChangeAspect="1"/>
          </p:cNvPicPr>
          <p:nvPr/>
        </p:nvPicPr>
        <p:blipFill>
          <a:blip r:embed="rId1"/>
          <a:stretch>
            <a:fillRect/>
          </a:stretch>
        </p:blipFill>
        <p:spPr>
          <a:xfrm>
            <a:off x="6629400" y="2331720"/>
            <a:ext cx="1965960" cy="212140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THE CORE PROBLEM</a:t>
            </a:r>
            <a:endParaRPr lang="en-US" sz="1100" dirty="0"/>
          </a:p>
        </p:txBody>
      </p:sp>
      <p:sp>
        <p:nvSpPr>
          <p:cNvPr id="3" name="Text 1"/>
          <p:cNvSpPr/>
          <p:nvPr>
            <p:ph idx="102" type="title" hasCustomPrompt="1"/>
          </p:nvPr>
        </p:nvSpPr>
        <p:spPr>
          <a:xfrm>
            <a:off x="457200" y="530352"/>
            <a:ext cx="8229600" cy="548640"/>
          </a:xfrm>
          <a:prstGeom prst="rect">
            <a:avLst/>
          </a:prstGeom>
          <a:noFill/>
          <a:ln/>
        </p:spPr>
        <p:txBody>
          <a:bodyPr wrap="square" lIns="0" tIns="0" rIns="0" bIns="0" rtlCol="0" anchor="t"/>
          <a:lstStyle/>
          <a:p>
            <a:pPr algn="l" indent="0" marL="0">
              <a:buNone/>
            </a:pPr>
            <a:r>
              <a:rPr lang="en-US" sz="3000" b="1" dirty="0">
                <a:solidFill>
                  <a:schemeClr val="tx2"/>
                </a:solidFill>
                <a:latin typeface="Arial" pitchFamily="34" charset="0"/>
                <a:ea typeface="Arial" pitchFamily="34" charset="-122"/>
                <a:cs typeface="Arial" pitchFamily="34" charset="-120"/>
              </a:rPr>
              <a:t>We win the work, then give it back</a:t>
            </a:r>
            <a:endParaRPr lang="en-US" sz="3000" dirty="0"/>
          </a:p>
        </p:txBody>
      </p:sp>
      <p:sp>
        <p:nvSpPr>
          <p:cNvPr id="4" name="Text 2"/>
          <p:cNvSpPr txBox="1"/>
          <p:nvPr/>
        </p:nvSpPr>
        <p:spPr>
          <a:xfrm>
            <a:off x="457200" y="1325880"/>
            <a:ext cx="2743200" cy="320040"/>
          </a:xfrm>
          <a:prstGeom prst="rect">
            <a:avLst/>
          </a:prstGeom>
          <a:noFill/>
          <a:ln/>
        </p:spPr>
        <p:txBody>
          <a:bodyPr wrap="square" lIns="0" tIns="0" rIns="0" bIns="0" rtlCol="0" anchor="t"/>
          <a:lstStyle/>
          <a:p>
            <a:pPr indent="0" marL="0">
              <a:buNone/>
            </a:pPr>
            <a:r>
              <a:rPr lang="en-US" sz="1600" b="1" dirty="0">
                <a:solidFill>
                  <a:schemeClr val="accent2"/>
                </a:solidFill>
                <a:latin typeface="Calibri" pitchFamily="34" charset="0"/>
                <a:ea typeface="Calibri" pitchFamily="34" charset="-122"/>
                <a:cs typeface="Calibri" pitchFamily="34" charset="-120"/>
              </a:rPr>
              <a:t>What fills the bucket</a:t>
            </a:r>
            <a:endParaRPr lang="en-US" sz="1600" dirty="0"/>
          </a:p>
        </p:txBody>
      </p:sp>
      <p:pic>
        <p:nvPicPr>
          <p:cNvPr id="5" name="Image 0" descr="preencoded.png">    </p:cNvPr>
          <p:cNvPicPr>
            <a:picLocks noChangeAspect="1"/>
          </p:cNvPicPr>
          <p:nvPr/>
        </p:nvPicPr>
        <p:blipFill>
          <a:blip r:embed="rId1"/>
          <a:stretch>
            <a:fillRect/>
          </a:stretch>
        </p:blipFill>
        <p:spPr>
          <a:xfrm>
            <a:off x="457200" y="1819656"/>
            <a:ext cx="201168" cy="201168"/>
          </a:xfrm>
          <a:prstGeom prst="rect">
            <a:avLst/>
          </a:prstGeom>
        </p:spPr>
      </p:pic>
      <p:sp>
        <p:nvSpPr>
          <p:cNvPr id="6" name="Text 3"/>
          <p:cNvSpPr txBox="1"/>
          <p:nvPr/>
        </p:nvSpPr>
        <p:spPr>
          <a:xfrm>
            <a:off x="777240" y="1783080"/>
            <a:ext cx="2468880" cy="3200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Quality silicone and SPF</a:t>
            </a:r>
            <a:endParaRPr lang="en-US" sz="1500" dirty="0"/>
          </a:p>
        </p:txBody>
      </p:sp>
      <p:pic>
        <p:nvPicPr>
          <p:cNvPr id="7" name="Image 1" descr="preencoded.png">    </p:cNvPr>
          <p:cNvPicPr>
            <a:picLocks noChangeAspect="1"/>
          </p:cNvPicPr>
          <p:nvPr/>
        </p:nvPicPr>
        <p:blipFill>
          <a:blip r:embed="rId2"/>
          <a:stretch>
            <a:fillRect/>
          </a:stretch>
        </p:blipFill>
        <p:spPr>
          <a:xfrm>
            <a:off x="457200" y="2322576"/>
            <a:ext cx="201168" cy="201168"/>
          </a:xfrm>
          <a:prstGeom prst="rect">
            <a:avLst/>
          </a:prstGeom>
        </p:spPr>
      </p:pic>
      <p:sp>
        <p:nvSpPr>
          <p:cNvPr id="8" name="Text 4"/>
          <p:cNvSpPr txBox="1"/>
          <p:nvPr/>
        </p:nvSpPr>
        <p:spPr>
          <a:xfrm>
            <a:off x="777240" y="2286000"/>
            <a:ext cx="2468880" cy="3200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Henry-provided leads</a:t>
            </a:r>
            <a:endParaRPr lang="en-US" sz="1500" dirty="0"/>
          </a:p>
        </p:txBody>
      </p:sp>
      <p:pic>
        <p:nvPicPr>
          <p:cNvPr id="9" name="Image 2" descr="preencoded.png">    </p:cNvPr>
          <p:cNvPicPr>
            <a:picLocks noChangeAspect="1"/>
          </p:cNvPicPr>
          <p:nvPr/>
        </p:nvPicPr>
        <p:blipFill>
          <a:blip r:embed="rId3"/>
          <a:stretch>
            <a:fillRect/>
          </a:stretch>
        </p:blipFill>
        <p:spPr>
          <a:xfrm>
            <a:off x="457200" y="2825496"/>
            <a:ext cx="201168" cy="201168"/>
          </a:xfrm>
          <a:prstGeom prst="rect">
            <a:avLst/>
          </a:prstGeom>
        </p:spPr>
      </p:pic>
      <p:sp>
        <p:nvSpPr>
          <p:cNvPr id="10" name="Text 5"/>
          <p:cNvSpPr txBox="1"/>
          <p:nvPr/>
        </p:nvSpPr>
        <p:spPr>
          <a:xfrm>
            <a:off x="777240" y="2788920"/>
            <a:ext cx="2468880" cy="3200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Competitive pricing</a:t>
            </a:r>
            <a:endParaRPr lang="en-US" sz="1500" dirty="0"/>
          </a:p>
        </p:txBody>
      </p:sp>
      <p:pic>
        <p:nvPicPr>
          <p:cNvPr id="11" name="Image 3" descr="preencoded.png">    </p:cNvPr>
          <p:cNvPicPr>
            <a:picLocks noChangeAspect="1"/>
          </p:cNvPicPr>
          <p:nvPr/>
        </p:nvPicPr>
        <p:blipFill>
          <a:blip r:embed="rId4"/>
          <a:stretch>
            <a:fillRect/>
          </a:stretch>
        </p:blipFill>
        <p:spPr>
          <a:xfrm>
            <a:off x="457200" y="3328416"/>
            <a:ext cx="201168" cy="201168"/>
          </a:xfrm>
          <a:prstGeom prst="rect">
            <a:avLst/>
          </a:prstGeom>
        </p:spPr>
      </p:pic>
      <p:sp>
        <p:nvSpPr>
          <p:cNvPr id="12" name="Text 6"/>
          <p:cNvSpPr txBox="1"/>
          <p:nvPr/>
        </p:nvSpPr>
        <p:spPr>
          <a:xfrm>
            <a:off x="777240" y="3291840"/>
            <a:ext cx="2468880" cy="3200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Flexibility on specs</a:t>
            </a:r>
            <a:endParaRPr lang="en-US" sz="1500" dirty="0"/>
          </a:p>
        </p:txBody>
      </p:sp>
      <p:pic>
        <p:nvPicPr>
          <p:cNvPr id="13" name="Leaky bucket" descr="preencoded.png">    </p:cNvPr>
          <p:cNvPicPr>
            <a:picLocks noChangeAspect="1"/>
          </p:cNvPicPr>
          <p:nvPr/>
        </p:nvPicPr>
        <p:blipFill>
          <a:blip r:embed="rId5"/>
          <a:stretch>
            <a:fillRect/>
          </a:stretch>
        </p:blipFill>
        <p:spPr>
          <a:xfrm>
            <a:off x="3520440" y="1234440"/>
            <a:ext cx="2103120" cy="2267712"/>
          </a:xfrm>
          <a:prstGeom prst="rect">
            <a:avLst/>
          </a:prstGeom>
        </p:spPr>
      </p:pic>
      <p:sp>
        <p:nvSpPr>
          <p:cNvPr id="14" name="Text 7"/>
          <p:cNvSpPr txBox="1"/>
          <p:nvPr/>
        </p:nvSpPr>
        <p:spPr>
          <a:xfrm>
            <a:off x="5943600" y="1325880"/>
            <a:ext cx="2743200" cy="320040"/>
          </a:xfrm>
          <a:prstGeom prst="rect">
            <a:avLst/>
          </a:prstGeom>
          <a:noFill/>
          <a:ln/>
        </p:spPr>
        <p:txBody>
          <a:bodyPr wrap="square" lIns="0" tIns="0" rIns="0" bIns="0" rtlCol="0" anchor="t"/>
          <a:lstStyle/>
          <a:p>
            <a:pPr indent="0" marL="0">
              <a:buNone/>
            </a:pPr>
            <a:r>
              <a:rPr lang="en-US" sz="1600" b="1" dirty="0">
                <a:solidFill>
                  <a:schemeClr val="accent5"/>
                </a:solidFill>
                <a:latin typeface="Calibri" pitchFamily="34" charset="0"/>
                <a:ea typeface="Calibri" pitchFamily="34" charset="-122"/>
                <a:cs typeface="Calibri" pitchFamily="34" charset="-120"/>
              </a:rPr>
              <a:t>What leaks out</a:t>
            </a:r>
            <a:endParaRPr lang="en-US" sz="1600" dirty="0"/>
          </a:p>
        </p:txBody>
      </p:sp>
      <p:pic>
        <p:nvPicPr>
          <p:cNvPr id="15" name="Image 5" descr="preencoded.png">    </p:cNvPr>
          <p:cNvPicPr>
            <a:picLocks noChangeAspect="1"/>
          </p:cNvPicPr>
          <p:nvPr/>
        </p:nvPicPr>
        <p:blipFill>
          <a:blip r:embed="rId6"/>
          <a:stretch>
            <a:fillRect/>
          </a:stretch>
        </p:blipFill>
        <p:spPr>
          <a:xfrm>
            <a:off x="5943600" y="1810512"/>
            <a:ext cx="201168" cy="219456"/>
          </a:xfrm>
          <a:prstGeom prst="rect">
            <a:avLst/>
          </a:prstGeom>
        </p:spPr>
      </p:pic>
      <p:sp>
        <p:nvSpPr>
          <p:cNvPr id="16" name="Text 8"/>
          <p:cNvSpPr txBox="1"/>
          <p:nvPr/>
        </p:nvSpPr>
        <p:spPr>
          <a:xfrm>
            <a:off x="6263640" y="1783080"/>
            <a:ext cx="2423160" cy="3200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Hard to place an order</a:t>
            </a:r>
            <a:endParaRPr lang="en-US" sz="1500" dirty="0"/>
          </a:p>
        </p:txBody>
      </p:sp>
      <p:pic>
        <p:nvPicPr>
          <p:cNvPr id="17" name="Image 6" descr="preencoded.png">    </p:cNvPr>
          <p:cNvPicPr>
            <a:picLocks noChangeAspect="1"/>
          </p:cNvPicPr>
          <p:nvPr/>
        </p:nvPicPr>
        <p:blipFill>
          <a:blip r:embed="rId7"/>
          <a:stretch>
            <a:fillRect/>
          </a:stretch>
        </p:blipFill>
        <p:spPr>
          <a:xfrm>
            <a:off x="5943600" y="2313432"/>
            <a:ext cx="201168" cy="219456"/>
          </a:xfrm>
          <a:prstGeom prst="rect">
            <a:avLst/>
          </a:prstGeom>
        </p:spPr>
      </p:pic>
      <p:sp>
        <p:nvSpPr>
          <p:cNvPr id="18" name="Text 9"/>
          <p:cNvSpPr txBox="1"/>
          <p:nvPr/>
        </p:nvSpPr>
        <p:spPr>
          <a:xfrm>
            <a:off x="6263640" y="2286000"/>
            <a:ext cx="2423160" cy="3200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Slow answers</a:t>
            </a:r>
            <a:endParaRPr lang="en-US" sz="1500" dirty="0"/>
          </a:p>
        </p:txBody>
      </p:sp>
      <p:pic>
        <p:nvPicPr>
          <p:cNvPr id="19" name="Image 7" descr="preencoded.png">    </p:cNvPr>
          <p:cNvPicPr>
            <a:picLocks noChangeAspect="1"/>
          </p:cNvPicPr>
          <p:nvPr/>
        </p:nvPicPr>
        <p:blipFill>
          <a:blip r:embed="rId8"/>
          <a:stretch>
            <a:fillRect/>
          </a:stretch>
        </p:blipFill>
        <p:spPr>
          <a:xfrm>
            <a:off x="5943600" y="2816352"/>
            <a:ext cx="201168" cy="219456"/>
          </a:xfrm>
          <a:prstGeom prst="rect">
            <a:avLst/>
          </a:prstGeom>
        </p:spPr>
      </p:pic>
      <p:sp>
        <p:nvSpPr>
          <p:cNvPr id="20" name="Text 10"/>
          <p:cNvSpPr txBox="1"/>
          <p:nvPr/>
        </p:nvSpPr>
        <p:spPr>
          <a:xfrm>
            <a:off x="6263640" y="2788920"/>
            <a:ext cx="2423160" cy="3200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Unreliable deliveries</a:t>
            </a:r>
            <a:endParaRPr lang="en-US" sz="1500" dirty="0"/>
          </a:p>
        </p:txBody>
      </p:sp>
      <p:pic>
        <p:nvPicPr>
          <p:cNvPr id="21" name="Image 8" descr="preencoded.png">    </p:cNvPr>
          <p:cNvPicPr>
            <a:picLocks noChangeAspect="1"/>
          </p:cNvPicPr>
          <p:nvPr/>
        </p:nvPicPr>
        <p:blipFill>
          <a:blip r:embed="rId9"/>
          <a:stretch>
            <a:fillRect/>
          </a:stretch>
        </p:blipFill>
        <p:spPr>
          <a:xfrm>
            <a:off x="5943600" y="3319272"/>
            <a:ext cx="201168" cy="219456"/>
          </a:xfrm>
          <a:prstGeom prst="rect">
            <a:avLst/>
          </a:prstGeom>
        </p:spPr>
      </p:pic>
      <p:sp>
        <p:nvSpPr>
          <p:cNvPr id="22" name="Text 11"/>
          <p:cNvSpPr txBox="1"/>
          <p:nvPr/>
        </p:nvSpPr>
        <p:spPr>
          <a:xfrm>
            <a:off x="6263640" y="3291840"/>
            <a:ext cx="2423160" cy="3200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Material not ready to ship</a:t>
            </a:r>
            <a:endParaRPr lang="en-US" sz="1500" dirty="0"/>
          </a:p>
        </p:txBody>
      </p:sp>
      <p:sp>
        <p:nvSpPr>
          <p:cNvPr id="23" name="Takeaway"/>
          <p:cNvSpPr/>
          <p:nvPr/>
        </p:nvSpPr>
        <p:spPr>
          <a:xfrm>
            <a:off x="457200" y="3931920"/>
            <a:ext cx="8229600" cy="594360"/>
          </a:xfrm>
          <a:prstGeom prst="roundRect">
            <a:avLst>
              <a:gd name="adj" fmla="val 12308"/>
            </a:avLst>
          </a:prstGeom>
          <a:solidFill>
            <a:schemeClr val="tx2"/>
          </a:solidFill>
          <a:ln w="12700">
            <a:solidFill>
              <a:schemeClr val="tx2"/>
            </a:solidFill>
            <a:prstDash val="solid"/>
          </a:ln>
        </p:spPr>
      </p:sp>
      <p:sp>
        <p:nvSpPr>
          <p:cNvPr id="24" name="Text 13"/>
          <p:cNvSpPr txBox="1"/>
          <p:nvPr/>
        </p:nvSpPr>
        <p:spPr>
          <a:xfrm>
            <a:off x="685800" y="3931920"/>
            <a:ext cx="7772400" cy="594360"/>
          </a:xfrm>
          <a:prstGeom prst="rect">
            <a:avLst/>
          </a:prstGeom>
          <a:noFill/>
          <a:ln/>
        </p:spPr>
        <p:txBody>
          <a:bodyPr wrap="square" lIns="0" tIns="0" rIns="0" bIns="0" rtlCol="0" anchor="ctr"/>
          <a:lstStyle/>
          <a:p>
            <a:pPr indent="0" marL="0">
              <a:buNone/>
            </a:pPr>
            <a:r>
              <a:rPr lang="en-US" sz="1600" b="1" dirty="0">
                <a:solidFill>
                  <a:schemeClr val="bg1"/>
                </a:solidFill>
                <a:latin typeface="Calibri" pitchFamily="34" charset="0"/>
                <a:ea typeface="Calibri" pitchFamily="34" charset="-122"/>
                <a:cs typeface="Calibri" pitchFamily="34" charset="-120"/>
              </a:rPr>
              <a:t>Every leak on the right is one we cause, so every one is a leak we can fix.</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WHERE WE STAND</a:t>
            </a:r>
            <a:endParaRPr lang="en-US" sz="1100" dirty="0"/>
          </a:p>
        </p:txBody>
      </p:sp>
      <p:sp>
        <p:nvSpPr>
          <p:cNvPr id="3" name="Text 1"/>
          <p:cNvSpPr/>
          <p:nvPr>
            <p:ph idx="102" type="title" hasCustomPrompt="1"/>
          </p:nvPr>
        </p:nvSpPr>
        <p:spPr>
          <a:xfrm>
            <a:off x="457200" y="530352"/>
            <a:ext cx="8229600" cy="548640"/>
          </a:xfrm>
          <a:prstGeom prst="rect">
            <a:avLst/>
          </a:prstGeom>
          <a:noFill/>
          <a:ln/>
        </p:spPr>
        <p:txBody>
          <a:bodyPr wrap="square" lIns="0" tIns="0" rIns="0" bIns="0" rtlCol="0" anchor="t"/>
          <a:lstStyle/>
          <a:p>
            <a:pPr algn="l" indent="0" marL="0">
              <a:buNone/>
            </a:pPr>
            <a:r>
              <a:rPr lang="en-US" sz="3000" b="1" dirty="0">
                <a:solidFill>
                  <a:schemeClr val="tx2"/>
                </a:solidFill>
                <a:latin typeface="Arial" pitchFamily="34" charset="0"/>
                <a:ea typeface="Arial" pitchFamily="34" charset="-122"/>
                <a:cs typeface="Arial" pitchFamily="34" charset="-120"/>
              </a:rPr>
              <a:t>Strong product. Weak service.</a:t>
            </a:r>
            <a:endParaRPr lang="en-US" sz="3000" dirty="0"/>
          </a:p>
        </p:txBody>
      </p:sp>
      <p:sp>
        <p:nvSpPr>
          <p:cNvPr id="4" name="Product quality"/>
          <p:cNvSpPr/>
          <p:nvPr/>
        </p:nvSpPr>
        <p:spPr>
          <a:xfrm>
            <a:off x="457200" y="1261872"/>
            <a:ext cx="2606040" cy="1664208"/>
          </a:xfrm>
          <a:prstGeom prst="roundRect">
            <a:avLst>
              <a:gd name="adj" fmla="val 4396"/>
            </a:avLst>
          </a:prstGeom>
          <a:solidFill>
            <a:schemeClr val="bg2"/>
          </a:solidFill>
          <a:ln w="12700">
            <a:solidFill>
              <a:schemeClr val="bg2"/>
            </a:solidFill>
            <a:prstDash val="solid"/>
          </a:ln>
        </p:spPr>
      </p:sp>
      <p:sp>
        <p:nvSpPr>
          <p:cNvPr id="5" name="Shape 3"/>
          <p:cNvSpPr/>
          <p:nvPr/>
        </p:nvSpPr>
        <p:spPr>
          <a:xfrm>
            <a:off x="566928" y="1353312"/>
            <a:ext cx="310896" cy="310896"/>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644652" y="1431036"/>
            <a:ext cx="155448" cy="155448"/>
          </a:xfrm>
          <a:prstGeom prst="rect">
            <a:avLst/>
          </a:prstGeom>
        </p:spPr>
      </p:pic>
      <p:sp>
        <p:nvSpPr>
          <p:cNvPr id="7" name="Text 4"/>
          <p:cNvSpPr txBox="1"/>
          <p:nvPr/>
        </p:nvSpPr>
        <p:spPr>
          <a:xfrm>
            <a:off x="950976" y="1371600"/>
            <a:ext cx="1280160" cy="27432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Product quality</a:t>
            </a:r>
            <a:endParaRPr lang="en-US" sz="1300" dirty="0"/>
          </a:p>
        </p:txBody>
      </p:sp>
      <p:sp>
        <p:nvSpPr>
          <p:cNvPr id="8" name="Status Strength"/>
          <p:cNvSpPr/>
          <p:nvPr/>
        </p:nvSpPr>
        <p:spPr>
          <a:xfrm>
            <a:off x="2194560" y="1399032"/>
            <a:ext cx="777240" cy="219456"/>
          </a:xfrm>
          <a:prstGeom prst="roundRect">
            <a:avLst>
              <a:gd name="adj" fmla="val 45833"/>
            </a:avLst>
          </a:prstGeom>
          <a:solidFill>
            <a:schemeClr val="accent2"/>
          </a:solidFill>
          <a:ln/>
        </p:spPr>
        <p:txBody>
          <a:bodyPr wrap="square" lIns="0" tIns="0" rIns="0" bIns="0" rtlCol="0" anchor="ctr"/>
          <a:lstStyle/>
          <a:p>
            <a:pPr algn="ctr" indent="0" marL="0">
              <a:buNone/>
            </a:pPr>
            <a:r>
              <a:rPr lang="en-US" sz="1000" b="1" dirty="0">
                <a:solidFill>
                  <a:schemeClr val="bg1"/>
                </a:solidFill>
              </a:rPr>
              <a:t>Strength</a:t>
            </a:r>
            <a:endParaRPr lang="en-US" sz="1000" dirty="0"/>
          </a:p>
        </p:txBody>
      </p:sp>
      <p:sp>
        <p:nvSpPr>
          <p:cNvPr id="9" name="Shape 6"/>
          <p:cNvSpPr/>
          <p:nvPr/>
        </p:nvSpPr>
        <p:spPr>
          <a:xfrm>
            <a:off x="612648" y="1801368"/>
            <a:ext cx="118872" cy="118872"/>
          </a:xfrm>
          <a:prstGeom prst="ellipse">
            <a:avLst/>
          </a:prstGeom>
          <a:solidFill>
            <a:schemeClr val="accent2"/>
          </a:solidFill>
          <a:ln w="12700">
            <a:solidFill>
              <a:schemeClr val="accent2"/>
            </a:solidFill>
            <a:prstDash val="solid"/>
          </a:ln>
        </p:spPr>
      </p:sp>
      <p:sp>
        <p:nvSpPr>
          <p:cNvPr id="10" name="Text 7"/>
          <p:cNvSpPr txBox="1"/>
          <p:nvPr/>
        </p:nvSpPr>
        <p:spPr>
          <a:xfrm>
            <a:off x="822960" y="1764792"/>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Silicone</a:t>
            </a:r>
            <a:endParaRPr lang="en-US" sz="1100" dirty="0"/>
          </a:p>
        </p:txBody>
      </p:sp>
      <p:sp>
        <p:nvSpPr>
          <p:cNvPr id="11" name="Shape 8"/>
          <p:cNvSpPr/>
          <p:nvPr/>
        </p:nvSpPr>
        <p:spPr>
          <a:xfrm>
            <a:off x="612648" y="1988820"/>
            <a:ext cx="118872" cy="118872"/>
          </a:xfrm>
          <a:prstGeom prst="ellipse">
            <a:avLst/>
          </a:prstGeom>
          <a:solidFill>
            <a:schemeClr val="accent2"/>
          </a:solidFill>
          <a:ln w="12700">
            <a:solidFill>
              <a:schemeClr val="accent2"/>
            </a:solidFill>
            <a:prstDash val="solid"/>
          </a:ln>
        </p:spPr>
      </p:sp>
      <p:sp>
        <p:nvSpPr>
          <p:cNvPr id="12" name="Text 9"/>
          <p:cNvSpPr txBox="1"/>
          <p:nvPr/>
        </p:nvSpPr>
        <p:spPr>
          <a:xfrm>
            <a:off x="822960" y="1952244"/>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SPF</a:t>
            </a:r>
            <a:endParaRPr lang="en-US" sz="1100" dirty="0"/>
          </a:p>
        </p:txBody>
      </p:sp>
      <p:sp>
        <p:nvSpPr>
          <p:cNvPr id="13" name="Shape 10"/>
          <p:cNvSpPr/>
          <p:nvPr/>
        </p:nvSpPr>
        <p:spPr>
          <a:xfrm>
            <a:off x="612648" y="2176272"/>
            <a:ext cx="118872" cy="118872"/>
          </a:xfrm>
          <a:prstGeom prst="ellipse">
            <a:avLst/>
          </a:prstGeom>
          <a:solidFill>
            <a:schemeClr val="accent3"/>
          </a:solidFill>
          <a:ln w="12700">
            <a:solidFill>
              <a:schemeClr val="accent3"/>
            </a:solidFill>
            <a:prstDash val="solid"/>
          </a:ln>
        </p:spPr>
      </p:sp>
      <p:sp>
        <p:nvSpPr>
          <p:cNvPr id="14" name="Text 11"/>
          <p:cNvSpPr txBox="1"/>
          <p:nvPr/>
        </p:nvSpPr>
        <p:spPr>
          <a:xfrm>
            <a:off x="822960" y="2139696"/>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Acrylic</a:t>
            </a:r>
            <a:endParaRPr lang="en-US" sz="1100" dirty="0"/>
          </a:p>
        </p:txBody>
      </p:sp>
      <p:sp>
        <p:nvSpPr>
          <p:cNvPr id="15" name="Shape 12"/>
          <p:cNvSpPr/>
          <p:nvPr/>
        </p:nvSpPr>
        <p:spPr>
          <a:xfrm>
            <a:off x="612648" y="2363724"/>
            <a:ext cx="118872" cy="118872"/>
          </a:xfrm>
          <a:prstGeom prst="ellipse">
            <a:avLst/>
          </a:prstGeom>
          <a:solidFill>
            <a:schemeClr val="accent5"/>
          </a:solidFill>
          <a:ln w="12700">
            <a:solidFill>
              <a:schemeClr val="accent5"/>
            </a:solidFill>
            <a:prstDash val="solid"/>
          </a:ln>
        </p:spPr>
      </p:sp>
      <p:sp>
        <p:nvSpPr>
          <p:cNvPr id="16" name="Text 13"/>
          <p:cNvSpPr txBox="1"/>
          <p:nvPr/>
        </p:nvSpPr>
        <p:spPr>
          <a:xfrm>
            <a:off x="822960" y="2327148"/>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Acrylic clumping</a:t>
            </a:r>
            <a:endParaRPr lang="en-US" sz="1100" dirty="0"/>
          </a:p>
        </p:txBody>
      </p:sp>
      <p:sp>
        <p:nvSpPr>
          <p:cNvPr id="17" name="Shape 14"/>
          <p:cNvSpPr/>
          <p:nvPr/>
        </p:nvSpPr>
        <p:spPr>
          <a:xfrm>
            <a:off x="612648" y="2551176"/>
            <a:ext cx="118872" cy="118872"/>
          </a:xfrm>
          <a:prstGeom prst="ellipse">
            <a:avLst/>
          </a:prstGeom>
          <a:solidFill>
            <a:schemeClr val="accent4"/>
          </a:solidFill>
          <a:ln w="12700">
            <a:solidFill>
              <a:schemeClr val="accent4"/>
            </a:solidFill>
            <a:prstDash val="solid"/>
          </a:ln>
        </p:spPr>
      </p:sp>
      <p:sp>
        <p:nvSpPr>
          <p:cNvPr id="18" name="Text 15"/>
          <p:cNvSpPr txBox="1"/>
          <p:nvPr/>
        </p:nvSpPr>
        <p:spPr>
          <a:xfrm>
            <a:off x="822960" y="2514600"/>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Seam treatments</a:t>
            </a:r>
            <a:endParaRPr lang="en-US" sz="1100" dirty="0"/>
          </a:p>
        </p:txBody>
      </p:sp>
      <p:sp>
        <p:nvSpPr>
          <p:cNvPr id="19" name="Shape 16"/>
          <p:cNvSpPr/>
          <p:nvPr/>
        </p:nvSpPr>
        <p:spPr>
          <a:xfrm>
            <a:off x="612648" y="2738628"/>
            <a:ext cx="118872" cy="118872"/>
          </a:xfrm>
          <a:prstGeom prst="ellipse">
            <a:avLst/>
          </a:prstGeom>
          <a:solidFill>
            <a:schemeClr val="accent5"/>
          </a:solidFill>
          <a:ln w="12700">
            <a:solidFill>
              <a:schemeClr val="accent5"/>
            </a:solidFill>
            <a:prstDash val="solid"/>
          </a:ln>
        </p:spPr>
      </p:sp>
      <p:sp>
        <p:nvSpPr>
          <p:cNvPr id="20" name="Text 17"/>
          <p:cNvSpPr txBox="1"/>
          <p:nvPr/>
        </p:nvSpPr>
        <p:spPr>
          <a:xfrm>
            <a:off x="822960" y="2702052"/>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Urethane system</a:t>
            </a:r>
            <a:endParaRPr lang="en-US" sz="1100" dirty="0"/>
          </a:p>
        </p:txBody>
      </p:sp>
      <p:sp>
        <p:nvSpPr>
          <p:cNvPr id="21" name="Availability"/>
          <p:cNvSpPr/>
          <p:nvPr/>
        </p:nvSpPr>
        <p:spPr>
          <a:xfrm>
            <a:off x="3268980" y="1261872"/>
            <a:ext cx="2606040" cy="1664208"/>
          </a:xfrm>
          <a:prstGeom prst="roundRect">
            <a:avLst>
              <a:gd name="adj" fmla="val 4396"/>
            </a:avLst>
          </a:prstGeom>
          <a:solidFill>
            <a:schemeClr val="bg2"/>
          </a:solidFill>
          <a:ln w="12700">
            <a:solidFill>
              <a:schemeClr val="bg2"/>
            </a:solidFill>
            <a:prstDash val="solid"/>
          </a:ln>
        </p:spPr>
      </p:sp>
      <p:sp>
        <p:nvSpPr>
          <p:cNvPr id="22" name="Shape 19"/>
          <p:cNvSpPr/>
          <p:nvPr/>
        </p:nvSpPr>
        <p:spPr>
          <a:xfrm>
            <a:off x="3378708" y="1353312"/>
            <a:ext cx="310896" cy="310896"/>
          </a:xfrm>
          <a:prstGeom prst="ellipse">
            <a:avLst/>
          </a:prstGeom>
          <a:solidFill>
            <a:schemeClr val="accent1"/>
          </a:solidFill>
          <a:ln w="12700">
            <a:solidFill>
              <a:schemeClr val="accent1"/>
            </a:solidFill>
            <a:prstDash val="solid"/>
          </a:ln>
        </p:spPr>
      </p:sp>
      <p:pic>
        <p:nvPicPr>
          <p:cNvPr id="23" name="Image 1" descr="preencoded.png">    </p:cNvPr>
          <p:cNvPicPr>
            <a:picLocks noChangeAspect="1"/>
          </p:cNvPicPr>
          <p:nvPr/>
        </p:nvPicPr>
        <p:blipFill>
          <a:blip r:embed="rId2"/>
          <a:stretch>
            <a:fillRect/>
          </a:stretch>
        </p:blipFill>
        <p:spPr>
          <a:xfrm>
            <a:off x="3456432" y="1431036"/>
            <a:ext cx="155448" cy="155448"/>
          </a:xfrm>
          <a:prstGeom prst="rect">
            <a:avLst/>
          </a:prstGeom>
        </p:spPr>
      </p:pic>
      <p:sp>
        <p:nvSpPr>
          <p:cNvPr id="24" name="Text 20"/>
          <p:cNvSpPr txBox="1"/>
          <p:nvPr/>
        </p:nvSpPr>
        <p:spPr>
          <a:xfrm>
            <a:off x="3762756" y="1371600"/>
            <a:ext cx="1280160" cy="27432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Availability</a:t>
            </a:r>
            <a:endParaRPr lang="en-US" sz="1300" dirty="0"/>
          </a:p>
        </p:txBody>
      </p:sp>
      <p:sp>
        <p:nvSpPr>
          <p:cNvPr id="25" name="Status Watch"/>
          <p:cNvSpPr/>
          <p:nvPr/>
        </p:nvSpPr>
        <p:spPr>
          <a:xfrm>
            <a:off x="5006340" y="1399032"/>
            <a:ext cx="777240" cy="219456"/>
          </a:xfrm>
          <a:prstGeom prst="roundRect">
            <a:avLst>
              <a:gd name="adj" fmla="val 45833"/>
            </a:avLst>
          </a:prstGeom>
          <a:solidFill>
            <a:schemeClr val="accent3"/>
          </a:solidFill>
          <a:ln/>
        </p:spPr>
        <p:txBody>
          <a:bodyPr wrap="square" lIns="0" tIns="0" rIns="0" bIns="0" rtlCol="0" anchor="ctr"/>
          <a:lstStyle/>
          <a:p>
            <a:pPr algn="ctr" indent="0" marL="0">
              <a:buNone/>
            </a:pPr>
            <a:r>
              <a:rPr lang="en-US" sz="1000" b="1" dirty="0">
                <a:solidFill>
                  <a:schemeClr val="tx1"/>
                </a:solidFill>
              </a:rPr>
              <a:t>Watch</a:t>
            </a:r>
            <a:endParaRPr lang="en-US" sz="1000" dirty="0"/>
          </a:p>
        </p:txBody>
      </p:sp>
      <p:sp>
        <p:nvSpPr>
          <p:cNvPr id="26" name="Shape 22"/>
          <p:cNvSpPr/>
          <p:nvPr/>
        </p:nvSpPr>
        <p:spPr>
          <a:xfrm>
            <a:off x="3424428" y="1801368"/>
            <a:ext cx="118872" cy="118872"/>
          </a:xfrm>
          <a:prstGeom prst="ellipse">
            <a:avLst/>
          </a:prstGeom>
          <a:solidFill>
            <a:schemeClr val="accent2"/>
          </a:solidFill>
          <a:ln w="12700">
            <a:solidFill>
              <a:schemeClr val="accent2"/>
            </a:solidFill>
            <a:prstDash val="solid"/>
          </a:ln>
        </p:spPr>
      </p:sp>
      <p:sp>
        <p:nvSpPr>
          <p:cNvPr id="27" name="Text 23"/>
          <p:cNvSpPr txBox="1"/>
          <p:nvPr/>
        </p:nvSpPr>
        <p:spPr>
          <a:xfrm>
            <a:off x="3634740" y="1764792"/>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Silicone</a:t>
            </a:r>
            <a:endParaRPr lang="en-US" sz="1100" dirty="0"/>
          </a:p>
        </p:txBody>
      </p:sp>
      <p:sp>
        <p:nvSpPr>
          <p:cNvPr id="28" name="Shape 24"/>
          <p:cNvSpPr/>
          <p:nvPr/>
        </p:nvSpPr>
        <p:spPr>
          <a:xfrm>
            <a:off x="3424428" y="1988820"/>
            <a:ext cx="118872" cy="118872"/>
          </a:xfrm>
          <a:prstGeom prst="ellipse">
            <a:avLst/>
          </a:prstGeom>
          <a:solidFill>
            <a:schemeClr val="accent3"/>
          </a:solidFill>
          <a:ln w="12700">
            <a:solidFill>
              <a:schemeClr val="accent3"/>
            </a:solidFill>
            <a:prstDash val="solid"/>
          </a:ln>
        </p:spPr>
      </p:sp>
      <p:sp>
        <p:nvSpPr>
          <p:cNvPr id="29" name="Text 25"/>
          <p:cNvSpPr txBox="1"/>
          <p:nvPr/>
        </p:nvSpPr>
        <p:spPr>
          <a:xfrm>
            <a:off x="3634740" y="1952244"/>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Accessories</a:t>
            </a:r>
            <a:endParaRPr lang="en-US" sz="1100" dirty="0"/>
          </a:p>
        </p:txBody>
      </p:sp>
      <p:sp>
        <p:nvSpPr>
          <p:cNvPr id="30" name="Shape 26"/>
          <p:cNvSpPr/>
          <p:nvPr/>
        </p:nvSpPr>
        <p:spPr>
          <a:xfrm>
            <a:off x="3424428" y="2176272"/>
            <a:ext cx="118872" cy="118872"/>
          </a:xfrm>
          <a:prstGeom prst="ellipse">
            <a:avLst/>
          </a:prstGeom>
          <a:solidFill>
            <a:schemeClr val="accent4"/>
          </a:solidFill>
          <a:ln w="12700">
            <a:solidFill>
              <a:schemeClr val="accent4"/>
            </a:solidFill>
            <a:prstDash val="solid"/>
          </a:ln>
        </p:spPr>
      </p:sp>
      <p:sp>
        <p:nvSpPr>
          <p:cNvPr id="31" name="Text 27"/>
          <p:cNvSpPr txBox="1"/>
          <p:nvPr/>
        </p:nvSpPr>
        <p:spPr>
          <a:xfrm>
            <a:off x="3634740" y="2139696"/>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Acrylic</a:t>
            </a:r>
            <a:endParaRPr lang="en-US" sz="1100" dirty="0"/>
          </a:p>
        </p:txBody>
      </p:sp>
      <p:sp>
        <p:nvSpPr>
          <p:cNvPr id="32" name="Shape 28"/>
          <p:cNvSpPr/>
          <p:nvPr/>
        </p:nvSpPr>
        <p:spPr>
          <a:xfrm>
            <a:off x="3424428" y="2363724"/>
            <a:ext cx="118872" cy="118872"/>
          </a:xfrm>
          <a:prstGeom prst="ellipse">
            <a:avLst/>
          </a:prstGeom>
          <a:solidFill>
            <a:schemeClr val="accent4"/>
          </a:solidFill>
          <a:ln w="12700">
            <a:solidFill>
              <a:schemeClr val="accent4"/>
            </a:solidFill>
            <a:prstDash val="solid"/>
          </a:ln>
        </p:spPr>
      </p:sp>
      <p:sp>
        <p:nvSpPr>
          <p:cNvPr id="33" name="Text 29"/>
          <p:cNvSpPr txBox="1"/>
          <p:nvPr/>
        </p:nvSpPr>
        <p:spPr>
          <a:xfrm>
            <a:off x="3634740" y="2327148"/>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Primers and bleed blockers</a:t>
            </a:r>
            <a:endParaRPr lang="en-US" sz="1100" dirty="0"/>
          </a:p>
        </p:txBody>
      </p:sp>
      <p:sp>
        <p:nvSpPr>
          <p:cNvPr id="34" name="Leads and pricing"/>
          <p:cNvSpPr/>
          <p:nvPr/>
        </p:nvSpPr>
        <p:spPr>
          <a:xfrm>
            <a:off x="6080760" y="1261872"/>
            <a:ext cx="2606040" cy="1664208"/>
          </a:xfrm>
          <a:prstGeom prst="roundRect">
            <a:avLst>
              <a:gd name="adj" fmla="val 4396"/>
            </a:avLst>
          </a:prstGeom>
          <a:solidFill>
            <a:schemeClr val="bg2"/>
          </a:solidFill>
          <a:ln w="12700">
            <a:solidFill>
              <a:schemeClr val="bg2"/>
            </a:solidFill>
            <a:prstDash val="solid"/>
          </a:ln>
        </p:spPr>
      </p:sp>
      <p:sp>
        <p:nvSpPr>
          <p:cNvPr id="35" name="Shape 31"/>
          <p:cNvSpPr/>
          <p:nvPr/>
        </p:nvSpPr>
        <p:spPr>
          <a:xfrm>
            <a:off x="6190488" y="1353312"/>
            <a:ext cx="310896" cy="310896"/>
          </a:xfrm>
          <a:prstGeom prst="ellipse">
            <a:avLst/>
          </a:prstGeom>
          <a:solidFill>
            <a:schemeClr val="accent1"/>
          </a:solidFill>
          <a:ln w="12700">
            <a:solidFill>
              <a:schemeClr val="accent1"/>
            </a:solidFill>
            <a:prstDash val="solid"/>
          </a:ln>
        </p:spPr>
      </p:sp>
      <p:pic>
        <p:nvPicPr>
          <p:cNvPr id="36" name="Image 2" descr="preencoded.png">    </p:cNvPr>
          <p:cNvPicPr>
            <a:picLocks noChangeAspect="1"/>
          </p:cNvPicPr>
          <p:nvPr/>
        </p:nvPicPr>
        <p:blipFill>
          <a:blip r:embed="rId3"/>
          <a:stretch>
            <a:fillRect/>
          </a:stretch>
        </p:blipFill>
        <p:spPr>
          <a:xfrm>
            <a:off x="6268212" y="1431036"/>
            <a:ext cx="155448" cy="155448"/>
          </a:xfrm>
          <a:prstGeom prst="rect">
            <a:avLst/>
          </a:prstGeom>
        </p:spPr>
      </p:pic>
      <p:sp>
        <p:nvSpPr>
          <p:cNvPr id="37" name="Text 32"/>
          <p:cNvSpPr txBox="1"/>
          <p:nvPr/>
        </p:nvSpPr>
        <p:spPr>
          <a:xfrm>
            <a:off x="6574536" y="1371600"/>
            <a:ext cx="1280160" cy="27432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Leads and pricing</a:t>
            </a:r>
            <a:endParaRPr lang="en-US" sz="1300" dirty="0"/>
          </a:p>
        </p:txBody>
      </p:sp>
      <p:sp>
        <p:nvSpPr>
          <p:cNvPr id="38" name="Status Strength"/>
          <p:cNvSpPr/>
          <p:nvPr/>
        </p:nvSpPr>
        <p:spPr>
          <a:xfrm>
            <a:off x="7818120" y="1399032"/>
            <a:ext cx="777240" cy="219456"/>
          </a:xfrm>
          <a:prstGeom prst="roundRect">
            <a:avLst>
              <a:gd name="adj" fmla="val 45833"/>
            </a:avLst>
          </a:prstGeom>
          <a:solidFill>
            <a:schemeClr val="accent2"/>
          </a:solidFill>
          <a:ln/>
        </p:spPr>
        <p:txBody>
          <a:bodyPr wrap="square" lIns="0" tIns="0" rIns="0" bIns="0" rtlCol="0" anchor="ctr"/>
          <a:lstStyle/>
          <a:p>
            <a:pPr algn="ctr" indent="0" marL="0">
              <a:buNone/>
            </a:pPr>
            <a:r>
              <a:rPr lang="en-US" sz="1000" b="1" dirty="0">
                <a:solidFill>
                  <a:schemeClr val="bg1"/>
                </a:solidFill>
              </a:rPr>
              <a:t>Strength</a:t>
            </a:r>
            <a:endParaRPr lang="en-US" sz="1000" dirty="0"/>
          </a:p>
        </p:txBody>
      </p:sp>
      <p:sp>
        <p:nvSpPr>
          <p:cNvPr id="39" name="Shape 34"/>
          <p:cNvSpPr/>
          <p:nvPr/>
        </p:nvSpPr>
        <p:spPr>
          <a:xfrm>
            <a:off x="6236208" y="1801368"/>
            <a:ext cx="118872" cy="118872"/>
          </a:xfrm>
          <a:prstGeom prst="ellipse">
            <a:avLst/>
          </a:prstGeom>
          <a:solidFill>
            <a:schemeClr val="accent2"/>
          </a:solidFill>
          <a:ln w="12700">
            <a:solidFill>
              <a:schemeClr val="accent2"/>
            </a:solidFill>
            <a:prstDash val="solid"/>
          </a:ln>
        </p:spPr>
      </p:sp>
      <p:sp>
        <p:nvSpPr>
          <p:cNvPr id="40" name="Text 35"/>
          <p:cNvSpPr txBox="1"/>
          <p:nvPr/>
        </p:nvSpPr>
        <p:spPr>
          <a:xfrm>
            <a:off x="6446520" y="1764792"/>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Henry-provided leads</a:t>
            </a:r>
            <a:endParaRPr lang="en-US" sz="1100" dirty="0"/>
          </a:p>
        </p:txBody>
      </p:sp>
      <p:sp>
        <p:nvSpPr>
          <p:cNvPr id="41" name="Shape 36"/>
          <p:cNvSpPr/>
          <p:nvPr/>
        </p:nvSpPr>
        <p:spPr>
          <a:xfrm>
            <a:off x="6236208" y="1988820"/>
            <a:ext cx="118872" cy="118872"/>
          </a:xfrm>
          <a:prstGeom prst="ellipse">
            <a:avLst/>
          </a:prstGeom>
          <a:solidFill>
            <a:schemeClr val="accent2"/>
          </a:solidFill>
          <a:ln w="12700">
            <a:solidFill>
              <a:schemeClr val="accent2"/>
            </a:solidFill>
            <a:prstDash val="solid"/>
          </a:ln>
        </p:spPr>
      </p:sp>
      <p:sp>
        <p:nvSpPr>
          <p:cNvPr id="42" name="Text 37"/>
          <p:cNvSpPr txBox="1"/>
          <p:nvPr/>
        </p:nvSpPr>
        <p:spPr>
          <a:xfrm>
            <a:off x="6446520" y="1952244"/>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Silicone price</a:t>
            </a:r>
            <a:endParaRPr lang="en-US" sz="1100" dirty="0"/>
          </a:p>
        </p:txBody>
      </p:sp>
      <p:sp>
        <p:nvSpPr>
          <p:cNvPr id="43" name="Shape 38"/>
          <p:cNvSpPr/>
          <p:nvPr/>
        </p:nvSpPr>
        <p:spPr>
          <a:xfrm>
            <a:off x="6236208" y="2176272"/>
            <a:ext cx="118872" cy="118872"/>
          </a:xfrm>
          <a:prstGeom prst="ellipse">
            <a:avLst/>
          </a:prstGeom>
          <a:solidFill>
            <a:schemeClr val="accent2"/>
          </a:solidFill>
          <a:ln w="12700">
            <a:solidFill>
              <a:schemeClr val="accent2"/>
            </a:solidFill>
            <a:prstDash val="solid"/>
          </a:ln>
        </p:spPr>
      </p:sp>
      <p:sp>
        <p:nvSpPr>
          <p:cNvPr id="44" name="Text 39"/>
          <p:cNvSpPr txBox="1"/>
          <p:nvPr/>
        </p:nvSpPr>
        <p:spPr>
          <a:xfrm>
            <a:off x="6446520" y="2139696"/>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Acrylic price</a:t>
            </a:r>
            <a:endParaRPr lang="en-US" sz="1100" dirty="0"/>
          </a:p>
        </p:txBody>
      </p:sp>
      <p:sp>
        <p:nvSpPr>
          <p:cNvPr id="45" name="Shape 40"/>
          <p:cNvSpPr/>
          <p:nvPr/>
        </p:nvSpPr>
        <p:spPr>
          <a:xfrm>
            <a:off x="6236208" y="2363724"/>
            <a:ext cx="118872" cy="118872"/>
          </a:xfrm>
          <a:prstGeom prst="ellipse">
            <a:avLst/>
          </a:prstGeom>
          <a:solidFill>
            <a:schemeClr val="accent3"/>
          </a:solidFill>
          <a:ln w="12700">
            <a:solidFill>
              <a:schemeClr val="accent3"/>
            </a:solidFill>
            <a:prstDash val="solid"/>
          </a:ln>
        </p:spPr>
      </p:sp>
      <p:sp>
        <p:nvSpPr>
          <p:cNvPr id="46" name="Text 41"/>
          <p:cNvSpPr txBox="1"/>
          <p:nvPr/>
        </p:nvSpPr>
        <p:spPr>
          <a:xfrm>
            <a:off x="6446520" y="2327148"/>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SPF price</a:t>
            </a:r>
            <a:endParaRPr lang="en-US" sz="1100" dirty="0"/>
          </a:p>
        </p:txBody>
      </p:sp>
      <p:sp>
        <p:nvSpPr>
          <p:cNvPr id="47" name="Shape 42"/>
          <p:cNvSpPr/>
          <p:nvPr/>
        </p:nvSpPr>
        <p:spPr>
          <a:xfrm>
            <a:off x="6236208" y="2551176"/>
            <a:ext cx="118872" cy="118872"/>
          </a:xfrm>
          <a:prstGeom prst="ellipse">
            <a:avLst/>
          </a:prstGeom>
          <a:solidFill>
            <a:schemeClr val="accent3"/>
          </a:solidFill>
          <a:ln w="12700">
            <a:solidFill>
              <a:schemeClr val="accent3"/>
            </a:solidFill>
            <a:prstDash val="solid"/>
          </a:ln>
        </p:spPr>
      </p:sp>
      <p:sp>
        <p:nvSpPr>
          <p:cNvPr id="48" name="Text 43"/>
          <p:cNvSpPr txBox="1"/>
          <p:nvPr/>
        </p:nvSpPr>
        <p:spPr>
          <a:xfrm>
            <a:off x="6446520" y="2514600"/>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Emulsion price</a:t>
            </a:r>
            <a:endParaRPr lang="en-US" sz="1100" dirty="0"/>
          </a:p>
        </p:txBody>
      </p:sp>
      <p:sp>
        <p:nvSpPr>
          <p:cNvPr id="49" name="Logistics"/>
          <p:cNvSpPr/>
          <p:nvPr/>
        </p:nvSpPr>
        <p:spPr>
          <a:xfrm>
            <a:off x="457200" y="3063240"/>
            <a:ext cx="2606040" cy="1664208"/>
          </a:xfrm>
          <a:prstGeom prst="roundRect">
            <a:avLst>
              <a:gd name="adj" fmla="val 4396"/>
            </a:avLst>
          </a:prstGeom>
          <a:solidFill>
            <a:schemeClr val="bg2"/>
          </a:solidFill>
          <a:ln w="12700">
            <a:solidFill>
              <a:schemeClr val="bg2"/>
            </a:solidFill>
            <a:prstDash val="solid"/>
          </a:ln>
        </p:spPr>
      </p:sp>
      <p:sp>
        <p:nvSpPr>
          <p:cNvPr id="50" name="Shape 45"/>
          <p:cNvSpPr/>
          <p:nvPr/>
        </p:nvSpPr>
        <p:spPr>
          <a:xfrm>
            <a:off x="566928" y="3154680"/>
            <a:ext cx="310896" cy="310896"/>
          </a:xfrm>
          <a:prstGeom prst="ellipse">
            <a:avLst/>
          </a:prstGeom>
          <a:solidFill>
            <a:schemeClr val="accent1"/>
          </a:solidFill>
          <a:ln w="12700">
            <a:solidFill>
              <a:schemeClr val="accent1"/>
            </a:solidFill>
            <a:prstDash val="solid"/>
          </a:ln>
        </p:spPr>
      </p:sp>
      <p:pic>
        <p:nvPicPr>
          <p:cNvPr id="51" name="Image 3" descr="preencoded.png">    </p:cNvPr>
          <p:cNvPicPr>
            <a:picLocks noChangeAspect="1"/>
          </p:cNvPicPr>
          <p:nvPr/>
        </p:nvPicPr>
        <p:blipFill>
          <a:blip r:embed="rId4"/>
          <a:stretch>
            <a:fillRect/>
          </a:stretch>
        </p:blipFill>
        <p:spPr>
          <a:xfrm>
            <a:off x="644652" y="3232404"/>
            <a:ext cx="155448" cy="155448"/>
          </a:xfrm>
          <a:prstGeom prst="rect">
            <a:avLst/>
          </a:prstGeom>
        </p:spPr>
      </p:pic>
      <p:sp>
        <p:nvSpPr>
          <p:cNvPr id="52" name="Text 46"/>
          <p:cNvSpPr txBox="1"/>
          <p:nvPr/>
        </p:nvSpPr>
        <p:spPr>
          <a:xfrm>
            <a:off x="950976" y="3172968"/>
            <a:ext cx="1280160" cy="27432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Logistics</a:t>
            </a:r>
            <a:endParaRPr lang="en-US" sz="1300" dirty="0"/>
          </a:p>
        </p:txBody>
      </p:sp>
      <p:sp>
        <p:nvSpPr>
          <p:cNvPr id="53" name="Status At risk"/>
          <p:cNvSpPr/>
          <p:nvPr/>
        </p:nvSpPr>
        <p:spPr>
          <a:xfrm>
            <a:off x="2194560" y="3200400"/>
            <a:ext cx="777240" cy="219456"/>
          </a:xfrm>
          <a:prstGeom prst="roundRect">
            <a:avLst>
              <a:gd name="adj" fmla="val 45833"/>
            </a:avLst>
          </a:prstGeom>
          <a:solidFill>
            <a:schemeClr val="accent4"/>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54" name="Shape 48"/>
          <p:cNvSpPr/>
          <p:nvPr/>
        </p:nvSpPr>
        <p:spPr>
          <a:xfrm>
            <a:off x="612648" y="3602736"/>
            <a:ext cx="118872" cy="118872"/>
          </a:xfrm>
          <a:prstGeom prst="ellipse">
            <a:avLst/>
          </a:prstGeom>
          <a:solidFill>
            <a:schemeClr val="accent4"/>
          </a:solidFill>
          <a:ln w="12700">
            <a:solidFill>
              <a:schemeClr val="accent4"/>
            </a:solidFill>
            <a:prstDash val="solid"/>
          </a:ln>
        </p:spPr>
      </p:sp>
      <p:sp>
        <p:nvSpPr>
          <p:cNvPr id="55" name="Text 49"/>
          <p:cNvSpPr txBox="1"/>
          <p:nvPr/>
        </p:nvSpPr>
        <p:spPr>
          <a:xfrm>
            <a:off x="822960" y="3566160"/>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Tracking info</a:t>
            </a:r>
            <a:endParaRPr lang="en-US" sz="1100" dirty="0"/>
          </a:p>
        </p:txBody>
      </p:sp>
      <p:sp>
        <p:nvSpPr>
          <p:cNvPr id="56" name="Shape 50"/>
          <p:cNvSpPr/>
          <p:nvPr/>
        </p:nvSpPr>
        <p:spPr>
          <a:xfrm>
            <a:off x="612648" y="3790188"/>
            <a:ext cx="118872" cy="118872"/>
          </a:xfrm>
          <a:prstGeom prst="ellipse">
            <a:avLst/>
          </a:prstGeom>
          <a:solidFill>
            <a:schemeClr val="accent5"/>
          </a:solidFill>
          <a:ln w="12700">
            <a:solidFill>
              <a:schemeClr val="accent5"/>
            </a:solidFill>
            <a:prstDash val="solid"/>
          </a:ln>
        </p:spPr>
      </p:sp>
      <p:sp>
        <p:nvSpPr>
          <p:cNvPr id="57" name="Text 51"/>
          <p:cNvSpPr txBox="1"/>
          <p:nvPr/>
        </p:nvSpPr>
        <p:spPr>
          <a:xfrm>
            <a:off x="822960" y="3753612"/>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On-time delivery</a:t>
            </a:r>
            <a:endParaRPr lang="en-US" sz="1100" dirty="0"/>
          </a:p>
        </p:txBody>
      </p:sp>
      <p:sp>
        <p:nvSpPr>
          <p:cNvPr id="58" name="Shape 52"/>
          <p:cNvSpPr/>
          <p:nvPr/>
        </p:nvSpPr>
        <p:spPr>
          <a:xfrm>
            <a:off x="612648" y="3977640"/>
            <a:ext cx="118872" cy="118872"/>
          </a:xfrm>
          <a:prstGeom prst="ellipse">
            <a:avLst/>
          </a:prstGeom>
          <a:solidFill>
            <a:schemeClr val="accent3"/>
          </a:solidFill>
          <a:ln w="12700">
            <a:solidFill>
              <a:schemeClr val="accent3"/>
            </a:solidFill>
            <a:prstDash val="solid"/>
          </a:ln>
        </p:spPr>
      </p:sp>
      <p:sp>
        <p:nvSpPr>
          <p:cNvPr id="59" name="Text 53"/>
          <p:cNvSpPr txBox="1"/>
          <p:nvPr/>
        </p:nvSpPr>
        <p:spPr>
          <a:xfrm>
            <a:off x="822960" y="3941064"/>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Delivered undamaged</a:t>
            </a:r>
            <a:endParaRPr lang="en-US" sz="1100" dirty="0"/>
          </a:p>
        </p:txBody>
      </p:sp>
      <p:sp>
        <p:nvSpPr>
          <p:cNvPr id="60" name="Customer service"/>
          <p:cNvSpPr/>
          <p:nvPr/>
        </p:nvSpPr>
        <p:spPr>
          <a:xfrm>
            <a:off x="3268980" y="3063240"/>
            <a:ext cx="2606040" cy="1664208"/>
          </a:xfrm>
          <a:prstGeom prst="roundRect">
            <a:avLst>
              <a:gd name="adj" fmla="val 4396"/>
            </a:avLst>
          </a:prstGeom>
          <a:solidFill>
            <a:schemeClr val="bg2"/>
          </a:solidFill>
          <a:ln w="12700">
            <a:solidFill>
              <a:schemeClr val="bg2"/>
            </a:solidFill>
            <a:prstDash val="solid"/>
          </a:ln>
        </p:spPr>
      </p:sp>
      <p:sp>
        <p:nvSpPr>
          <p:cNvPr id="61" name="Shape 55"/>
          <p:cNvSpPr/>
          <p:nvPr/>
        </p:nvSpPr>
        <p:spPr>
          <a:xfrm>
            <a:off x="3378708" y="3154680"/>
            <a:ext cx="310896" cy="310896"/>
          </a:xfrm>
          <a:prstGeom prst="ellipse">
            <a:avLst/>
          </a:prstGeom>
          <a:solidFill>
            <a:schemeClr val="accent1"/>
          </a:solidFill>
          <a:ln w="12700">
            <a:solidFill>
              <a:schemeClr val="accent1"/>
            </a:solidFill>
            <a:prstDash val="solid"/>
          </a:ln>
        </p:spPr>
      </p:sp>
      <p:pic>
        <p:nvPicPr>
          <p:cNvPr id="62" name="Image 4" descr="preencoded.png">    </p:cNvPr>
          <p:cNvPicPr>
            <a:picLocks noChangeAspect="1"/>
          </p:cNvPicPr>
          <p:nvPr/>
        </p:nvPicPr>
        <p:blipFill>
          <a:blip r:embed="rId5"/>
          <a:stretch>
            <a:fillRect/>
          </a:stretch>
        </p:blipFill>
        <p:spPr>
          <a:xfrm>
            <a:off x="3456432" y="3232404"/>
            <a:ext cx="155448" cy="155448"/>
          </a:xfrm>
          <a:prstGeom prst="rect">
            <a:avLst/>
          </a:prstGeom>
        </p:spPr>
      </p:pic>
      <p:sp>
        <p:nvSpPr>
          <p:cNvPr id="63" name="Text 56"/>
          <p:cNvSpPr txBox="1"/>
          <p:nvPr/>
        </p:nvSpPr>
        <p:spPr>
          <a:xfrm>
            <a:off x="3762756" y="3172968"/>
            <a:ext cx="1280160" cy="27432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Customer service</a:t>
            </a:r>
            <a:endParaRPr lang="en-US" sz="1300" dirty="0"/>
          </a:p>
        </p:txBody>
      </p:sp>
      <p:sp>
        <p:nvSpPr>
          <p:cNvPr id="64" name="Status At risk"/>
          <p:cNvSpPr/>
          <p:nvPr/>
        </p:nvSpPr>
        <p:spPr>
          <a:xfrm>
            <a:off x="5006340" y="3200400"/>
            <a:ext cx="777240" cy="219456"/>
          </a:xfrm>
          <a:prstGeom prst="roundRect">
            <a:avLst>
              <a:gd name="adj" fmla="val 45833"/>
            </a:avLst>
          </a:prstGeom>
          <a:solidFill>
            <a:schemeClr val="accent4"/>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65" name="Shape 58"/>
          <p:cNvSpPr/>
          <p:nvPr/>
        </p:nvSpPr>
        <p:spPr>
          <a:xfrm>
            <a:off x="3424428" y="3602736"/>
            <a:ext cx="118872" cy="118872"/>
          </a:xfrm>
          <a:prstGeom prst="ellipse">
            <a:avLst/>
          </a:prstGeom>
          <a:solidFill>
            <a:schemeClr val="accent5"/>
          </a:solidFill>
          <a:ln w="12700">
            <a:solidFill>
              <a:schemeClr val="accent5"/>
            </a:solidFill>
            <a:prstDash val="solid"/>
          </a:ln>
        </p:spPr>
      </p:sp>
      <p:sp>
        <p:nvSpPr>
          <p:cNvPr id="66" name="Text 59"/>
          <p:cNvSpPr txBox="1"/>
          <p:nvPr/>
        </p:nvSpPr>
        <p:spPr>
          <a:xfrm>
            <a:off x="3634740" y="3566160"/>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We ask for SKU numbers</a:t>
            </a:r>
            <a:endParaRPr lang="en-US" sz="1100" dirty="0"/>
          </a:p>
        </p:txBody>
      </p:sp>
      <p:sp>
        <p:nvSpPr>
          <p:cNvPr id="67" name="Shape 60"/>
          <p:cNvSpPr/>
          <p:nvPr/>
        </p:nvSpPr>
        <p:spPr>
          <a:xfrm>
            <a:off x="3424428" y="3790188"/>
            <a:ext cx="118872" cy="118872"/>
          </a:xfrm>
          <a:prstGeom prst="ellipse">
            <a:avLst/>
          </a:prstGeom>
          <a:solidFill>
            <a:schemeClr val="accent3"/>
          </a:solidFill>
          <a:ln w="12700">
            <a:solidFill>
              <a:schemeClr val="accent3"/>
            </a:solidFill>
            <a:prstDash val="solid"/>
          </a:ln>
        </p:spPr>
      </p:sp>
      <p:sp>
        <p:nvSpPr>
          <p:cNvPr id="68" name="Text 61"/>
          <p:cNvSpPr txBox="1"/>
          <p:nvPr/>
        </p:nvSpPr>
        <p:spPr>
          <a:xfrm>
            <a:off x="3634740" y="3753612"/>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We ask for our form</a:t>
            </a:r>
            <a:endParaRPr lang="en-US" sz="1100" dirty="0"/>
          </a:p>
        </p:txBody>
      </p:sp>
      <p:sp>
        <p:nvSpPr>
          <p:cNvPr id="69" name="Shape 62"/>
          <p:cNvSpPr/>
          <p:nvPr/>
        </p:nvSpPr>
        <p:spPr>
          <a:xfrm>
            <a:off x="3424428" y="3977640"/>
            <a:ext cx="118872" cy="118872"/>
          </a:xfrm>
          <a:prstGeom prst="ellipse">
            <a:avLst/>
          </a:prstGeom>
          <a:solidFill>
            <a:schemeClr val="accent5"/>
          </a:solidFill>
          <a:ln w="12700">
            <a:solidFill>
              <a:schemeClr val="accent5"/>
            </a:solidFill>
            <a:prstDash val="solid"/>
          </a:ln>
        </p:spPr>
      </p:sp>
      <p:sp>
        <p:nvSpPr>
          <p:cNvPr id="70" name="Text 63"/>
          <p:cNvSpPr txBox="1"/>
          <p:nvPr/>
        </p:nvSpPr>
        <p:spPr>
          <a:xfrm>
            <a:off x="3634740" y="3941064"/>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Tracking without asking</a:t>
            </a:r>
            <a:endParaRPr lang="en-US" sz="1100" dirty="0"/>
          </a:p>
        </p:txBody>
      </p:sp>
      <p:sp>
        <p:nvSpPr>
          <p:cNvPr id="71" name="Shape 64"/>
          <p:cNvSpPr/>
          <p:nvPr/>
        </p:nvSpPr>
        <p:spPr>
          <a:xfrm>
            <a:off x="3424428" y="4165092"/>
            <a:ext cx="118872" cy="118872"/>
          </a:xfrm>
          <a:prstGeom prst="ellipse">
            <a:avLst/>
          </a:prstGeom>
          <a:solidFill>
            <a:schemeClr val="accent5"/>
          </a:solidFill>
          <a:ln w="12700">
            <a:solidFill>
              <a:schemeClr val="accent5"/>
            </a:solidFill>
            <a:prstDash val="solid"/>
          </a:ln>
        </p:spPr>
      </p:sp>
      <p:sp>
        <p:nvSpPr>
          <p:cNvPr id="72" name="Text 65"/>
          <p:cNvSpPr txBox="1"/>
          <p:nvPr/>
        </p:nvSpPr>
        <p:spPr>
          <a:xfrm>
            <a:off x="3634740" y="4128516"/>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Keeping jobs on schedule</a:t>
            </a:r>
            <a:endParaRPr lang="en-US" sz="1100" dirty="0"/>
          </a:p>
        </p:txBody>
      </p:sp>
      <p:sp>
        <p:nvSpPr>
          <p:cNvPr id="73" name="Shape 66"/>
          <p:cNvSpPr/>
          <p:nvPr/>
        </p:nvSpPr>
        <p:spPr>
          <a:xfrm>
            <a:off x="3424428" y="4352544"/>
            <a:ext cx="118872" cy="118872"/>
          </a:xfrm>
          <a:prstGeom prst="ellipse">
            <a:avLst/>
          </a:prstGeom>
          <a:solidFill>
            <a:schemeClr val="accent3"/>
          </a:solidFill>
          <a:ln w="12700">
            <a:solidFill>
              <a:schemeClr val="accent3"/>
            </a:solidFill>
            <a:prstDash val="solid"/>
          </a:ln>
        </p:spPr>
      </p:sp>
      <p:sp>
        <p:nvSpPr>
          <p:cNvPr id="74" name="Text 67"/>
          <p:cNvSpPr txBox="1"/>
          <p:nvPr/>
        </p:nvSpPr>
        <p:spPr>
          <a:xfrm>
            <a:off x="3634740" y="4315968"/>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Attitude</a:t>
            </a:r>
            <a:endParaRPr lang="en-US" sz="1100" dirty="0"/>
          </a:p>
        </p:txBody>
      </p:sp>
      <p:sp>
        <p:nvSpPr>
          <p:cNvPr id="75" name="Shape 68"/>
          <p:cNvSpPr/>
          <p:nvPr/>
        </p:nvSpPr>
        <p:spPr>
          <a:xfrm>
            <a:off x="3424428" y="4539996"/>
            <a:ext cx="118872" cy="118872"/>
          </a:xfrm>
          <a:prstGeom prst="ellipse">
            <a:avLst/>
          </a:prstGeom>
          <a:solidFill>
            <a:schemeClr val="accent5"/>
          </a:solidFill>
          <a:ln w="12700">
            <a:solidFill>
              <a:schemeClr val="accent5"/>
            </a:solidFill>
            <a:prstDash val="solid"/>
          </a:ln>
        </p:spPr>
      </p:sp>
      <p:sp>
        <p:nvSpPr>
          <p:cNvPr id="76" name="Text 69"/>
          <p:cNvSpPr txBox="1"/>
          <p:nvPr/>
        </p:nvSpPr>
        <p:spPr>
          <a:xfrm>
            <a:off x="3634740" y="4503420"/>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Reps reachable by email</a:t>
            </a:r>
            <a:endParaRPr lang="en-US" sz="1100" dirty="0"/>
          </a:p>
        </p:txBody>
      </p:sp>
      <p:sp>
        <p:nvSpPr>
          <p:cNvPr id="77" name="Warranty"/>
          <p:cNvSpPr/>
          <p:nvPr/>
        </p:nvSpPr>
        <p:spPr>
          <a:xfrm>
            <a:off x="6080760" y="3063240"/>
            <a:ext cx="2606040" cy="1664208"/>
          </a:xfrm>
          <a:prstGeom prst="roundRect">
            <a:avLst>
              <a:gd name="adj" fmla="val 4396"/>
            </a:avLst>
          </a:prstGeom>
          <a:solidFill>
            <a:schemeClr val="bg2"/>
          </a:solidFill>
          <a:ln w="12700">
            <a:solidFill>
              <a:schemeClr val="bg2"/>
            </a:solidFill>
            <a:prstDash val="solid"/>
          </a:ln>
        </p:spPr>
      </p:sp>
      <p:sp>
        <p:nvSpPr>
          <p:cNvPr id="78" name="Shape 71"/>
          <p:cNvSpPr/>
          <p:nvPr/>
        </p:nvSpPr>
        <p:spPr>
          <a:xfrm>
            <a:off x="6190488" y="3154680"/>
            <a:ext cx="310896" cy="310896"/>
          </a:xfrm>
          <a:prstGeom prst="ellipse">
            <a:avLst/>
          </a:prstGeom>
          <a:solidFill>
            <a:schemeClr val="accent1"/>
          </a:solidFill>
          <a:ln w="12700">
            <a:solidFill>
              <a:schemeClr val="accent1"/>
            </a:solidFill>
            <a:prstDash val="solid"/>
          </a:ln>
        </p:spPr>
      </p:sp>
      <p:pic>
        <p:nvPicPr>
          <p:cNvPr id="79" name="Image 5" descr="preencoded.png">    </p:cNvPr>
          <p:cNvPicPr>
            <a:picLocks noChangeAspect="1"/>
          </p:cNvPicPr>
          <p:nvPr/>
        </p:nvPicPr>
        <p:blipFill>
          <a:blip r:embed="rId6"/>
          <a:stretch>
            <a:fillRect/>
          </a:stretch>
        </p:blipFill>
        <p:spPr>
          <a:xfrm>
            <a:off x="6268212" y="3232404"/>
            <a:ext cx="155448" cy="155448"/>
          </a:xfrm>
          <a:prstGeom prst="rect">
            <a:avLst/>
          </a:prstGeom>
        </p:spPr>
      </p:pic>
      <p:sp>
        <p:nvSpPr>
          <p:cNvPr id="80" name="Text 72"/>
          <p:cNvSpPr txBox="1"/>
          <p:nvPr/>
        </p:nvSpPr>
        <p:spPr>
          <a:xfrm>
            <a:off x="6574536" y="3172968"/>
            <a:ext cx="1280160" cy="274320"/>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Warranty</a:t>
            </a:r>
            <a:endParaRPr lang="en-US" sz="1300" dirty="0"/>
          </a:p>
        </p:txBody>
      </p:sp>
      <p:sp>
        <p:nvSpPr>
          <p:cNvPr id="81" name="Status Watch"/>
          <p:cNvSpPr/>
          <p:nvPr/>
        </p:nvSpPr>
        <p:spPr>
          <a:xfrm>
            <a:off x="7818120" y="3200400"/>
            <a:ext cx="777240" cy="219456"/>
          </a:xfrm>
          <a:prstGeom prst="roundRect">
            <a:avLst>
              <a:gd name="adj" fmla="val 45833"/>
            </a:avLst>
          </a:prstGeom>
          <a:solidFill>
            <a:schemeClr val="accent3"/>
          </a:solidFill>
          <a:ln/>
        </p:spPr>
        <p:txBody>
          <a:bodyPr wrap="square" lIns="0" tIns="0" rIns="0" bIns="0" rtlCol="0" anchor="ctr"/>
          <a:lstStyle/>
          <a:p>
            <a:pPr algn="ctr" indent="0" marL="0">
              <a:buNone/>
            </a:pPr>
            <a:r>
              <a:rPr lang="en-US" sz="1000" b="1" dirty="0">
                <a:solidFill>
                  <a:schemeClr val="tx1"/>
                </a:solidFill>
              </a:rPr>
              <a:t>Watch</a:t>
            </a:r>
            <a:endParaRPr lang="en-US" sz="1000" dirty="0"/>
          </a:p>
        </p:txBody>
      </p:sp>
      <p:sp>
        <p:nvSpPr>
          <p:cNvPr id="82" name="Shape 74"/>
          <p:cNvSpPr/>
          <p:nvPr/>
        </p:nvSpPr>
        <p:spPr>
          <a:xfrm>
            <a:off x="6236208" y="3602736"/>
            <a:ext cx="118872" cy="118872"/>
          </a:xfrm>
          <a:prstGeom prst="ellipse">
            <a:avLst/>
          </a:prstGeom>
          <a:solidFill>
            <a:schemeClr val="accent2"/>
          </a:solidFill>
          <a:ln w="12700">
            <a:solidFill>
              <a:schemeClr val="accent2"/>
            </a:solidFill>
            <a:prstDash val="solid"/>
          </a:ln>
        </p:spPr>
      </p:sp>
      <p:sp>
        <p:nvSpPr>
          <p:cNvPr id="83" name="Text 75"/>
          <p:cNvSpPr txBox="1"/>
          <p:nvPr/>
        </p:nvSpPr>
        <p:spPr>
          <a:xfrm>
            <a:off x="6446520" y="3566160"/>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Means something to owners</a:t>
            </a:r>
            <a:endParaRPr lang="en-US" sz="1100" dirty="0"/>
          </a:p>
        </p:txBody>
      </p:sp>
      <p:sp>
        <p:nvSpPr>
          <p:cNvPr id="84" name="Shape 76"/>
          <p:cNvSpPr/>
          <p:nvPr/>
        </p:nvSpPr>
        <p:spPr>
          <a:xfrm>
            <a:off x="6236208" y="3790188"/>
            <a:ext cx="118872" cy="118872"/>
          </a:xfrm>
          <a:prstGeom prst="ellipse">
            <a:avLst/>
          </a:prstGeom>
          <a:solidFill>
            <a:schemeClr val="accent2"/>
          </a:solidFill>
          <a:ln w="12700">
            <a:solidFill>
              <a:schemeClr val="accent2"/>
            </a:solidFill>
            <a:prstDash val="solid"/>
          </a:ln>
        </p:spPr>
      </p:sp>
      <p:sp>
        <p:nvSpPr>
          <p:cNvPr id="85" name="Text 77"/>
          <p:cNvSpPr txBox="1"/>
          <p:nvPr/>
        </p:nvSpPr>
        <p:spPr>
          <a:xfrm>
            <a:off x="6446520" y="3753612"/>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Claim process</a:t>
            </a:r>
            <a:endParaRPr lang="en-US" sz="1100" dirty="0"/>
          </a:p>
        </p:txBody>
      </p:sp>
      <p:sp>
        <p:nvSpPr>
          <p:cNvPr id="86" name="Shape 78"/>
          <p:cNvSpPr/>
          <p:nvPr/>
        </p:nvSpPr>
        <p:spPr>
          <a:xfrm>
            <a:off x="6236208" y="3977640"/>
            <a:ext cx="118872" cy="118872"/>
          </a:xfrm>
          <a:prstGeom prst="ellipse">
            <a:avLst/>
          </a:prstGeom>
          <a:solidFill>
            <a:schemeClr val="accent4"/>
          </a:solidFill>
          <a:ln w="12700">
            <a:solidFill>
              <a:schemeClr val="accent4"/>
            </a:solidFill>
            <a:prstDash val="solid"/>
          </a:ln>
        </p:spPr>
      </p:sp>
      <p:sp>
        <p:nvSpPr>
          <p:cNvPr id="87" name="Text 79"/>
          <p:cNvSpPr txBox="1"/>
          <p:nvPr/>
        </p:nvSpPr>
        <p:spPr>
          <a:xfrm>
            <a:off x="6446520" y="3941064"/>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Easy to process</a:t>
            </a:r>
            <a:endParaRPr lang="en-US" sz="1100" dirty="0"/>
          </a:p>
        </p:txBody>
      </p:sp>
      <p:sp>
        <p:nvSpPr>
          <p:cNvPr id="88" name="Shape 80"/>
          <p:cNvSpPr/>
          <p:nvPr/>
        </p:nvSpPr>
        <p:spPr>
          <a:xfrm>
            <a:off x="6236208" y="4165092"/>
            <a:ext cx="118872" cy="118872"/>
          </a:xfrm>
          <a:prstGeom prst="ellipse">
            <a:avLst/>
          </a:prstGeom>
          <a:solidFill>
            <a:schemeClr val="accent3"/>
          </a:solidFill>
          <a:ln w="12700">
            <a:solidFill>
              <a:schemeClr val="accent3"/>
            </a:solidFill>
            <a:prstDash val="solid"/>
          </a:ln>
        </p:spPr>
      </p:sp>
      <p:sp>
        <p:nvSpPr>
          <p:cNvPr id="89" name="Text 81"/>
          <p:cNvSpPr txBox="1"/>
          <p:nvPr/>
        </p:nvSpPr>
        <p:spPr>
          <a:xfrm>
            <a:off x="6446520" y="4128516"/>
            <a:ext cx="2148840" cy="1828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Flex on standard spec</a:t>
            </a:r>
            <a:endParaRPr lang="en-US" sz="1100" dirty="0"/>
          </a:p>
        </p:txBody>
      </p:sp>
      <p:sp>
        <p:nvSpPr>
          <p:cNvPr id="90" name="Shape 82"/>
          <p:cNvSpPr/>
          <p:nvPr/>
        </p:nvSpPr>
        <p:spPr>
          <a:xfrm>
            <a:off x="3931920" y="4805172"/>
            <a:ext cx="109728" cy="109728"/>
          </a:xfrm>
          <a:prstGeom prst="ellipse">
            <a:avLst/>
          </a:prstGeom>
          <a:solidFill>
            <a:schemeClr val="accent2"/>
          </a:solidFill>
          <a:ln w="12700">
            <a:solidFill>
              <a:schemeClr val="accent2"/>
            </a:solidFill>
            <a:prstDash val="solid"/>
          </a:ln>
        </p:spPr>
      </p:sp>
      <p:sp>
        <p:nvSpPr>
          <p:cNvPr id="91" name="Text 83"/>
          <p:cNvSpPr txBox="1"/>
          <p:nvPr/>
        </p:nvSpPr>
        <p:spPr>
          <a:xfrm>
            <a:off x="4087368" y="4754880"/>
            <a:ext cx="731520" cy="22860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Strength</a:t>
            </a:r>
            <a:endParaRPr lang="en-US" sz="1000" dirty="0"/>
          </a:p>
        </p:txBody>
      </p:sp>
      <p:sp>
        <p:nvSpPr>
          <p:cNvPr id="92" name="Shape 84"/>
          <p:cNvSpPr/>
          <p:nvPr/>
        </p:nvSpPr>
        <p:spPr>
          <a:xfrm>
            <a:off x="4892040" y="4805172"/>
            <a:ext cx="109728" cy="109728"/>
          </a:xfrm>
          <a:prstGeom prst="ellipse">
            <a:avLst/>
          </a:prstGeom>
          <a:solidFill>
            <a:schemeClr val="accent3"/>
          </a:solidFill>
          <a:ln w="12700">
            <a:solidFill>
              <a:schemeClr val="accent3"/>
            </a:solidFill>
            <a:prstDash val="solid"/>
          </a:ln>
        </p:spPr>
      </p:sp>
      <p:sp>
        <p:nvSpPr>
          <p:cNvPr id="93" name="Text 85"/>
          <p:cNvSpPr txBox="1"/>
          <p:nvPr/>
        </p:nvSpPr>
        <p:spPr>
          <a:xfrm>
            <a:off x="5047488" y="4754880"/>
            <a:ext cx="731520" cy="22860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Watch</a:t>
            </a:r>
            <a:endParaRPr lang="en-US" sz="1000" dirty="0"/>
          </a:p>
        </p:txBody>
      </p:sp>
      <p:sp>
        <p:nvSpPr>
          <p:cNvPr id="94" name="Shape 86"/>
          <p:cNvSpPr/>
          <p:nvPr/>
        </p:nvSpPr>
        <p:spPr>
          <a:xfrm>
            <a:off x="5852160" y="4805172"/>
            <a:ext cx="109728" cy="109728"/>
          </a:xfrm>
          <a:prstGeom prst="ellipse">
            <a:avLst/>
          </a:prstGeom>
          <a:solidFill>
            <a:schemeClr val="accent4"/>
          </a:solidFill>
          <a:ln w="12700">
            <a:solidFill>
              <a:schemeClr val="accent4"/>
            </a:solidFill>
            <a:prstDash val="solid"/>
          </a:ln>
        </p:spPr>
      </p:sp>
      <p:sp>
        <p:nvSpPr>
          <p:cNvPr id="95" name="Text 87"/>
          <p:cNvSpPr txBox="1"/>
          <p:nvPr/>
        </p:nvSpPr>
        <p:spPr>
          <a:xfrm>
            <a:off x="6007608" y="4754880"/>
            <a:ext cx="731520" cy="22860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At risk</a:t>
            </a:r>
            <a:endParaRPr lang="en-US" sz="1000" dirty="0"/>
          </a:p>
        </p:txBody>
      </p:sp>
      <p:sp>
        <p:nvSpPr>
          <p:cNvPr id="96" name="Shape 88"/>
          <p:cNvSpPr/>
          <p:nvPr/>
        </p:nvSpPr>
        <p:spPr>
          <a:xfrm>
            <a:off x="6812280" y="4805172"/>
            <a:ext cx="109728" cy="109728"/>
          </a:xfrm>
          <a:prstGeom prst="ellipse">
            <a:avLst/>
          </a:prstGeom>
          <a:solidFill>
            <a:schemeClr val="accent5"/>
          </a:solidFill>
          <a:ln w="12700">
            <a:solidFill>
              <a:schemeClr val="accent5"/>
            </a:solidFill>
            <a:prstDash val="solid"/>
          </a:ln>
        </p:spPr>
      </p:sp>
      <p:sp>
        <p:nvSpPr>
          <p:cNvPr id="97" name="Text 89"/>
          <p:cNvSpPr txBox="1"/>
          <p:nvPr/>
        </p:nvSpPr>
        <p:spPr>
          <a:xfrm>
            <a:off x="6967728" y="4754880"/>
            <a:ext cx="731520" cy="22860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Broken</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 TYPICAL ORDER</a:t>
            </a:r>
            <a:endParaRPr lang="en-US" sz="1100" dirty="0"/>
          </a:p>
        </p:txBody>
      </p:sp>
      <p:sp>
        <p:nvSpPr>
          <p:cNvPr id="3" name="Text 1"/>
          <p:cNvSpPr/>
          <p:nvPr>
            <p:ph idx="102" type="title" hasCustomPrompt="1"/>
          </p:nvPr>
        </p:nvSpPr>
        <p:spPr>
          <a:xfrm>
            <a:off x="457200" y="530352"/>
            <a:ext cx="8229600" cy="548640"/>
          </a:xfrm>
          <a:prstGeom prst="rect">
            <a:avLst/>
          </a:prstGeom>
          <a:noFill/>
          <a:ln/>
        </p:spPr>
        <p:txBody>
          <a:bodyPr wrap="square" lIns="0" tIns="0" rIns="0" bIns="0" rtlCol="0" anchor="t"/>
          <a:lstStyle/>
          <a:p>
            <a:pPr algn="l" indent="0" marL="0">
              <a:buNone/>
            </a:pPr>
            <a:r>
              <a:rPr lang="en-US" sz="3000" b="1" dirty="0">
                <a:solidFill>
                  <a:schemeClr val="tx2"/>
                </a:solidFill>
                <a:latin typeface="Arial" pitchFamily="34" charset="0"/>
                <a:ea typeface="Arial" pitchFamily="34" charset="-122"/>
                <a:cs typeface="Arial" pitchFamily="34" charset="-120"/>
              </a:rPr>
              <a:t>One order, five leaks</a:t>
            </a:r>
            <a:endParaRPr lang="en-US" sz="3000" dirty="0"/>
          </a:p>
        </p:txBody>
      </p:sp>
      <p:sp>
        <p:nvSpPr>
          <p:cNvPr id="4" name="Step 1"/>
          <p:cNvSpPr/>
          <p:nvPr/>
        </p:nvSpPr>
        <p:spPr>
          <a:xfrm>
            <a:off x="457200" y="1325880"/>
            <a:ext cx="1517904" cy="2331720"/>
          </a:xfrm>
          <a:prstGeom prst="roundRect">
            <a:avLst>
              <a:gd name="adj" fmla="val 4819"/>
            </a:avLst>
          </a:prstGeom>
          <a:solidFill>
            <a:schemeClr val="bg2"/>
          </a:solidFill>
          <a:ln w="12700">
            <a:solidFill>
              <a:schemeClr val="bg2"/>
            </a:solidFill>
            <a:prstDash val="solid"/>
          </a:ln>
        </p:spPr>
      </p:sp>
      <p:sp>
        <p:nvSpPr>
          <p:cNvPr id="5" name="Shape 3"/>
          <p:cNvSpPr/>
          <p:nvPr/>
        </p:nvSpPr>
        <p:spPr>
          <a:xfrm>
            <a:off x="594360" y="1463040"/>
            <a:ext cx="384048" cy="384048"/>
          </a:xfrm>
          <a:prstGeom prst="ellipse">
            <a:avLst/>
          </a:prstGeom>
          <a:solidFill>
            <a:schemeClr val="accent5"/>
          </a:solidFill>
          <a:ln w="12700">
            <a:solidFill>
              <a:schemeClr val="accent5"/>
            </a:solidFill>
            <a:prstDash val="solid"/>
          </a:ln>
        </p:spPr>
      </p:sp>
      <p:sp>
        <p:nvSpPr>
          <p:cNvPr id="6" name="Text 4"/>
          <p:cNvSpPr txBox="1"/>
          <p:nvPr/>
        </p:nvSpPr>
        <p:spPr>
          <a:xfrm>
            <a:off x="594360" y="146304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594360" y="1938528"/>
            <a:ext cx="1243584" cy="2743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They order</a:t>
            </a:r>
            <a:endParaRPr lang="en-US" sz="1400" dirty="0"/>
          </a:p>
        </p:txBody>
      </p:sp>
      <p:sp>
        <p:nvSpPr>
          <p:cNvPr id="8" name="Text 6"/>
          <p:cNvSpPr txBox="1"/>
          <p:nvPr/>
        </p:nvSpPr>
        <p:spPr>
          <a:xfrm>
            <a:off x="594360" y="2240280"/>
            <a:ext cx="1243584" cy="457200"/>
          </a:xfrm>
          <a:prstGeom prst="rect">
            <a:avLst/>
          </a:prstGeom>
          <a:noFill/>
          <a:ln/>
        </p:spPr>
        <p:txBody>
          <a:bodyPr wrap="square" lIns="0" tIns="0" rIns="0" bIns="0" rtlCol="0" anchor="t"/>
          <a:lstStyle/>
          <a:p>
            <a:pPr indent="0" marL="0">
              <a:buNone/>
            </a:pPr>
            <a:r>
              <a:rPr lang="en-US" sz="1200" i="1" dirty="0">
                <a:solidFill>
                  <a:schemeClr val="accent6"/>
                </a:solidFill>
                <a:latin typeface="Calibri" pitchFamily="34" charset="0"/>
                <a:ea typeface="Calibri" pitchFamily="34" charset="-122"/>
                <a:cs typeface="Calibri" pitchFamily="34" charset="-120"/>
              </a:rPr>
              <a:t>“24 drums of white silicone.”</a:t>
            </a:r>
            <a:endParaRPr lang="en-US" sz="1200" dirty="0"/>
          </a:p>
        </p:txBody>
      </p:sp>
      <p:sp>
        <p:nvSpPr>
          <p:cNvPr id="9" name="Text 7"/>
          <p:cNvSpPr txBox="1"/>
          <p:nvPr/>
        </p:nvSpPr>
        <p:spPr>
          <a:xfrm>
            <a:off x="594360" y="2715768"/>
            <a:ext cx="1243584" cy="86868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We send a 200-SKU list and ask for the SAP number.</a:t>
            </a:r>
            <a:endParaRPr lang="en-US" sz="1250" dirty="0"/>
          </a:p>
        </p:txBody>
      </p:sp>
      <p:sp>
        <p:nvSpPr>
          <p:cNvPr id="10" name="Step 2"/>
          <p:cNvSpPr/>
          <p:nvPr/>
        </p:nvSpPr>
        <p:spPr>
          <a:xfrm>
            <a:off x="2135124" y="1325880"/>
            <a:ext cx="1517904" cy="2331720"/>
          </a:xfrm>
          <a:prstGeom prst="roundRect">
            <a:avLst>
              <a:gd name="adj" fmla="val 4819"/>
            </a:avLst>
          </a:prstGeom>
          <a:solidFill>
            <a:schemeClr val="bg2"/>
          </a:solidFill>
          <a:ln w="12700">
            <a:solidFill>
              <a:schemeClr val="bg2"/>
            </a:solidFill>
            <a:prstDash val="solid"/>
          </a:ln>
        </p:spPr>
      </p:sp>
      <p:sp>
        <p:nvSpPr>
          <p:cNvPr id="11" name="Shape 9"/>
          <p:cNvSpPr/>
          <p:nvPr/>
        </p:nvSpPr>
        <p:spPr>
          <a:xfrm>
            <a:off x="2272284" y="1463040"/>
            <a:ext cx="384048" cy="384048"/>
          </a:xfrm>
          <a:prstGeom prst="ellipse">
            <a:avLst/>
          </a:prstGeom>
          <a:solidFill>
            <a:schemeClr val="accent5"/>
          </a:solidFill>
          <a:ln w="12700">
            <a:solidFill>
              <a:schemeClr val="accent5"/>
            </a:solidFill>
            <a:prstDash val="solid"/>
          </a:ln>
        </p:spPr>
      </p:sp>
      <p:sp>
        <p:nvSpPr>
          <p:cNvPr id="12" name="Text 10"/>
          <p:cNvSpPr txBox="1"/>
          <p:nvPr/>
        </p:nvSpPr>
        <p:spPr>
          <a:xfrm>
            <a:off x="2272284" y="146304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2272284" y="1938528"/>
            <a:ext cx="1243584" cy="2743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They ask</a:t>
            </a:r>
            <a:endParaRPr lang="en-US" sz="1400" dirty="0"/>
          </a:p>
        </p:txBody>
      </p:sp>
      <p:sp>
        <p:nvSpPr>
          <p:cNvPr id="14" name="Text 12"/>
          <p:cNvSpPr txBox="1"/>
          <p:nvPr/>
        </p:nvSpPr>
        <p:spPr>
          <a:xfrm>
            <a:off x="2272284" y="2240280"/>
            <a:ext cx="1243584" cy="457200"/>
          </a:xfrm>
          <a:prstGeom prst="rect">
            <a:avLst/>
          </a:prstGeom>
          <a:noFill/>
          <a:ln/>
        </p:spPr>
        <p:txBody>
          <a:bodyPr wrap="square" lIns="0" tIns="0" rIns="0" bIns="0" rtlCol="0" anchor="t"/>
          <a:lstStyle/>
          <a:p>
            <a:pPr indent="0" marL="0">
              <a:buNone/>
            </a:pPr>
            <a:r>
              <a:rPr lang="en-US" sz="1200" i="1" dirty="0">
                <a:solidFill>
                  <a:schemeClr val="accent6"/>
                </a:solidFill>
                <a:latin typeface="Calibri" pitchFamily="34" charset="0"/>
                <a:ea typeface="Calibri" pitchFamily="34" charset="-122"/>
                <a:cs typeface="Calibri" pitchFamily="34" charset="-120"/>
              </a:rPr>
              <a:t>A question about the order.</a:t>
            </a:r>
            <a:endParaRPr lang="en-US" sz="1200" dirty="0"/>
          </a:p>
        </p:txBody>
      </p:sp>
      <p:sp>
        <p:nvSpPr>
          <p:cNvPr id="15" name="Text 13"/>
          <p:cNvSpPr txBox="1"/>
          <p:nvPr/>
        </p:nvSpPr>
        <p:spPr>
          <a:xfrm>
            <a:off x="2272284" y="2715768"/>
            <a:ext cx="1243584" cy="86868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The answer takes more than 24 hours.</a:t>
            </a:r>
            <a:endParaRPr lang="en-US" sz="1250" dirty="0"/>
          </a:p>
        </p:txBody>
      </p:sp>
      <p:sp>
        <p:nvSpPr>
          <p:cNvPr id="16" name="Step 3"/>
          <p:cNvSpPr/>
          <p:nvPr/>
        </p:nvSpPr>
        <p:spPr>
          <a:xfrm>
            <a:off x="3813048" y="1325880"/>
            <a:ext cx="1517904" cy="2331720"/>
          </a:xfrm>
          <a:prstGeom prst="roundRect">
            <a:avLst>
              <a:gd name="adj" fmla="val 4819"/>
            </a:avLst>
          </a:prstGeom>
          <a:solidFill>
            <a:schemeClr val="bg2"/>
          </a:solidFill>
          <a:ln w="12700">
            <a:solidFill>
              <a:schemeClr val="bg2"/>
            </a:solidFill>
            <a:prstDash val="solid"/>
          </a:ln>
        </p:spPr>
      </p:sp>
      <p:sp>
        <p:nvSpPr>
          <p:cNvPr id="17" name="Shape 15"/>
          <p:cNvSpPr/>
          <p:nvPr/>
        </p:nvSpPr>
        <p:spPr>
          <a:xfrm>
            <a:off x="3950208" y="1463040"/>
            <a:ext cx="384048" cy="384048"/>
          </a:xfrm>
          <a:prstGeom prst="ellipse">
            <a:avLst/>
          </a:prstGeom>
          <a:solidFill>
            <a:schemeClr val="accent5"/>
          </a:solidFill>
          <a:ln w="12700">
            <a:solidFill>
              <a:schemeClr val="accent5"/>
            </a:solidFill>
            <a:prstDash val="solid"/>
          </a:ln>
        </p:spPr>
      </p:sp>
      <p:sp>
        <p:nvSpPr>
          <p:cNvPr id="18" name="Text 16"/>
          <p:cNvSpPr txBox="1"/>
          <p:nvPr/>
        </p:nvSpPr>
        <p:spPr>
          <a:xfrm>
            <a:off x="3950208" y="146304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3950208" y="1938528"/>
            <a:ext cx="1243584" cy="2743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They need it</a:t>
            </a:r>
            <a:endParaRPr lang="en-US" sz="1400" dirty="0"/>
          </a:p>
        </p:txBody>
      </p:sp>
      <p:sp>
        <p:nvSpPr>
          <p:cNvPr id="20" name="Text 18"/>
          <p:cNvSpPr txBox="1"/>
          <p:nvPr/>
        </p:nvSpPr>
        <p:spPr>
          <a:xfrm>
            <a:off x="3950208" y="2240280"/>
            <a:ext cx="1243584" cy="457200"/>
          </a:xfrm>
          <a:prstGeom prst="rect">
            <a:avLst/>
          </a:prstGeom>
          <a:noFill/>
          <a:ln/>
        </p:spPr>
        <p:txBody>
          <a:bodyPr wrap="square" lIns="0" tIns="0" rIns="0" bIns="0" rtlCol="0" anchor="t"/>
          <a:lstStyle/>
          <a:p>
            <a:pPr indent="0" marL="0">
              <a:buNone/>
            </a:pPr>
            <a:r>
              <a:rPr lang="en-US" sz="1200" i="1" dirty="0">
                <a:solidFill>
                  <a:schemeClr val="accent6"/>
                </a:solidFill>
                <a:latin typeface="Calibri" pitchFamily="34" charset="0"/>
                <a:ea typeface="Calibri" pitchFamily="34" charset="-122"/>
                <a:cs typeface="Calibri" pitchFamily="34" charset="-120"/>
              </a:rPr>
              <a:t>Kingman is out of PG988.</a:t>
            </a:r>
            <a:endParaRPr lang="en-US" sz="1200" dirty="0"/>
          </a:p>
        </p:txBody>
      </p:sp>
      <p:sp>
        <p:nvSpPr>
          <p:cNvPr id="21" name="Text 19"/>
          <p:cNvSpPr txBox="1"/>
          <p:nvPr/>
        </p:nvSpPr>
        <p:spPr>
          <a:xfrm>
            <a:off x="3950208" y="2715768"/>
            <a:ext cx="1243584" cy="86868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Carson has it. Nobody offers to ship from there.</a:t>
            </a:r>
            <a:endParaRPr lang="en-US" sz="1250" dirty="0"/>
          </a:p>
        </p:txBody>
      </p:sp>
      <p:sp>
        <p:nvSpPr>
          <p:cNvPr id="22" name="Step 4"/>
          <p:cNvSpPr/>
          <p:nvPr/>
        </p:nvSpPr>
        <p:spPr>
          <a:xfrm>
            <a:off x="5490972" y="1325880"/>
            <a:ext cx="1517904" cy="2331720"/>
          </a:xfrm>
          <a:prstGeom prst="roundRect">
            <a:avLst>
              <a:gd name="adj" fmla="val 4819"/>
            </a:avLst>
          </a:prstGeom>
          <a:solidFill>
            <a:schemeClr val="bg2"/>
          </a:solidFill>
          <a:ln w="12700">
            <a:solidFill>
              <a:schemeClr val="bg2"/>
            </a:solidFill>
            <a:prstDash val="solid"/>
          </a:ln>
        </p:spPr>
      </p:sp>
      <p:sp>
        <p:nvSpPr>
          <p:cNvPr id="23" name="Shape 21"/>
          <p:cNvSpPr/>
          <p:nvPr/>
        </p:nvSpPr>
        <p:spPr>
          <a:xfrm>
            <a:off x="5628132" y="1463040"/>
            <a:ext cx="384048" cy="384048"/>
          </a:xfrm>
          <a:prstGeom prst="ellipse">
            <a:avLst/>
          </a:prstGeom>
          <a:solidFill>
            <a:schemeClr val="accent5"/>
          </a:solidFill>
          <a:ln w="12700">
            <a:solidFill>
              <a:schemeClr val="accent5"/>
            </a:solidFill>
            <a:prstDash val="solid"/>
          </a:ln>
        </p:spPr>
      </p:sp>
      <p:sp>
        <p:nvSpPr>
          <p:cNvPr id="24" name="Text 22"/>
          <p:cNvSpPr txBox="1"/>
          <p:nvPr/>
        </p:nvSpPr>
        <p:spPr>
          <a:xfrm>
            <a:off x="5628132" y="146304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5" name="Text 23"/>
          <p:cNvSpPr txBox="1"/>
          <p:nvPr/>
        </p:nvSpPr>
        <p:spPr>
          <a:xfrm>
            <a:off x="5628132" y="1938528"/>
            <a:ext cx="1243584" cy="2743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We ship</a:t>
            </a:r>
            <a:endParaRPr lang="en-US" sz="1400" dirty="0"/>
          </a:p>
        </p:txBody>
      </p:sp>
      <p:sp>
        <p:nvSpPr>
          <p:cNvPr id="26" name="Text 24"/>
          <p:cNvSpPr txBox="1"/>
          <p:nvPr/>
        </p:nvSpPr>
        <p:spPr>
          <a:xfrm>
            <a:off x="5628132" y="2240280"/>
            <a:ext cx="1243584" cy="457200"/>
          </a:xfrm>
          <a:prstGeom prst="rect">
            <a:avLst/>
          </a:prstGeom>
          <a:noFill/>
          <a:ln/>
        </p:spPr>
        <p:txBody>
          <a:bodyPr wrap="square" lIns="0" tIns="0" rIns="0" bIns="0" rtlCol="0" anchor="t"/>
          <a:lstStyle/>
          <a:p>
            <a:pPr indent="0" marL="0">
              <a:buNone/>
            </a:pPr>
            <a:r>
              <a:rPr lang="en-US" sz="1200" i="1" dirty="0">
                <a:solidFill>
                  <a:schemeClr val="accent6"/>
                </a:solidFill>
                <a:latin typeface="Calibri" pitchFamily="34" charset="0"/>
                <a:ea typeface="Calibri" pitchFamily="34" charset="-122"/>
                <a:cs typeface="Calibri" pitchFamily="34" charset="-120"/>
              </a:rPr>
              <a:t>Earlier than planned.</a:t>
            </a:r>
            <a:endParaRPr lang="en-US" sz="1200" dirty="0"/>
          </a:p>
        </p:txBody>
      </p:sp>
      <p:sp>
        <p:nvSpPr>
          <p:cNvPr id="27" name="Text 25"/>
          <p:cNvSpPr txBox="1"/>
          <p:nvPr/>
        </p:nvSpPr>
        <p:spPr>
          <a:xfrm>
            <a:off x="5628132" y="2715768"/>
            <a:ext cx="1243584" cy="86868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No call first. No one is on site to receive it.</a:t>
            </a:r>
            <a:endParaRPr lang="en-US" sz="1250" dirty="0"/>
          </a:p>
        </p:txBody>
      </p:sp>
      <p:sp>
        <p:nvSpPr>
          <p:cNvPr id="28" name="Step 5"/>
          <p:cNvSpPr/>
          <p:nvPr/>
        </p:nvSpPr>
        <p:spPr>
          <a:xfrm>
            <a:off x="7168896" y="1325880"/>
            <a:ext cx="1517904" cy="2331720"/>
          </a:xfrm>
          <a:prstGeom prst="roundRect">
            <a:avLst>
              <a:gd name="adj" fmla="val 4819"/>
            </a:avLst>
          </a:prstGeom>
          <a:solidFill>
            <a:schemeClr val="bg2"/>
          </a:solidFill>
          <a:ln w="12700">
            <a:solidFill>
              <a:schemeClr val="bg2"/>
            </a:solidFill>
            <a:prstDash val="solid"/>
          </a:ln>
        </p:spPr>
      </p:sp>
      <p:sp>
        <p:nvSpPr>
          <p:cNvPr id="29" name="Shape 27"/>
          <p:cNvSpPr/>
          <p:nvPr/>
        </p:nvSpPr>
        <p:spPr>
          <a:xfrm>
            <a:off x="7306056" y="1463040"/>
            <a:ext cx="384048" cy="384048"/>
          </a:xfrm>
          <a:prstGeom prst="ellipse">
            <a:avLst/>
          </a:prstGeom>
          <a:solidFill>
            <a:schemeClr val="accent5"/>
          </a:solidFill>
          <a:ln w="12700">
            <a:solidFill>
              <a:schemeClr val="accent5"/>
            </a:solidFill>
            <a:prstDash val="solid"/>
          </a:ln>
        </p:spPr>
      </p:sp>
      <p:sp>
        <p:nvSpPr>
          <p:cNvPr id="30" name="Text 28"/>
          <p:cNvSpPr txBox="1"/>
          <p:nvPr/>
        </p:nvSpPr>
        <p:spPr>
          <a:xfrm>
            <a:off x="7306056" y="146304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31" name="Text 29"/>
          <p:cNvSpPr txBox="1"/>
          <p:nvPr/>
        </p:nvSpPr>
        <p:spPr>
          <a:xfrm>
            <a:off x="7306056" y="1938528"/>
            <a:ext cx="1243584" cy="2743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It lands</a:t>
            </a:r>
            <a:endParaRPr lang="en-US" sz="1400" dirty="0"/>
          </a:p>
        </p:txBody>
      </p:sp>
      <p:sp>
        <p:nvSpPr>
          <p:cNvPr id="32" name="Text 30"/>
          <p:cNvSpPr txBox="1"/>
          <p:nvPr/>
        </p:nvSpPr>
        <p:spPr>
          <a:xfrm>
            <a:off x="7306056" y="2240280"/>
            <a:ext cx="1243584" cy="457200"/>
          </a:xfrm>
          <a:prstGeom prst="rect">
            <a:avLst/>
          </a:prstGeom>
          <a:noFill/>
          <a:ln/>
        </p:spPr>
        <p:txBody>
          <a:bodyPr wrap="square" lIns="0" tIns="0" rIns="0" bIns="0" rtlCol="0" anchor="t"/>
          <a:lstStyle/>
          <a:p>
            <a:pPr indent="0" marL="0">
              <a:buNone/>
            </a:pPr>
            <a:r>
              <a:rPr lang="en-US" sz="1200" i="1" dirty="0">
                <a:solidFill>
                  <a:schemeClr val="accent6"/>
                </a:solidFill>
                <a:latin typeface="Calibri" pitchFamily="34" charset="0"/>
                <a:ea typeface="Calibri" pitchFamily="34" charset="-122"/>
                <a:cs typeface="Calibri" pitchFamily="34" charset="-120"/>
              </a:rPr>
              <a:t>The drums arrive.</a:t>
            </a:r>
            <a:endParaRPr lang="en-US" sz="1200" dirty="0"/>
          </a:p>
        </p:txBody>
      </p:sp>
      <p:sp>
        <p:nvSpPr>
          <p:cNvPr id="33" name="Text 31"/>
          <p:cNvSpPr txBox="1"/>
          <p:nvPr/>
        </p:nvSpPr>
        <p:spPr>
          <a:xfrm>
            <a:off x="7306056" y="2715768"/>
            <a:ext cx="1243584" cy="86868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The primer doesn't, so the job can't start.</a:t>
            </a:r>
            <a:endParaRPr lang="en-US" sz="1250" dirty="0"/>
          </a:p>
        </p:txBody>
      </p:sp>
      <p:sp>
        <p:nvSpPr>
          <p:cNvPr id="34" name="Takeaway"/>
          <p:cNvSpPr/>
          <p:nvPr/>
        </p:nvSpPr>
        <p:spPr>
          <a:xfrm>
            <a:off x="457200" y="3840480"/>
            <a:ext cx="8229600" cy="548640"/>
          </a:xfrm>
          <a:prstGeom prst="roundRect">
            <a:avLst>
              <a:gd name="adj" fmla="val 13333"/>
            </a:avLst>
          </a:prstGeom>
          <a:solidFill>
            <a:schemeClr val="tx2"/>
          </a:solidFill>
          <a:ln w="12700">
            <a:solidFill>
              <a:schemeClr val="tx2"/>
            </a:solidFill>
            <a:prstDash val="solid"/>
          </a:ln>
        </p:spPr>
      </p:sp>
      <p:sp>
        <p:nvSpPr>
          <p:cNvPr id="35" name="Text 33"/>
          <p:cNvSpPr txBox="1"/>
          <p:nvPr/>
        </p:nvSpPr>
        <p:spPr>
          <a:xfrm>
            <a:off x="685800" y="3840480"/>
            <a:ext cx="7772400" cy="548640"/>
          </a:xfrm>
          <a:prstGeom prst="rect">
            <a:avLst/>
          </a:prstGeom>
          <a:noFill/>
          <a:ln/>
        </p:spPr>
        <p:txBody>
          <a:bodyPr wrap="square" lIns="0" tIns="0" rIns="0" bIns="0" rtlCol="0" anchor="ctr"/>
          <a:lstStyle/>
          <a:p>
            <a:pPr indent="0" marL="0">
              <a:buNone/>
            </a:pPr>
            <a:r>
              <a:rPr lang="en-US" sz="1600" b="1" dirty="0">
                <a:solidFill>
                  <a:schemeClr val="bg1"/>
                </a:solidFill>
                <a:latin typeface="Calibri" pitchFamily="34" charset="0"/>
                <a:ea typeface="Calibri" pitchFamily="34" charset="-122"/>
                <a:cs typeface="Calibri" pitchFamily="34" charset="-120"/>
              </a:rPr>
              <a:t>The roofer looks bad in front of the building owner. So do Henry and Carlisle.</a:t>
            </a:r>
            <a:endParaRPr lang="en-US" sz="1600" dirty="0"/>
          </a:p>
        </p:txBody>
      </p:sp>
      <p:sp>
        <p:nvSpPr>
          <p:cNvPr id="36" name="Text 34"/>
          <p:cNvSpPr txBox="1"/>
          <p:nvPr/>
        </p:nvSpPr>
        <p:spPr>
          <a:xfrm>
            <a:off x="457200" y="4453128"/>
            <a:ext cx="5486400" cy="201168"/>
          </a:xfrm>
          <a:prstGeom prst="rect">
            <a:avLst/>
          </a:prstGeom>
          <a:noFill/>
          <a:ln/>
        </p:spPr>
        <p:txBody>
          <a:bodyPr wrap="square" lIns="0" tIns="0" rIns="0" bIns="0" rtlCol="0" anchor="t"/>
          <a:lstStyle/>
          <a:p>
            <a:pPr indent="0" marL="0">
              <a:buNone/>
            </a:pPr>
            <a:r>
              <a:rPr lang="en-US" sz="1000" i="1" dirty="0">
                <a:solidFill>
                  <a:schemeClr val="accent6"/>
                </a:solidFill>
                <a:latin typeface="Calibri" pitchFamily="34" charset="0"/>
                <a:ea typeface="Calibri" pitchFamily="34" charset="-122"/>
                <a:cs typeface="Calibri" pitchFamily="34" charset="-120"/>
              </a:rPr>
              <a:t>Composite example built from real customer feedback.</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LEAK 1 · SERVICE</a:t>
            </a:r>
            <a:endParaRPr lang="en-US" sz="1100" dirty="0"/>
          </a:p>
        </p:txBody>
      </p:sp>
      <p:sp>
        <p:nvSpPr>
          <p:cNvPr id="3" name="Text 1"/>
          <p:cNvSpPr/>
          <p:nvPr>
            <p:ph idx="102" type="title" hasCustomPrompt="1"/>
          </p:nvPr>
        </p:nvSpPr>
        <p:spPr>
          <a:xfrm>
            <a:off x="457200" y="530352"/>
            <a:ext cx="8229600" cy="548640"/>
          </a:xfrm>
          <a:prstGeom prst="rect">
            <a:avLst/>
          </a:prstGeom>
          <a:noFill/>
          <a:ln/>
        </p:spPr>
        <p:txBody>
          <a:bodyPr wrap="square" lIns="0" tIns="0" rIns="0" bIns="0" rtlCol="0" anchor="t"/>
          <a:lstStyle/>
          <a:p>
            <a:pPr algn="l" indent="0" marL="0">
              <a:buNone/>
            </a:pPr>
            <a:r>
              <a:rPr lang="en-US" sz="3000" b="1" dirty="0">
                <a:solidFill>
                  <a:schemeClr val="tx2"/>
                </a:solidFill>
                <a:latin typeface="Arial" pitchFamily="34" charset="0"/>
                <a:ea typeface="Arial" pitchFamily="34" charset="-122"/>
                <a:cs typeface="Arial" pitchFamily="34" charset="-120"/>
              </a:rPr>
              <a:t>Roofers say we're hard to deal with</a:t>
            </a:r>
            <a:endParaRPr lang="en-US" sz="3000" dirty="0"/>
          </a:p>
        </p:txBody>
      </p:sp>
      <p:sp>
        <p:nvSpPr>
          <p:cNvPr id="4" name="Text 2"/>
          <p:cNvSpPr txBox="1"/>
          <p:nvPr/>
        </p:nvSpPr>
        <p:spPr>
          <a:xfrm>
            <a:off x="457200" y="1234440"/>
            <a:ext cx="2240280" cy="22860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THE PROBLEM</a:t>
            </a:r>
            <a:endParaRPr lang="en-US" sz="1000" dirty="0"/>
          </a:p>
        </p:txBody>
      </p:sp>
      <p:sp>
        <p:nvSpPr>
          <p:cNvPr id="5" name="Text 3"/>
          <p:cNvSpPr txBox="1"/>
          <p:nvPr/>
        </p:nvSpPr>
        <p:spPr>
          <a:xfrm>
            <a:off x="2834640" y="1234440"/>
            <a:ext cx="2697480" cy="22860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WHAT ROOFERS SEE</a:t>
            </a:r>
            <a:endParaRPr lang="en-US" sz="1000" dirty="0"/>
          </a:p>
        </p:txBody>
      </p:sp>
      <p:sp>
        <p:nvSpPr>
          <p:cNvPr id="6" name="Text 4"/>
          <p:cNvSpPr txBox="1"/>
          <p:nvPr/>
        </p:nvSpPr>
        <p:spPr>
          <a:xfrm>
            <a:off x="5806440" y="1234440"/>
            <a:ext cx="3017520" cy="22860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THE FIX</a:t>
            </a:r>
            <a:endParaRPr lang="en-US" sz="1000" dirty="0"/>
          </a:p>
        </p:txBody>
      </p:sp>
      <p:sp>
        <p:nvSpPr>
          <p:cNvPr id="7" name="Shape 5"/>
          <p:cNvSpPr/>
          <p:nvPr/>
        </p:nvSpPr>
        <p:spPr>
          <a:xfrm>
            <a:off x="457200" y="1627632"/>
            <a:ext cx="146304" cy="146304"/>
          </a:xfrm>
          <a:prstGeom prst="ellipse">
            <a:avLst/>
          </a:prstGeom>
          <a:solidFill>
            <a:schemeClr val="accent4"/>
          </a:solidFill>
          <a:ln w="12700">
            <a:solidFill>
              <a:schemeClr val="accent4"/>
            </a:solidFill>
            <a:prstDash val="solid"/>
          </a:ln>
        </p:spPr>
      </p:sp>
      <p:sp>
        <p:nvSpPr>
          <p:cNvPr id="8" name="Text 6"/>
          <p:cNvSpPr txBox="1"/>
          <p:nvPr/>
        </p:nvSpPr>
        <p:spPr>
          <a:xfrm>
            <a:off x="713232" y="1536192"/>
            <a:ext cx="1984248" cy="320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Ordering is a chore</a:t>
            </a:r>
            <a:endParaRPr lang="en-US" sz="1500" dirty="0"/>
          </a:p>
        </p:txBody>
      </p:sp>
      <p:sp>
        <p:nvSpPr>
          <p:cNvPr id="9" name="Text 7"/>
          <p:cNvSpPr txBox="1"/>
          <p:nvPr/>
        </p:nvSpPr>
        <p:spPr>
          <a:xfrm>
            <a:off x="2834640" y="1536192"/>
            <a:ext cx="2697480" cy="694944"/>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They ask for “24 drums of white silicone.” We ask for the SAP number.</a:t>
            </a:r>
            <a:endParaRPr lang="en-US" sz="1300" dirty="0"/>
          </a:p>
        </p:txBody>
      </p:sp>
      <p:sp>
        <p:nvSpPr>
          <p:cNvPr id="10" name="Fix"/>
          <p:cNvSpPr/>
          <p:nvPr/>
        </p:nvSpPr>
        <p:spPr>
          <a:xfrm>
            <a:off x="5669280" y="1481328"/>
            <a:ext cx="3017520" cy="713232"/>
          </a:xfrm>
          <a:prstGeom prst="roundRect">
            <a:avLst>
              <a:gd name="adj" fmla="val 10256"/>
            </a:avLst>
          </a:prstGeom>
          <a:solidFill>
            <a:schemeClr val="bg2"/>
          </a:solidFill>
          <a:ln w="12700">
            <a:solidFill>
              <a:schemeClr val="bg2"/>
            </a:solidFill>
            <a:prstDash val="solid"/>
          </a:ln>
        </p:spPr>
      </p:sp>
      <p:sp>
        <p:nvSpPr>
          <p:cNvPr id="11" name="Text 9"/>
          <p:cNvSpPr txBox="1"/>
          <p:nvPr/>
        </p:nvSpPr>
        <p:spPr>
          <a:xfrm>
            <a:off x="5806440" y="1536192"/>
            <a:ext cx="2743200" cy="6400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Take orders as written. If unclear, call. Hold customers to the order acknowledgement. Rely less on sales.</a:t>
            </a:r>
            <a:endParaRPr lang="en-US" sz="1300" dirty="0"/>
          </a:p>
        </p:txBody>
      </p:sp>
      <p:sp>
        <p:nvSpPr>
          <p:cNvPr id="12" name="Shape 10"/>
          <p:cNvSpPr/>
          <p:nvPr/>
        </p:nvSpPr>
        <p:spPr>
          <a:xfrm>
            <a:off x="457200" y="2432304"/>
            <a:ext cx="146304" cy="146304"/>
          </a:xfrm>
          <a:prstGeom prst="ellipse">
            <a:avLst/>
          </a:prstGeom>
          <a:solidFill>
            <a:schemeClr val="accent4"/>
          </a:solidFill>
          <a:ln w="12700">
            <a:solidFill>
              <a:schemeClr val="accent4"/>
            </a:solidFill>
            <a:prstDash val="solid"/>
          </a:ln>
        </p:spPr>
      </p:sp>
      <p:sp>
        <p:nvSpPr>
          <p:cNvPr id="13" name="Text 11"/>
          <p:cNvSpPr txBox="1"/>
          <p:nvPr/>
        </p:nvSpPr>
        <p:spPr>
          <a:xfrm>
            <a:off x="713232" y="2340864"/>
            <a:ext cx="1984248" cy="320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Answers are slow</a:t>
            </a:r>
            <a:endParaRPr lang="en-US" sz="1500" dirty="0"/>
          </a:p>
        </p:txBody>
      </p:sp>
      <p:sp>
        <p:nvSpPr>
          <p:cNvPr id="14" name="Text 12"/>
          <p:cNvSpPr txBox="1"/>
          <p:nvPr/>
        </p:nvSpPr>
        <p:spPr>
          <a:xfrm>
            <a:off x="2834640" y="2340864"/>
            <a:ext cx="2697480" cy="694944"/>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Questions (not orders) can wait more than 24 hours.</a:t>
            </a:r>
            <a:endParaRPr lang="en-US" sz="1300" dirty="0"/>
          </a:p>
        </p:txBody>
      </p:sp>
      <p:sp>
        <p:nvSpPr>
          <p:cNvPr id="15" name="Fix"/>
          <p:cNvSpPr/>
          <p:nvPr/>
        </p:nvSpPr>
        <p:spPr>
          <a:xfrm>
            <a:off x="5669280" y="2286000"/>
            <a:ext cx="3017520" cy="713232"/>
          </a:xfrm>
          <a:prstGeom prst="roundRect">
            <a:avLst>
              <a:gd name="adj" fmla="val 10256"/>
            </a:avLst>
          </a:prstGeom>
          <a:solidFill>
            <a:schemeClr val="bg2"/>
          </a:solidFill>
          <a:ln w="12700">
            <a:solidFill>
              <a:schemeClr val="bg2"/>
            </a:solidFill>
            <a:prstDash val="solid"/>
          </a:ln>
        </p:spPr>
      </p:sp>
      <p:sp>
        <p:nvSpPr>
          <p:cNvPr id="16" name="Text 14"/>
          <p:cNvSpPr txBox="1"/>
          <p:nvPr/>
        </p:nvSpPr>
        <p:spPr>
          <a:xfrm>
            <a:off x="5806440" y="2340864"/>
            <a:ext cx="2743200" cy="6400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Answer every email within 4 hours.</a:t>
            </a:r>
            <a:endParaRPr lang="en-US" sz="1300" dirty="0"/>
          </a:p>
        </p:txBody>
      </p:sp>
      <p:sp>
        <p:nvSpPr>
          <p:cNvPr id="17" name="Shape 15"/>
          <p:cNvSpPr/>
          <p:nvPr/>
        </p:nvSpPr>
        <p:spPr>
          <a:xfrm>
            <a:off x="457200" y="3236976"/>
            <a:ext cx="146304" cy="146304"/>
          </a:xfrm>
          <a:prstGeom prst="ellipse">
            <a:avLst/>
          </a:prstGeom>
          <a:solidFill>
            <a:schemeClr val="accent4"/>
          </a:solidFill>
          <a:ln w="12700">
            <a:solidFill>
              <a:schemeClr val="accent4"/>
            </a:solidFill>
            <a:prstDash val="solid"/>
          </a:ln>
        </p:spPr>
      </p:sp>
      <p:sp>
        <p:nvSpPr>
          <p:cNvPr id="18" name="Text 16"/>
          <p:cNvSpPr txBox="1"/>
          <p:nvPr/>
        </p:nvSpPr>
        <p:spPr>
          <a:xfrm>
            <a:off x="713232" y="3145536"/>
            <a:ext cx="1984248" cy="320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We don't flex</a:t>
            </a:r>
            <a:endParaRPr lang="en-US" sz="1500" dirty="0"/>
          </a:p>
        </p:txBody>
      </p:sp>
      <p:sp>
        <p:nvSpPr>
          <p:cNvPr id="19" name="Text 17"/>
          <p:cNvSpPr txBox="1"/>
          <p:nvPr/>
        </p:nvSpPr>
        <p:spPr>
          <a:xfrm>
            <a:off x="2834640" y="3145536"/>
            <a:ext cx="2697480" cy="694944"/>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Kingman is out of PG988. Carson has it. The roofer still waits.</a:t>
            </a:r>
            <a:endParaRPr lang="en-US" sz="1300" dirty="0"/>
          </a:p>
        </p:txBody>
      </p:sp>
      <p:sp>
        <p:nvSpPr>
          <p:cNvPr id="20" name="Fix"/>
          <p:cNvSpPr/>
          <p:nvPr/>
        </p:nvSpPr>
        <p:spPr>
          <a:xfrm>
            <a:off x="5669280" y="3090672"/>
            <a:ext cx="3017520" cy="713232"/>
          </a:xfrm>
          <a:prstGeom prst="roundRect">
            <a:avLst>
              <a:gd name="adj" fmla="val 10256"/>
            </a:avLst>
          </a:prstGeom>
          <a:solidFill>
            <a:schemeClr val="bg2"/>
          </a:solidFill>
          <a:ln w="12700">
            <a:solidFill>
              <a:schemeClr val="bg2"/>
            </a:solidFill>
            <a:prstDash val="solid"/>
          </a:ln>
        </p:spPr>
      </p:sp>
      <p:sp>
        <p:nvSpPr>
          <p:cNvPr id="21" name="Text 19"/>
          <p:cNvSpPr txBox="1"/>
          <p:nvPr/>
        </p:nvSpPr>
        <p:spPr>
          <a:xfrm>
            <a:off x="5806440" y="3145536"/>
            <a:ext cx="2743200" cy="6400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Let CS see inventory at every plant. Train staff on approved substitutions.</a:t>
            </a:r>
            <a:endParaRPr lang="en-US" sz="1300" dirty="0"/>
          </a:p>
        </p:txBody>
      </p:sp>
      <p:sp>
        <p:nvSpPr>
          <p:cNvPr id="22" name="Text 20"/>
          <p:cNvSpPr txBox="1"/>
          <p:nvPr/>
        </p:nvSpPr>
        <p:spPr>
          <a:xfrm>
            <a:off x="713232" y="3447288"/>
            <a:ext cx="1984248" cy="41148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We won't substitute, ship from another plant, or expedite.</a:t>
            </a:r>
            <a:endParaRPr lang="en-US" sz="1100" dirty="0"/>
          </a:p>
        </p:txBody>
      </p:sp>
      <p:sp>
        <p:nvSpPr>
          <p:cNvPr id="23" name="Takeaway"/>
          <p:cNvSpPr/>
          <p:nvPr/>
        </p:nvSpPr>
        <p:spPr>
          <a:xfrm>
            <a:off x="457200" y="4005072"/>
            <a:ext cx="8229600" cy="548640"/>
          </a:xfrm>
          <a:prstGeom prst="roundRect">
            <a:avLst>
              <a:gd name="adj" fmla="val 13333"/>
            </a:avLst>
          </a:prstGeom>
          <a:solidFill>
            <a:schemeClr val="tx2"/>
          </a:solidFill>
          <a:ln w="12700">
            <a:solidFill>
              <a:schemeClr val="tx2"/>
            </a:solidFill>
            <a:prstDash val="solid"/>
          </a:ln>
        </p:spPr>
      </p:sp>
      <p:sp>
        <p:nvSpPr>
          <p:cNvPr id="24" name="Text 22"/>
          <p:cNvSpPr txBox="1"/>
          <p:nvPr/>
        </p:nvSpPr>
        <p:spPr>
          <a:xfrm>
            <a:off x="685800" y="4005072"/>
            <a:ext cx="7772400" cy="548640"/>
          </a:xfrm>
          <a:prstGeom prst="rect">
            <a:avLst/>
          </a:prstGeom>
          <a:noFill/>
          <a:ln/>
        </p:spPr>
        <p:txBody>
          <a:bodyPr wrap="square" lIns="0" tIns="0" rIns="0" bIns="0" rtlCol="0" anchor="ctr"/>
          <a:lstStyle/>
          <a:p>
            <a:pPr indent="0" marL="0">
              <a:buNone/>
            </a:pPr>
            <a:r>
              <a:rPr lang="en-US" sz="1600" b="1" dirty="0">
                <a:solidFill>
                  <a:schemeClr val="bg1"/>
                </a:solidFill>
                <a:latin typeface="Calibri" pitchFamily="34" charset="0"/>
                <a:ea typeface="Calibri" pitchFamily="34" charset="-122"/>
                <a:cs typeface="Calibri" pitchFamily="34" charset="-120"/>
              </a:rPr>
              <a:t>Behind every fix: hold people accountable for service.</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LEAK 2 · WARRANTY</a:t>
            </a:r>
            <a:endParaRPr lang="en-US" sz="1100" dirty="0"/>
          </a:p>
        </p:txBody>
      </p:sp>
      <p:sp>
        <p:nvSpPr>
          <p:cNvPr id="3" name="Text 1"/>
          <p:cNvSpPr/>
          <p:nvPr>
            <p:ph idx="102" type="title" hasCustomPrompt="1"/>
          </p:nvPr>
        </p:nvSpPr>
        <p:spPr>
          <a:xfrm>
            <a:off x="457200" y="530352"/>
            <a:ext cx="8229600" cy="548640"/>
          </a:xfrm>
          <a:prstGeom prst="rect">
            <a:avLst/>
          </a:prstGeom>
          <a:noFill/>
          <a:ln/>
        </p:spPr>
        <p:txBody>
          <a:bodyPr wrap="square" lIns="0" tIns="0" rIns="0" bIns="0" rtlCol="0" anchor="t"/>
          <a:lstStyle/>
          <a:p>
            <a:pPr algn="l" indent="0" marL="0">
              <a:buNone/>
            </a:pPr>
            <a:r>
              <a:rPr lang="en-US" sz="3000" b="1" dirty="0">
                <a:solidFill>
                  <a:schemeClr val="tx2"/>
                </a:solidFill>
                <a:latin typeface="Arial" pitchFamily="34" charset="0"/>
                <a:ea typeface="Arial" pitchFamily="34" charset="-122"/>
                <a:cs typeface="Arial" pitchFamily="34" charset="-120"/>
              </a:rPr>
              <a:t>Warranties move too slowly</a:t>
            </a:r>
            <a:endParaRPr lang="en-US" sz="3000" dirty="0"/>
          </a:p>
        </p:txBody>
      </p:sp>
      <p:sp>
        <p:nvSpPr>
          <p:cNvPr id="4" name="Sign-offs"/>
          <p:cNvSpPr/>
          <p:nvPr/>
        </p:nvSpPr>
        <p:spPr>
          <a:xfrm>
            <a:off x="457200" y="1280160"/>
            <a:ext cx="3977640" cy="3291840"/>
          </a:xfrm>
          <a:prstGeom prst="roundRect">
            <a:avLst>
              <a:gd name="adj" fmla="val 2222"/>
            </a:avLst>
          </a:prstGeom>
          <a:solidFill>
            <a:schemeClr val="bg2"/>
          </a:solidFill>
          <a:ln w="12700">
            <a:solidFill>
              <a:schemeClr val="bg2"/>
            </a:solidFill>
            <a:prstDash val="solid"/>
          </a:ln>
        </p:spPr>
      </p:sp>
      <p:sp>
        <p:nvSpPr>
          <p:cNvPr id="5" name="Shape 3"/>
          <p:cNvSpPr/>
          <p:nvPr/>
        </p:nvSpPr>
        <p:spPr>
          <a:xfrm>
            <a:off x="685800" y="1463040"/>
            <a:ext cx="384048" cy="384048"/>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781812" y="1559052"/>
            <a:ext cx="192024" cy="192024"/>
          </a:xfrm>
          <a:prstGeom prst="rect">
            <a:avLst/>
          </a:prstGeom>
        </p:spPr>
      </p:pic>
      <p:sp>
        <p:nvSpPr>
          <p:cNvPr id="7" name="Text 4"/>
          <p:cNvSpPr txBox="1"/>
          <p:nvPr/>
        </p:nvSpPr>
        <p:spPr>
          <a:xfrm>
            <a:off x="1188720" y="1463040"/>
            <a:ext cx="1828800" cy="384048"/>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Sign-offs</a:t>
            </a:r>
            <a:endParaRPr lang="en-US" sz="1800" dirty="0"/>
          </a:p>
        </p:txBody>
      </p:sp>
      <p:sp>
        <p:nvSpPr>
          <p:cNvPr id="8" name="Status At risk"/>
          <p:cNvSpPr/>
          <p:nvPr/>
        </p:nvSpPr>
        <p:spPr>
          <a:xfrm>
            <a:off x="3429000" y="1545336"/>
            <a:ext cx="777240" cy="219456"/>
          </a:xfrm>
          <a:prstGeom prst="roundRect">
            <a:avLst>
              <a:gd name="adj" fmla="val 45833"/>
            </a:avLst>
          </a:prstGeom>
          <a:solidFill>
            <a:schemeClr val="accent4"/>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9" name="Text 6"/>
          <p:cNvSpPr txBox="1"/>
          <p:nvPr/>
        </p:nvSpPr>
        <p:spPr>
          <a:xfrm>
            <a:off x="685800" y="2011680"/>
            <a:ext cx="3520440" cy="59436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2 years</a:t>
            </a:r>
            <a:endParaRPr lang="en-US" sz="4000" dirty="0"/>
          </a:p>
        </p:txBody>
      </p:sp>
      <p:sp>
        <p:nvSpPr>
          <p:cNvPr id="10" name="Text 7"/>
          <p:cNvSpPr txBox="1"/>
          <p:nvPr/>
        </p:nvSpPr>
        <p:spPr>
          <a:xfrm>
            <a:off x="685800" y="2606040"/>
            <a:ext cx="3520440" cy="27432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when the roofer is still on the hook for leaks</a:t>
            </a:r>
            <a:endParaRPr lang="en-US" sz="1200" dirty="0"/>
          </a:p>
        </p:txBody>
      </p:sp>
      <p:sp>
        <p:nvSpPr>
          <p:cNvPr id="11" name="Text 8"/>
          <p:cNvSpPr txBox="1"/>
          <p:nvPr/>
        </p:nvSpPr>
        <p:spPr>
          <a:xfrm>
            <a:off x="685800" y="2971800"/>
            <a:ext cx="352044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Some manufacturers sign off without walking the site.</a:t>
            </a:r>
            <a:endParaRPr lang="en-US" sz="1400" dirty="0"/>
          </a:p>
        </p:txBody>
      </p:sp>
      <p:pic>
        <p:nvPicPr>
          <p:cNvPr id="12" name="Image 1" descr="preencoded.png">    </p:cNvPr>
          <p:cNvPicPr>
            <a:picLocks noChangeAspect="1"/>
          </p:cNvPicPr>
          <p:nvPr/>
        </p:nvPicPr>
        <p:blipFill>
          <a:blip r:embed="rId2"/>
          <a:stretch>
            <a:fillRect/>
          </a:stretch>
        </p:blipFill>
        <p:spPr>
          <a:xfrm>
            <a:off x="685800" y="3529584"/>
            <a:ext cx="182880" cy="182880"/>
          </a:xfrm>
          <a:prstGeom prst="rect">
            <a:avLst/>
          </a:prstGeom>
        </p:spPr>
      </p:pic>
      <p:sp>
        <p:nvSpPr>
          <p:cNvPr id="13" name="Text 9"/>
          <p:cNvSpPr txBox="1"/>
          <p:nvPr/>
        </p:nvSpPr>
        <p:spPr>
          <a:xfrm>
            <a:off x="960120" y="3474720"/>
            <a:ext cx="3246120" cy="9601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Sign off ASAP. Walk the roof inside the two-year window. Batch sign-offs 3+ hours from base to cut travel cost.</a:t>
            </a:r>
            <a:endParaRPr lang="en-US" sz="1400" dirty="0"/>
          </a:p>
        </p:txBody>
      </p:sp>
      <p:sp>
        <p:nvSpPr>
          <p:cNvPr id="14" name="Claims"/>
          <p:cNvSpPr/>
          <p:nvPr/>
        </p:nvSpPr>
        <p:spPr>
          <a:xfrm>
            <a:off x="4709160" y="1280160"/>
            <a:ext cx="3977640" cy="3291840"/>
          </a:xfrm>
          <a:prstGeom prst="roundRect">
            <a:avLst>
              <a:gd name="adj" fmla="val 2222"/>
            </a:avLst>
          </a:prstGeom>
          <a:solidFill>
            <a:schemeClr val="bg2"/>
          </a:solidFill>
          <a:ln w="12700">
            <a:solidFill>
              <a:schemeClr val="bg2"/>
            </a:solidFill>
            <a:prstDash val="solid"/>
          </a:ln>
        </p:spPr>
      </p:sp>
      <p:sp>
        <p:nvSpPr>
          <p:cNvPr id="15" name="Shape 11"/>
          <p:cNvSpPr/>
          <p:nvPr/>
        </p:nvSpPr>
        <p:spPr>
          <a:xfrm>
            <a:off x="4937760" y="1463040"/>
            <a:ext cx="384048" cy="384048"/>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5033772" y="1559052"/>
            <a:ext cx="192024" cy="192024"/>
          </a:xfrm>
          <a:prstGeom prst="rect">
            <a:avLst/>
          </a:prstGeom>
        </p:spPr>
      </p:pic>
      <p:sp>
        <p:nvSpPr>
          <p:cNvPr id="17" name="Text 12"/>
          <p:cNvSpPr txBox="1"/>
          <p:nvPr/>
        </p:nvSpPr>
        <p:spPr>
          <a:xfrm>
            <a:off x="5440680" y="1463040"/>
            <a:ext cx="1828800" cy="384048"/>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Claims</a:t>
            </a:r>
            <a:endParaRPr lang="en-US" sz="1800" dirty="0"/>
          </a:p>
        </p:txBody>
      </p:sp>
      <p:sp>
        <p:nvSpPr>
          <p:cNvPr id="18" name="Status Watch"/>
          <p:cNvSpPr/>
          <p:nvPr/>
        </p:nvSpPr>
        <p:spPr>
          <a:xfrm>
            <a:off x="7680960" y="1545336"/>
            <a:ext cx="777240" cy="219456"/>
          </a:xfrm>
          <a:prstGeom prst="roundRect">
            <a:avLst>
              <a:gd name="adj" fmla="val 45833"/>
            </a:avLst>
          </a:prstGeom>
          <a:solidFill>
            <a:schemeClr val="accent3"/>
          </a:solidFill>
          <a:ln/>
        </p:spPr>
        <p:txBody>
          <a:bodyPr wrap="square" lIns="0" tIns="0" rIns="0" bIns="0" rtlCol="0" anchor="ctr"/>
          <a:lstStyle/>
          <a:p>
            <a:pPr algn="ctr" indent="0" marL="0">
              <a:buNone/>
            </a:pPr>
            <a:r>
              <a:rPr lang="en-US" sz="1000" b="1" dirty="0">
                <a:solidFill>
                  <a:schemeClr val="tx1"/>
                </a:solidFill>
              </a:rPr>
              <a:t>Watch</a:t>
            </a:r>
            <a:endParaRPr lang="en-US" sz="1000" dirty="0"/>
          </a:p>
        </p:txBody>
      </p:sp>
      <p:sp>
        <p:nvSpPr>
          <p:cNvPr id="19" name="Text 14"/>
          <p:cNvSpPr txBox="1"/>
          <p:nvPr/>
        </p:nvSpPr>
        <p:spPr>
          <a:xfrm>
            <a:off x="4937760" y="2011680"/>
            <a:ext cx="3520440" cy="59436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24 hours</a:t>
            </a:r>
            <a:endParaRPr lang="en-US" sz="4000" dirty="0"/>
          </a:p>
        </p:txBody>
      </p:sp>
      <p:sp>
        <p:nvSpPr>
          <p:cNvPr id="20" name="Text 15"/>
          <p:cNvSpPr txBox="1"/>
          <p:nvPr/>
        </p:nvSpPr>
        <p:spPr>
          <a:xfrm>
            <a:off x="4937760" y="2606040"/>
            <a:ext cx="3520440" cy="27432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how fast building owners expect action</a:t>
            </a:r>
            <a:endParaRPr lang="en-US" sz="1200" dirty="0"/>
          </a:p>
        </p:txBody>
      </p:sp>
      <p:sp>
        <p:nvSpPr>
          <p:cNvPr id="21" name="Text 16"/>
          <p:cNvSpPr txBox="1"/>
          <p:nvPr/>
        </p:nvSpPr>
        <p:spPr>
          <a:xfrm>
            <a:off x="4937760" y="2971800"/>
            <a:ext cx="352044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Owners expect action within a day.</a:t>
            </a:r>
            <a:endParaRPr lang="en-US" sz="1400" dirty="0"/>
          </a:p>
        </p:txBody>
      </p:sp>
      <p:pic>
        <p:nvPicPr>
          <p:cNvPr id="22" name="Image 3" descr="preencoded.png">    </p:cNvPr>
          <p:cNvPicPr>
            <a:picLocks noChangeAspect="1"/>
          </p:cNvPicPr>
          <p:nvPr/>
        </p:nvPicPr>
        <p:blipFill>
          <a:blip r:embed="rId4"/>
          <a:stretch>
            <a:fillRect/>
          </a:stretch>
        </p:blipFill>
        <p:spPr>
          <a:xfrm>
            <a:off x="4937760" y="3529584"/>
            <a:ext cx="182880" cy="182880"/>
          </a:xfrm>
          <a:prstGeom prst="rect">
            <a:avLst/>
          </a:prstGeom>
        </p:spPr>
      </p:pic>
      <p:sp>
        <p:nvSpPr>
          <p:cNvPr id="23" name="Text 17"/>
          <p:cNvSpPr txBox="1"/>
          <p:nvPr/>
        </p:nvSpPr>
        <p:spPr>
          <a:xfrm>
            <a:off x="5212080" y="3474720"/>
            <a:ext cx="3246120" cy="9601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Acknowledge by email within 4 hours. Visit the site within 4 days.</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LEAK 3 · LOGISTICS</a:t>
            </a:r>
            <a:endParaRPr lang="en-US" sz="1100" dirty="0"/>
          </a:p>
        </p:txBody>
      </p:sp>
      <p:sp>
        <p:nvSpPr>
          <p:cNvPr id="3" name="Text 1"/>
          <p:cNvSpPr/>
          <p:nvPr>
            <p:ph idx="102" type="title" hasCustomPrompt="1"/>
          </p:nvPr>
        </p:nvSpPr>
        <p:spPr>
          <a:xfrm>
            <a:off x="457200" y="530352"/>
            <a:ext cx="8229600" cy="548640"/>
          </a:xfrm>
          <a:prstGeom prst="rect">
            <a:avLst/>
          </a:prstGeom>
          <a:noFill/>
          <a:ln/>
        </p:spPr>
        <p:txBody>
          <a:bodyPr wrap="square" lIns="0" tIns="0" rIns="0" bIns="0" rtlCol="0" anchor="t"/>
          <a:lstStyle/>
          <a:p>
            <a:pPr algn="l" indent="0" marL="0">
              <a:buNone/>
            </a:pPr>
            <a:r>
              <a:rPr lang="en-US" sz="3000" b="1" dirty="0">
                <a:solidFill>
                  <a:schemeClr val="tx2"/>
                </a:solidFill>
                <a:latin typeface="Arial" pitchFamily="34" charset="0"/>
                <a:ea typeface="Arial" pitchFamily="34" charset="-122"/>
                <a:cs typeface="Arial" pitchFamily="34" charset="-120"/>
              </a:rPr>
              <a:t>Roofers say we're unreliable</a:t>
            </a:r>
            <a:endParaRPr lang="en-US" sz="3000" dirty="0"/>
          </a:p>
        </p:txBody>
      </p:sp>
      <p:sp>
        <p:nvSpPr>
          <p:cNvPr id="4" name="Impact"/>
          <p:cNvSpPr/>
          <p:nvPr/>
        </p:nvSpPr>
        <p:spPr>
          <a:xfrm>
            <a:off x="457200" y="1280160"/>
            <a:ext cx="3383280" cy="3291840"/>
          </a:xfrm>
          <a:prstGeom prst="roundRect">
            <a:avLst>
              <a:gd name="adj" fmla="val 2222"/>
            </a:avLst>
          </a:prstGeom>
          <a:solidFill>
            <a:schemeClr val="tx2"/>
          </a:solidFill>
          <a:ln w="12700">
            <a:solidFill>
              <a:schemeClr val="tx2"/>
            </a:solidFill>
            <a:prstDash val="solid"/>
          </a:ln>
        </p:spPr>
      </p:sp>
      <p:pic>
        <p:nvPicPr>
          <p:cNvPr id="5" name="Image 0" descr="preencoded.png">    </p:cNvPr>
          <p:cNvPicPr>
            <a:picLocks noChangeAspect="1"/>
          </p:cNvPicPr>
          <p:nvPr/>
        </p:nvPicPr>
        <p:blipFill>
          <a:blip r:embed="rId1"/>
          <a:stretch>
            <a:fillRect/>
          </a:stretch>
        </p:blipFill>
        <p:spPr>
          <a:xfrm>
            <a:off x="731520" y="1554480"/>
            <a:ext cx="548640" cy="457200"/>
          </a:xfrm>
          <a:prstGeom prst="rect">
            <a:avLst/>
          </a:prstGeom>
        </p:spPr>
      </p:pic>
      <p:sp>
        <p:nvSpPr>
          <p:cNvPr id="6" name="Text 3"/>
          <p:cNvSpPr txBox="1"/>
          <p:nvPr/>
        </p:nvSpPr>
        <p:spPr>
          <a:xfrm>
            <a:off x="731520" y="2194560"/>
            <a:ext cx="2834640" cy="1463040"/>
          </a:xfrm>
          <a:prstGeom prst="rect">
            <a:avLst/>
          </a:prstGeom>
          <a:noFill/>
          <a:ln/>
        </p:spPr>
        <p:txBody>
          <a:bodyPr wrap="square" lIns="0" tIns="0" rIns="0" bIns="0" rtlCol="0" anchor="t"/>
          <a:lstStyle/>
          <a:p>
            <a:pPr indent="0" marL="0">
              <a:buNone/>
            </a:pPr>
            <a:r>
              <a:rPr lang="en-US" sz="2000" b="1" dirty="0">
                <a:solidFill>
                  <a:schemeClr val="bg1"/>
                </a:solidFill>
                <a:latin typeface="Arial" pitchFamily="34" charset="0"/>
                <a:ea typeface="Arial" pitchFamily="34" charset="-122"/>
                <a:cs typeface="Arial" pitchFamily="34" charset="-120"/>
              </a:rPr>
              <a:t>When material shows up unannounced, the roofer looks bad, and so do we.</a:t>
            </a:r>
            <a:endParaRPr lang="en-US" sz="2000" dirty="0"/>
          </a:p>
        </p:txBody>
      </p:sp>
      <p:sp>
        <p:nvSpPr>
          <p:cNvPr id="7" name="Status Broken"/>
          <p:cNvSpPr/>
          <p:nvPr/>
        </p:nvSpPr>
        <p:spPr>
          <a:xfrm>
            <a:off x="731520" y="4023360"/>
            <a:ext cx="822960" cy="219456"/>
          </a:xfrm>
          <a:prstGeom prst="roundRect">
            <a:avLst>
              <a:gd name="adj" fmla="val 45833"/>
            </a:avLst>
          </a:prstGeom>
          <a:solidFill>
            <a:schemeClr val="accent5"/>
          </a:solidFill>
          <a:ln/>
        </p:spPr>
        <p:txBody>
          <a:bodyPr wrap="square" lIns="0" tIns="0" rIns="0" bIns="0" rtlCol="0" anchor="ctr"/>
          <a:lstStyle/>
          <a:p>
            <a:pPr algn="ctr" indent="0" marL="0">
              <a:buNone/>
            </a:pPr>
            <a:r>
              <a:rPr lang="en-US" sz="1000" b="1" dirty="0">
                <a:solidFill>
                  <a:schemeClr val="bg1"/>
                </a:solidFill>
              </a:rPr>
              <a:t>Broken</a:t>
            </a:r>
            <a:endParaRPr lang="en-US" sz="1000" dirty="0"/>
          </a:p>
        </p:txBody>
      </p:sp>
      <p:sp>
        <p:nvSpPr>
          <p:cNvPr id="8" name="Text 5"/>
          <p:cNvSpPr txBox="1"/>
          <p:nvPr/>
        </p:nvSpPr>
        <p:spPr>
          <a:xfrm>
            <a:off x="1691640" y="4023360"/>
            <a:ext cx="1371600" cy="219456"/>
          </a:xfrm>
          <a:prstGeom prst="rect">
            <a:avLst/>
          </a:prstGeom>
          <a:noFill/>
          <a:ln/>
        </p:spPr>
        <p:txBody>
          <a:bodyPr wrap="square" lIns="0" tIns="0" rIns="0" bIns="0" rtlCol="0" anchor="ctr"/>
          <a:lstStyle/>
          <a:p>
            <a:pPr indent="0" marL="0">
              <a:buNone/>
            </a:pPr>
            <a:r>
              <a:rPr lang="en-US" sz="1200" dirty="0">
                <a:solidFill>
                  <a:schemeClr val="bg2"/>
                </a:solidFill>
                <a:latin typeface="Calibri" pitchFamily="34" charset="0"/>
                <a:ea typeface="Calibri" pitchFamily="34" charset="-122"/>
                <a:cs typeface="Calibri" pitchFamily="34" charset="-120"/>
              </a:rPr>
              <a:t>Logistics</a:t>
            </a:r>
            <a:endParaRPr lang="en-US" sz="1200" dirty="0"/>
          </a:p>
        </p:txBody>
      </p:sp>
      <p:sp>
        <p:nvSpPr>
          <p:cNvPr id="9" name="Text 6"/>
          <p:cNvSpPr txBox="1"/>
          <p:nvPr/>
        </p:nvSpPr>
        <p:spPr>
          <a:xfrm>
            <a:off x="4206240" y="1280160"/>
            <a:ext cx="4480560" cy="22860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WHAT HAPPENS</a:t>
            </a:r>
            <a:endParaRPr lang="en-US" sz="1000" dirty="0"/>
          </a:p>
        </p:txBody>
      </p:sp>
      <p:sp>
        <p:nvSpPr>
          <p:cNvPr id="10" name="Shape 7"/>
          <p:cNvSpPr/>
          <p:nvPr/>
        </p:nvSpPr>
        <p:spPr>
          <a:xfrm>
            <a:off x="4206240" y="1627632"/>
            <a:ext cx="137160" cy="137160"/>
          </a:xfrm>
          <a:prstGeom prst="ellipse">
            <a:avLst/>
          </a:prstGeom>
          <a:solidFill>
            <a:schemeClr val="accent5"/>
          </a:solidFill>
          <a:ln w="12700">
            <a:solidFill>
              <a:schemeClr val="accent5"/>
            </a:solidFill>
            <a:prstDash val="solid"/>
          </a:ln>
        </p:spPr>
      </p:sp>
      <p:sp>
        <p:nvSpPr>
          <p:cNvPr id="11" name="Text 8"/>
          <p:cNvSpPr txBox="1"/>
          <p:nvPr/>
        </p:nvSpPr>
        <p:spPr>
          <a:xfrm>
            <a:off x="4480560" y="1572768"/>
            <a:ext cx="4206240" cy="50292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No notice, no tracking. </a:t>
            </a:r>
            <a:pPr indent="0" marL="0">
              <a:buNone/>
            </a:pPr>
            <a:r>
              <a:rPr lang="en-US" sz="1300" dirty="0">
                <a:solidFill>
                  <a:schemeClr val="tx1"/>
                </a:solidFill>
                <a:latin typeface="Calibri" pitchFamily="34" charset="0"/>
                <a:ea typeface="Calibri" pitchFamily="34" charset="-122"/>
                <a:cs typeface="Calibri" pitchFamily="34" charset="-120"/>
              </a:rPr>
              <a:t>Material arrives days or a week early, with no one there to accept it.</a:t>
            </a:r>
            <a:endParaRPr lang="en-US" sz="1300" dirty="0"/>
          </a:p>
        </p:txBody>
      </p:sp>
      <p:sp>
        <p:nvSpPr>
          <p:cNvPr id="12" name="Shape 9"/>
          <p:cNvSpPr/>
          <p:nvPr/>
        </p:nvSpPr>
        <p:spPr>
          <a:xfrm>
            <a:off x="4206240" y="2194560"/>
            <a:ext cx="137160" cy="137160"/>
          </a:xfrm>
          <a:prstGeom prst="ellipse">
            <a:avLst/>
          </a:prstGeom>
          <a:solidFill>
            <a:schemeClr val="accent5"/>
          </a:solidFill>
          <a:ln w="12700">
            <a:solidFill>
              <a:schemeClr val="accent5"/>
            </a:solidFill>
            <a:prstDash val="solid"/>
          </a:ln>
        </p:spPr>
      </p:sp>
      <p:sp>
        <p:nvSpPr>
          <p:cNvPr id="13" name="Text 10"/>
          <p:cNvSpPr txBox="1"/>
          <p:nvPr/>
        </p:nvSpPr>
        <p:spPr>
          <a:xfrm>
            <a:off x="4480560" y="2139696"/>
            <a:ext cx="4206240" cy="50292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We ship on our schedule. </a:t>
            </a:r>
            <a:pPr indent="0" marL="0">
              <a:buNone/>
            </a:pPr>
            <a:r>
              <a:rPr lang="en-US" sz="1300" dirty="0">
                <a:solidFill>
                  <a:schemeClr val="tx1"/>
                </a:solidFill>
                <a:latin typeface="Calibri" pitchFamily="34" charset="0"/>
                <a:ea typeface="Calibri" pitchFamily="34" charset="-122"/>
                <a:cs typeface="Calibri" pitchFamily="34" charset="-120"/>
              </a:rPr>
              <a:t>If we can ship early, we do, without asking the customer.</a:t>
            </a:r>
            <a:endParaRPr lang="en-US" sz="1300" dirty="0"/>
          </a:p>
        </p:txBody>
      </p:sp>
      <p:sp>
        <p:nvSpPr>
          <p:cNvPr id="14" name="Text 11"/>
          <p:cNvSpPr txBox="1"/>
          <p:nvPr/>
        </p:nvSpPr>
        <p:spPr>
          <a:xfrm>
            <a:off x="4206240" y="2788920"/>
            <a:ext cx="4480560" cy="22860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THE FIX</a:t>
            </a:r>
            <a:endParaRPr lang="en-US" sz="1000" dirty="0"/>
          </a:p>
        </p:txBody>
      </p:sp>
      <p:pic>
        <p:nvPicPr>
          <p:cNvPr id="15" name="Image 1" descr="preencoded.png">    </p:cNvPr>
          <p:cNvPicPr>
            <a:picLocks noChangeAspect="1"/>
          </p:cNvPicPr>
          <p:nvPr/>
        </p:nvPicPr>
        <p:blipFill>
          <a:blip r:embed="rId2"/>
          <a:stretch>
            <a:fillRect/>
          </a:stretch>
        </p:blipFill>
        <p:spPr>
          <a:xfrm>
            <a:off x="4206240" y="3118104"/>
            <a:ext cx="164592" cy="164592"/>
          </a:xfrm>
          <a:prstGeom prst="rect">
            <a:avLst/>
          </a:prstGeom>
        </p:spPr>
      </p:pic>
      <p:sp>
        <p:nvSpPr>
          <p:cNvPr id="16" name="Text 12"/>
          <p:cNvSpPr txBox="1"/>
          <p:nvPr/>
        </p:nvSpPr>
        <p:spPr>
          <a:xfrm>
            <a:off x="4480560" y="3081528"/>
            <a:ext cx="4206240" cy="347472"/>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Ask before shipping early.</a:t>
            </a:r>
            <a:endParaRPr lang="en-US" sz="1300" dirty="0"/>
          </a:p>
        </p:txBody>
      </p:sp>
      <p:pic>
        <p:nvPicPr>
          <p:cNvPr id="17" name="Image 2" descr="preencoded.png">    </p:cNvPr>
          <p:cNvPicPr>
            <a:picLocks noChangeAspect="1"/>
          </p:cNvPicPr>
          <p:nvPr/>
        </p:nvPicPr>
        <p:blipFill>
          <a:blip r:embed="rId3"/>
          <a:stretch>
            <a:fillRect/>
          </a:stretch>
        </p:blipFill>
        <p:spPr>
          <a:xfrm>
            <a:off x="4206240" y="3483864"/>
            <a:ext cx="164592" cy="164592"/>
          </a:xfrm>
          <a:prstGeom prst="rect">
            <a:avLst/>
          </a:prstGeom>
        </p:spPr>
      </p:pic>
      <p:sp>
        <p:nvSpPr>
          <p:cNvPr id="18" name="Text 13"/>
          <p:cNvSpPr txBox="1"/>
          <p:nvPr/>
        </p:nvSpPr>
        <p:spPr>
          <a:xfrm>
            <a:off x="4480560" y="3447288"/>
            <a:ext cx="4206240" cy="347472"/>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Put trackers on pallets and share tracking.</a:t>
            </a:r>
            <a:endParaRPr lang="en-US" sz="1300" dirty="0"/>
          </a:p>
        </p:txBody>
      </p:sp>
      <p:pic>
        <p:nvPicPr>
          <p:cNvPr id="19" name="Image 3" descr="preencoded.png">    </p:cNvPr>
          <p:cNvPicPr>
            <a:picLocks noChangeAspect="1"/>
          </p:cNvPicPr>
          <p:nvPr/>
        </p:nvPicPr>
        <p:blipFill>
          <a:blip r:embed="rId4"/>
          <a:stretch>
            <a:fillRect/>
          </a:stretch>
        </p:blipFill>
        <p:spPr>
          <a:xfrm>
            <a:off x="4206240" y="3849624"/>
            <a:ext cx="164592" cy="164592"/>
          </a:xfrm>
          <a:prstGeom prst="rect">
            <a:avLst/>
          </a:prstGeom>
        </p:spPr>
      </p:pic>
      <p:sp>
        <p:nvSpPr>
          <p:cNvPr id="20" name="Text 14"/>
          <p:cNvSpPr txBox="1"/>
          <p:nvPr/>
        </p:nvSpPr>
        <p:spPr>
          <a:xfrm>
            <a:off x="4480560" y="3813048"/>
            <a:ext cx="4206240" cy="347472"/>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CS sends daily updates, without being asked.</a:t>
            </a:r>
            <a:endParaRPr lang="en-US" sz="1300" dirty="0"/>
          </a:p>
        </p:txBody>
      </p:sp>
      <p:pic>
        <p:nvPicPr>
          <p:cNvPr id="21" name="Image 4" descr="preencoded.png">    </p:cNvPr>
          <p:cNvPicPr>
            <a:picLocks noChangeAspect="1"/>
          </p:cNvPicPr>
          <p:nvPr/>
        </p:nvPicPr>
        <p:blipFill>
          <a:blip r:embed="rId5"/>
          <a:stretch>
            <a:fillRect/>
          </a:stretch>
        </p:blipFill>
        <p:spPr>
          <a:xfrm>
            <a:off x="4206240" y="4215384"/>
            <a:ext cx="164592" cy="164592"/>
          </a:xfrm>
          <a:prstGeom prst="rect">
            <a:avLst/>
          </a:prstGeom>
        </p:spPr>
      </p:pic>
      <p:sp>
        <p:nvSpPr>
          <p:cNvPr id="22" name="Text 15"/>
          <p:cNvSpPr txBox="1"/>
          <p:nvPr/>
        </p:nvSpPr>
        <p:spPr>
          <a:xfrm>
            <a:off x="4480560" y="4178808"/>
            <a:ext cx="4206240" cy="347472"/>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Move roofers to distribution, and work out how to honor their price.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LEAK 4 · MATERIAL AND SYSTEMS</a:t>
            </a:r>
            <a:endParaRPr lang="en-US" sz="1100" dirty="0"/>
          </a:p>
        </p:txBody>
      </p:sp>
      <p:sp>
        <p:nvSpPr>
          <p:cNvPr id="3" name="Text 1"/>
          <p:cNvSpPr/>
          <p:nvPr>
            <p:ph idx="102" type="title" hasCustomPrompt="1"/>
          </p:nvPr>
        </p:nvSpPr>
        <p:spPr>
          <a:xfrm>
            <a:off x="457200" y="530352"/>
            <a:ext cx="8229600" cy="548640"/>
          </a:xfrm>
          <a:prstGeom prst="rect">
            <a:avLst/>
          </a:prstGeom>
          <a:noFill/>
          <a:ln/>
        </p:spPr>
        <p:txBody>
          <a:bodyPr wrap="square" lIns="0" tIns="0" rIns="0" bIns="0" rtlCol="0" anchor="t"/>
          <a:lstStyle/>
          <a:p>
            <a:pPr algn="l" indent="0" marL="0">
              <a:buNone/>
            </a:pPr>
            <a:r>
              <a:rPr lang="en-US" sz="3000" b="1" dirty="0">
                <a:solidFill>
                  <a:schemeClr val="tx2"/>
                </a:solidFill>
                <a:latin typeface="Arial" pitchFamily="34" charset="0"/>
                <a:ea typeface="Arial" pitchFamily="34" charset="-122"/>
                <a:cs typeface="Arial" pitchFamily="34" charset="-120"/>
              </a:rPr>
              <a:t>No primer, no job</a:t>
            </a:r>
            <a:endParaRPr lang="en-US" sz="3000" dirty="0"/>
          </a:p>
        </p:txBody>
      </p:sp>
      <p:sp>
        <p:nvSpPr>
          <p:cNvPr id="4" name="Quote"/>
          <p:cNvSpPr/>
          <p:nvPr/>
        </p:nvSpPr>
        <p:spPr>
          <a:xfrm>
            <a:off x="457200" y="1280160"/>
            <a:ext cx="3383280" cy="3291840"/>
          </a:xfrm>
          <a:prstGeom prst="roundRect">
            <a:avLst>
              <a:gd name="adj" fmla="val 2222"/>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731520" y="1554480"/>
            <a:ext cx="502920" cy="457200"/>
          </a:xfrm>
          <a:prstGeom prst="rect">
            <a:avLst/>
          </a:prstGeom>
        </p:spPr>
      </p:pic>
      <p:sp>
        <p:nvSpPr>
          <p:cNvPr id="6" name="Text 3"/>
          <p:cNvSpPr txBox="1"/>
          <p:nvPr/>
        </p:nvSpPr>
        <p:spPr>
          <a:xfrm>
            <a:off x="731520" y="2194560"/>
            <a:ext cx="2834640" cy="1645920"/>
          </a:xfrm>
          <a:prstGeom prst="rect">
            <a:avLst/>
          </a:prstGeom>
          <a:noFill/>
          <a:ln/>
        </p:spPr>
        <p:txBody>
          <a:bodyPr wrap="square" lIns="0" tIns="0" rIns="0" bIns="0" rtlCol="0" anchor="t"/>
          <a:lstStyle/>
          <a:p>
            <a:pPr indent="0" marL="0">
              <a:buNone/>
            </a:pPr>
            <a:r>
              <a:rPr lang="en-US" sz="2000" b="1" dirty="0">
                <a:solidFill>
                  <a:schemeClr val="bg1"/>
                </a:solidFill>
                <a:latin typeface="Arial" pitchFamily="34" charset="0"/>
                <a:ea typeface="Arial" pitchFamily="34" charset="-122"/>
                <a:cs typeface="Arial" pitchFamily="34" charset="-120"/>
              </a:rPr>
              <a:t>We can have trucks of 988. Without the primer, the job can't start.</a:t>
            </a:r>
            <a:endParaRPr lang="en-US" sz="2000" dirty="0"/>
          </a:p>
        </p:txBody>
      </p:sp>
      <p:sp>
        <p:nvSpPr>
          <p:cNvPr id="7" name="Shape 4"/>
          <p:cNvSpPr/>
          <p:nvPr/>
        </p:nvSpPr>
        <p:spPr>
          <a:xfrm>
            <a:off x="4206240" y="1353312"/>
            <a:ext cx="146304" cy="146304"/>
          </a:xfrm>
          <a:prstGeom prst="ellipse">
            <a:avLst/>
          </a:prstGeom>
          <a:solidFill>
            <a:schemeClr val="accent4"/>
          </a:solidFill>
          <a:ln w="12700">
            <a:solidFill>
              <a:schemeClr val="accent4"/>
            </a:solidFill>
            <a:prstDash val="solid"/>
          </a:ln>
        </p:spPr>
      </p:sp>
      <p:sp>
        <p:nvSpPr>
          <p:cNvPr id="8" name="Text 5"/>
          <p:cNvSpPr txBox="1"/>
          <p:nvPr/>
        </p:nvSpPr>
        <p:spPr>
          <a:xfrm>
            <a:off x="4480560" y="1280160"/>
            <a:ext cx="4206240" cy="292608"/>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Not ready to ship in 48 hours</a:t>
            </a:r>
            <a:endParaRPr lang="en-US" sz="1500" dirty="0"/>
          </a:p>
        </p:txBody>
      </p:sp>
      <p:sp>
        <p:nvSpPr>
          <p:cNvPr id="9" name="Text 6"/>
          <p:cNvSpPr txBox="1"/>
          <p:nvPr/>
        </p:nvSpPr>
        <p:spPr>
          <a:xfrm>
            <a:off x="4480560" y="1627632"/>
            <a:ext cx="420624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Not a new problem. Primer, bleed blockers and mastics must be on hand to start a job.</a:t>
            </a:r>
            <a:endParaRPr lang="en-US" sz="1300" dirty="0"/>
          </a:p>
        </p:txBody>
      </p:sp>
      <p:sp>
        <p:nvSpPr>
          <p:cNvPr id="10" name="Fix"/>
          <p:cNvSpPr/>
          <p:nvPr/>
        </p:nvSpPr>
        <p:spPr>
          <a:xfrm>
            <a:off x="4480560" y="2194560"/>
            <a:ext cx="4206240" cy="566928"/>
          </a:xfrm>
          <a:prstGeom prst="roundRect">
            <a:avLst>
              <a:gd name="adj" fmla="val 12903"/>
            </a:avLst>
          </a:prstGeom>
          <a:solidFill>
            <a:schemeClr val="bg2"/>
          </a:solidFill>
          <a:ln w="12700">
            <a:solidFill>
              <a:schemeClr val="bg2"/>
            </a:solidFill>
            <a:prstDash val="solid"/>
          </a:ln>
        </p:spPr>
      </p:sp>
      <p:sp>
        <p:nvSpPr>
          <p:cNvPr id="11" name="Text 8"/>
          <p:cNvSpPr txBox="1"/>
          <p:nvPr/>
        </p:nvSpPr>
        <p:spPr>
          <a:xfrm>
            <a:off x="4617720" y="2194560"/>
            <a:ext cx="3931920" cy="566928"/>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Fix: </a:t>
            </a:r>
            <a:pPr indent="0" marL="0">
              <a:buNone/>
            </a:pPr>
            <a:r>
              <a:rPr lang="en-US" sz="1300" dirty="0">
                <a:solidFill>
                  <a:schemeClr val="tx2"/>
                </a:solidFill>
                <a:latin typeface="Calibri" pitchFamily="34" charset="0"/>
                <a:ea typeface="Calibri" pitchFamily="34" charset="-122"/>
                <a:cs typeface="Calibri" pitchFamily="34" charset="-120"/>
              </a:rPr>
              <a:t>Raise minimums on accessories. Ramp up production ahead of known storms and weather.</a:t>
            </a:r>
            <a:endParaRPr lang="en-US" sz="1300" dirty="0"/>
          </a:p>
        </p:txBody>
      </p:sp>
      <p:sp>
        <p:nvSpPr>
          <p:cNvPr id="12" name="Shape 9"/>
          <p:cNvSpPr/>
          <p:nvPr/>
        </p:nvSpPr>
        <p:spPr>
          <a:xfrm>
            <a:off x="4206240" y="3044952"/>
            <a:ext cx="146304" cy="146304"/>
          </a:xfrm>
          <a:prstGeom prst="ellipse">
            <a:avLst/>
          </a:prstGeom>
          <a:solidFill>
            <a:schemeClr val="accent3"/>
          </a:solidFill>
          <a:ln w="12700">
            <a:solidFill>
              <a:schemeClr val="accent3"/>
            </a:solidFill>
            <a:prstDash val="solid"/>
          </a:ln>
        </p:spPr>
      </p:sp>
      <p:sp>
        <p:nvSpPr>
          <p:cNvPr id="13" name="Text 10"/>
          <p:cNvSpPr txBox="1"/>
          <p:nvPr/>
        </p:nvSpPr>
        <p:spPr>
          <a:xfrm>
            <a:off x="4480560" y="2971800"/>
            <a:ext cx="4206240" cy="292608"/>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Gaps in our systems</a:t>
            </a:r>
            <a:endParaRPr lang="en-US" sz="1500" dirty="0"/>
          </a:p>
        </p:txBody>
      </p:sp>
      <p:sp>
        <p:nvSpPr>
          <p:cNvPr id="14" name="Text 11"/>
          <p:cNvSpPr txBox="1"/>
          <p:nvPr/>
        </p:nvSpPr>
        <p:spPr>
          <a:xfrm>
            <a:off x="4480560" y="3319272"/>
            <a:ext cx="420624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No sprayable seam sealer for silicone systems. No cementitious coating for the Arizona market.</a:t>
            </a:r>
            <a:endParaRPr lang="en-US" sz="1300" dirty="0"/>
          </a:p>
        </p:txBody>
      </p:sp>
      <p:sp>
        <p:nvSpPr>
          <p:cNvPr id="15" name="Fix"/>
          <p:cNvSpPr/>
          <p:nvPr/>
        </p:nvSpPr>
        <p:spPr>
          <a:xfrm>
            <a:off x="4480560" y="3886200"/>
            <a:ext cx="4206240" cy="566928"/>
          </a:xfrm>
          <a:prstGeom prst="roundRect">
            <a:avLst>
              <a:gd name="adj" fmla="val 12903"/>
            </a:avLst>
          </a:prstGeom>
          <a:solidFill>
            <a:schemeClr val="bg2"/>
          </a:solidFill>
          <a:ln w="12700">
            <a:solidFill>
              <a:schemeClr val="bg2"/>
            </a:solidFill>
            <a:prstDash val="solid"/>
          </a:ln>
        </p:spPr>
      </p:sp>
      <p:sp>
        <p:nvSpPr>
          <p:cNvPr id="16" name="Text 13"/>
          <p:cNvSpPr txBox="1"/>
          <p:nvPr/>
        </p:nvSpPr>
        <p:spPr>
          <a:xfrm>
            <a:off x="4617720" y="3886200"/>
            <a:ext cx="3931920" cy="566928"/>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Fix: </a:t>
            </a:r>
            <a:pPr indent="0" marL="0">
              <a:buNone/>
            </a:pPr>
            <a:r>
              <a:rPr lang="en-US" sz="1300" dirty="0">
                <a:solidFill>
                  <a:schemeClr val="tx2"/>
                </a:solidFill>
                <a:latin typeface="Calibri" pitchFamily="34" charset="0"/>
                <a:ea typeface="Calibri" pitchFamily="34" charset="-122"/>
                <a:cs typeface="Calibri" pitchFamily="34" charset="-120"/>
              </a:rPr>
              <a:t>No fix assigned yet.</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LEAK 5 · NATIONAL ACCOUNTS</a:t>
            </a:r>
            <a:endParaRPr lang="en-US" sz="1100" dirty="0"/>
          </a:p>
        </p:txBody>
      </p:sp>
      <p:sp>
        <p:nvSpPr>
          <p:cNvPr id="3" name="Text 1"/>
          <p:cNvSpPr/>
          <p:nvPr>
            <p:ph idx="102" type="title" hasCustomPrompt="1"/>
          </p:nvPr>
        </p:nvSpPr>
        <p:spPr>
          <a:xfrm>
            <a:off x="457200" y="530352"/>
            <a:ext cx="8229600" cy="548640"/>
          </a:xfrm>
          <a:prstGeom prst="rect">
            <a:avLst/>
          </a:prstGeom>
          <a:noFill/>
          <a:ln/>
        </p:spPr>
        <p:txBody>
          <a:bodyPr wrap="square" lIns="0" tIns="0" rIns="0" bIns="0" rtlCol="0" anchor="t"/>
          <a:lstStyle/>
          <a:p>
            <a:pPr algn="l" indent="0" marL="0">
              <a:buNone/>
            </a:pPr>
            <a:r>
              <a:rPr lang="en-US" sz="3000" b="1" dirty="0">
                <a:solidFill>
                  <a:schemeClr val="tx2"/>
                </a:solidFill>
                <a:latin typeface="Arial" pitchFamily="34" charset="0"/>
                <a:ea typeface="Arial" pitchFamily="34" charset="-122"/>
                <a:cs typeface="Arial" pitchFamily="34" charset="-120"/>
              </a:rPr>
              <a:t>We need more leads, not better ones</a:t>
            </a:r>
            <a:endParaRPr lang="en-US" sz="3000" dirty="0"/>
          </a:p>
        </p:txBody>
      </p:sp>
      <p:sp>
        <p:nvSpPr>
          <p:cNvPr id="4" name="Lead volume"/>
          <p:cNvSpPr/>
          <p:nvPr/>
        </p:nvSpPr>
        <p:spPr>
          <a:xfrm>
            <a:off x="457200" y="1280160"/>
            <a:ext cx="3977640" cy="2606040"/>
          </a:xfrm>
          <a:prstGeom prst="roundRect">
            <a:avLst>
              <a:gd name="adj" fmla="val 2807"/>
            </a:avLst>
          </a:prstGeom>
          <a:solidFill>
            <a:schemeClr val="bg2"/>
          </a:solidFill>
          <a:ln w="12700">
            <a:solidFill>
              <a:schemeClr val="bg2"/>
            </a:solidFill>
            <a:prstDash val="solid"/>
          </a:ln>
        </p:spPr>
      </p:sp>
      <p:sp>
        <p:nvSpPr>
          <p:cNvPr id="5" name="Shape 3"/>
          <p:cNvSpPr/>
          <p:nvPr/>
        </p:nvSpPr>
        <p:spPr>
          <a:xfrm>
            <a:off x="685800" y="1463040"/>
            <a:ext cx="384048" cy="384048"/>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781812" y="1559052"/>
            <a:ext cx="192024" cy="192024"/>
          </a:xfrm>
          <a:prstGeom prst="rect">
            <a:avLst/>
          </a:prstGeom>
        </p:spPr>
      </p:pic>
      <p:sp>
        <p:nvSpPr>
          <p:cNvPr id="7" name="Text 4"/>
          <p:cNvSpPr txBox="1"/>
          <p:nvPr/>
        </p:nvSpPr>
        <p:spPr>
          <a:xfrm>
            <a:off x="1188720" y="1463040"/>
            <a:ext cx="2011680" cy="384048"/>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Lead volume</a:t>
            </a:r>
            <a:endParaRPr lang="en-US" sz="1800" dirty="0"/>
          </a:p>
        </p:txBody>
      </p:sp>
      <p:sp>
        <p:nvSpPr>
          <p:cNvPr id="8" name="Status Watch"/>
          <p:cNvSpPr/>
          <p:nvPr/>
        </p:nvSpPr>
        <p:spPr>
          <a:xfrm>
            <a:off x="3429000" y="1545336"/>
            <a:ext cx="777240" cy="219456"/>
          </a:xfrm>
          <a:prstGeom prst="roundRect">
            <a:avLst>
              <a:gd name="adj" fmla="val 45833"/>
            </a:avLst>
          </a:prstGeom>
          <a:solidFill>
            <a:schemeClr val="accent3"/>
          </a:solidFill>
          <a:ln/>
        </p:spPr>
        <p:txBody>
          <a:bodyPr wrap="square" lIns="0" tIns="0" rIns="0" bIns="0" rtlCol="0" anchor="ctr"/>
          <a:lstStyle/>
          <a:p>
            <a:pPr algn="ctr" indent="0" marL="0">
              <a:buNone/>
            </a:pPr>
            <a:r>
              <a:rPr lang="en-US" sz="1000" b="1" dirty="0">
                <a:solidFill>
                  <a:schemeClr val="tx1"/>
                </a:solidFill>
              </a:rPr>
              <a:t>Watch</a:t>
            </a:r>
            <a:endParaRPr lang="en-US" sz="1000" dirty="0"/>
          </a:p>
        </p:txBody>
      </p:sp>
      <p:sp>
        <p:nvSpPr>
          <p:cNvPr id="9" name="Text 6"/>
          <p:cNvSpPr txBox="1"/>
          <p:nvPr/>
        </p:nvSpPr>
        <p:spPr>
          <a:xfrm>
            <a:off x="685800" y="2011680"/>
            <a:ext cx="3520440"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We're one of the better lead providers, but Sherwin-Williams sends more thanks to its paint contracts.</a:t>
            </a:r>
            <a:endParaRPr lang="en-US" sz="1400" dirty="0"/>
          </a:p>
        </p:txBody>
      </p:sp>
      <p:pic>
        <p:nvPicPr>
          <p:cNvPr id="10" name="Image 1" descr="preencoded.png">    </p:cNvPr>
          <p:cNvPicPr>
            <a:picLocks noChangeAspect="1"/>
          </p:cNvPicPr>
          <p:nvPr/>
        </p:nvPicPr>
        <p:blipFill>
          <a:blip r:embed="rId2"/>
          <a:stretch>
            <a:fillRect/>
          </a:stretch>
        </p:blipFill>
        <p:spPr>
          <a:xfrm>
            <a:off x="685800" y="2852928"/>
            <a:ext cx="182880" cy="182880"/>
          </a:xfrm>
          <a:prstGeom prst="rect">
            <a:avLst/>
          </a:prstGeom>
        </p:spPr>
      </p:pic>
      <p:sp>
        <p:nvSpPr>
          <p:cNvPr id="11" name="Text 7"/>
          <p:cNvSpPr txBox="1"/>
          <p:nvPr/>
        </p:nvSpPr>
        <p:spPr>
          <a:xfrm>
            <a:off x="960120" y="2798064"/>
            <a:ext cx="3246120" cy="10058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Work with other Henry divisions. Give the national accounts team time for lead generation, not firefighting and CS work.</a:t>
            </a:r>
            <a:endParaRPr lang="en-US" sz="1400" dirty="0"/>
          </a:p>
        </p:txBody>
      </p:sp>
      <p:sp>
        <p:nvSpPr>
          <p:cNvPr id="12" name="Moisture surveys"/>
          <p:cNvSpPr/>
          <p:nvPr/>
        </p:nvSpPr>
        <p:spPr>
          <a:xfrm>
            <a:off x="4709160" y="1280160"/>
            <a:ext cx="3977640" cy="2606040"/>
          </a:xfrm>
          <a:prstGeom prst="roundRect">
            <a:avLst>
              <a:gd name="adj" fmla="val 2807"/>
            </a:avLst>
          </a:prstGeom>
          <a:solidFill>
            <a:schemeClr val="bg2"/>
          </a:solidFill>
          <a:ln w="12700">
            <a:solidFill>
              <a:schemeClr val="bg2"/>
            </a:solidFill>
            <a:prstDash val="solid"/>
          </a:ln>
        </p:spPr>
      </p:sp>
      <p:sp>
        <p:nvSpPr>
          <p:cNvPr id="13" name="Shape 9"/>
          <p:cNvSpPr/>
          <p:nvPr/>
        </p:nvSpPr>
        <p:spPr>
          <a:xfrm>
            <a:off x="4937760" y="1463040"/>
            <a:ext cx="384048" cy="384048"/>
          </a:xfrm>
          <a:prstGeom prst="ellipse">
            <a:avLst/>
          </a:prstGeom>
          <a:solidFill>
            <a:schemeClr val="accent1"/>
          </a:solidFill>
          <a:ln w="12700">
            <a:solidFill>
              <a:schemeClr val="accent1"/>
            </a:solidFill>
            <a:prstDash val="solid"/>
          </a:ln>
        </p:spPr>
      </p:sp>
      <p:pic>
        <p:nvPicPr>
          <p:cNvPr id="14" name="Image 2" descr="preencoded.png">    </p:cNvPr>
          <p:cNvPicPr>
            <a:picLocks noChangeAspect="1"/>
          </p:cNvPicPr>
          <p:nvPr/>
        </p:nvPicPr>
        <p:blipFill>
          <a:blip r:embed="rId3"/>
          <a:stretch>
            <a:fillRect/>
          </a:stretch>
        </p:blipFill>
        <p:spPr>
          <a:xfrm>
            <a:off x="5033772" y="1559052"/>
            <a:ext cx="192024" cy="192024"/>
          </a:xfrm>
          <a:prstGeom prst="rect">
            <a:avLst/>
          </a:prstGeom>
        </p:spPr>
      </p:pic>
      <p:sp>
        <p:nvSpPr>
          <p:cNvPr id="15" name="Text 10"/>
          <p:cNvSpPr txBox="1"/>
          <p:nvPr/>
        </p:nvSpPr>
        <p:spPr>
          <a:xfrm>
            <a:off x="5440680" y="1463040"/>
            <a:ext cx="2011680" cy="384048"/>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Moisture surveys</a:t>
            </a:r>
            <a:endParaRPr lang="en-US" sz="1800" dirty="0"/>
          </a:p>
        </p:txBody>
      </p:sp>
      <p:sp>
        <p:nvSpPr>
          <p:cNvPr id="16" name="Status Watch"/>
          <p:cNvSpPr/>
          <p:nvPr/>
        </p:nvSpPr>
        <p:spPr>
          <a:xfrm>
            <a:off x="7680960" y="1545336"/>
            <a:ext cx="777240" cy="219456"/>
          </a:xfrm>
          <a:prstGeom prst="roundRect">
            <a:avLst>
              <a:gd name="adj" fmla="val 45833"/>
            </a:avLst>
          </a:prstGeom>
          <a:solidFill>
            <a:schemeClr val="accent3"/>
          </a:solidFill>
          <a:ln/>
        </p:spPr>
        <p:txBody>
          <a:bodyPr wrap="square" lIns="0" tIns="0" rIns="0" bIns="0" rtlCol="0" anchor="ctr"/>
          <a:lstStyle/>
          <a:p>
            <a:pPr algn="ctr" indent="0" marL="0">
              <a:buNone/>
            </a:pPr>
            <a:r>
              <a:rPr lang="en-US" sz="1000" b="1" dirty="0">
                <a:solidFill>
                  <a:schemeClr val="tx1"/>
                </a:solidFill>
              </a:rPr>
              <a:t>Watch</a:t>
            </a:r>
            <a:endParaRPr lang="en-US" sz="1000" dirty="0"/>
          </a:p>
        </p:txBody>
      </p:sp>
      <p:sp>
        <p:nvSpPr>
          <p:cNvPr id="17" name="Text 12"/>
          <p:cNvSpPr txBox="1"/>
          <p:nvPr/>
        </p:nvSpPr>
        <p:spPr>
          <a:xfrm>
            <a:off x="4937760" y="2011680"/>
            <a:ext cx="3520440" cy="7315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Some manufacturers have national agreements that give contractors discounted thermal surveys.</a:t>
            </a:r>
            <a:endParaRPr lang="en-US" sz="1400" dirty="0"/>
          </a:p>
        </p:txBody>
      </p:sp>
      <p:pic>
        <p:nvPicPr>
          <p:cNvPr id="18" name="Image 3" descr="preencoded.png">    </p:cNvPr>
          <p:cNvPicPr>
            <a:picLocks noChangeAspect="1"/>
          </p:cNvPicPr>
          <p:nvPr/>
        </p:nvPicPr>
        <p:blipFill>
          <a:blip r:embed="rId4"/>
          <a:stretch>
            <a:fillRect/>
          </a:stretch>
        </p:blipFill>
        <p:spPr>
          <a:xfrm>
            <a:off x="4937760" y="2852928"/>
            <a:ext cx="182880" cy="182880"/>
          </a:xfrm>
          <a:prstGeom prst="rect">
            <a:avLst/>
          </a:prstGeom>
        </p:spPr>
      </p:pic>
      <p:sp>
        <p:nvSpPr>
          <p:cNvPr id="19" name="Text 13"/>
          <p:cNvSpPr txBox="1"/>
          <p:nvPr/>
        </p:nvSpPr>
        <p:spPr>
          <a:xfrm>
            <a:off x="5212080" y="2798064"/>
            <a:ext cx="3246120" cy="10058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John T Hull.</a:t>
            </a:r>
            <a:endParaRPr lang="en-US" sz="1400" dirty="0"/>
          </a:p>
        </p:txBody>
      </p:sp>
      <p:sp>
        <p:nvSpPr>
          <p:cNvPr id="20" name="Takeaway"/>
          <p:cNvSpPr/>
          <p:nvPr/>
        </p:nvSpPr>
        <p:spPr>
          <a:xfrm>
            <a:off x="457200" y="4023360"/>
            <a:ext cx="8229600" cy="548640"/>
          </a:xfrm>
          <a:prstGeom prst="roundRect">
            <a:avLst>
              <a:gd name="adj" fmla="val 13333"/>
            </a:avLst>
          </a:prstGeom>
          <a:solidFill>
            <a:schemeClr val="tx2"/>
          </a:solidFill>
          <a:ln w="12700">
            <a:solidFill>
              <a:schemeClr val="tx2"/>
            </a:solidFill>
            <a:prstDash val="solid"/>
          </a:ln>
        </p:spPr>
      </p:sp>
      <p:sp>
        <p:nvSpPr>
          <p:cNvPr id="21" name="Text 15"/>
          <p:cNvSpPr txBox="1"/>
          <p:nvPr/>
        </p:nvSpPr>
        <p:spPr>
          <a:xfrm>
            <a:off x="685800" y="4023360"/>
            <a:ext cx="7772400" cy="548640"/>
          </a:xfrm>
          <a:prstGeom prst="rect">
            <a:avLst/>
          </a:prstGeom>
          <a:noFill/>
          <a:ln/>
        </p:spPr>
        <p:txBody>
          <a:bodyPr wrap="square" lIns="0" tIns="0" rIns="0" bIns="0" rtlCol="0" anchor="ctr"/>
          <a:lstStyle/>
          <a:p>
            <a:pPr indent="0" marL="0">
              <a:buNone/>
            </a:pPr>
            <a:r>
              <a:rPr lang="en-US" sz="1600" b="1" dirty="0">
                <a:solidFill>
                  <a:schemeClr val="bg1"/>
                </a:solidFill>
                <a:latin typeface="Calibri" pitchFamily="34" charset="0"/>
                <a:ea typeface="Calibri" pitchFamily="34" charset="-122"/>
                <a:cs typeface="Calibri" pitchFamily="34" charset="-120"/>
              </a:rPr>
              <a:t>Plugging Leak 1 gives the national accounts team its time back.</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WHAT WORKS</a:t>
            </a:r>
            <a:endParaRPr lang="en-US" sz="1100" dirty="0"/>
          </a:p>
        </p:txBody>
      </p:sp>
      <p:sp>
        <p:nvSpPr>
          <p:cNvPr id="3" name="Text 1"/>
          <p:cNvSpPr/>
          <p:nvPr>
            <p:ph idx="102" type="title" hasCustomPrompt="1"/>
          </p:nvPr>
        </p:nvSpPr>
        <p:spPr>
          <a:xfrm>
            <a:off x="457200" y="530352"/>
            <a:ext cx="8229600" cy="548640"/>
          </a:xfrm>
          <a:prstGeom prst="rect">
            <a:avLst/>
          </a:prstGeom>
          <a:noFill/>
          <a:ln/>
        </p:spPr>
        <p:txBody>
          <a:bodyPr wrap="square" lIns="0" tIns="0" rIns="0" bIns="0" rtlCol="0" anchor="t"/>
          <a:lstStyle/>
          <a:p>
            <a:pPr algn="l" indent="0" marL="0">
              <a:buNone/>
            </a:pPr>
            <a:r>
              <a:rPr lang="en-US" sz="3000" b="1" dirty="0">
                <a:solidFill>
                  <a:schemeClr val="tx2"/>
                </a:solidFill>
                <a:latin typeface="Arial" pitchFamily="34" charset="0"/>
                <a:ea typeface="Arial" pitchFamily="34" charset="-122"/>
                <a:cs typeface="Arial" pitchFamily="34" charset="-120"/>
              </a:rPr>
              <a:t>Protect what already works</a:t>
            </a:r>
            <a:endParaRPr lang="en-US" sz="3000" dirty="0"/>
          </a:p>
        </p:txBody>
      </p:sp>
      <p:sp>
        <p:nvSpPr>
          <p:cNvPr id="4" name="Core products"/>
          <p:cNvSpPr/>
          <p:nvPr/>
        </p:nvSpPr>
        <p:spPr>
          <a:xfrm>
            <a:off x="457200" y="1325880"/>
            <a:ext cx="1901952" cy="2697480"/>
          </a:xfrm>
          <a:prstGeom prst="roundRect">
            <a:avLst>
              <a:gd name="adj" fmla="val 3846"/>
            </a:avLst>
          </a:prstGeom>
          <a:solidFill>
            <a:schemeClr val="bg2"/>
          </a:solidFill>
          <a:ln w="12700">
            <a:solidFill>
              <a:schemeClr val="bg2"/>
            </a:solidFill>
            <a:prstDash val="solid"/>
          </a:ln>
        </p:spPr>
      </p:sp>
      <p:sp>
        <p:nvSpPr>
          <p:cNvPr id="5" name="Shape 3"/>
          <p:cNvSpPr/>
          <p:nvPr/>
        </p:nvSpPr>
        <p:spPr>
          <a:xfrm>
            <a:off x="685800" y="1554480"/>
            <a:ext cx="548640" cy="54864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822960" y="1691640"/>
            <a:ext cx="274320" cy="274320"/>
          </a:xfrm>
          <a:prstGeom prst="rect">
            <a:avLst/>
          </a:prstGeom>
        </p:spPr>
      </p:pic>
      <p:sp>
        <p:nvSpPr>
          <p:cNvPr id="7" name="Text 4"/>
          <p:cNvSpPr txBox="1"/>
          <p:nvPr/>
        </p:nvSpPr>
        <p:spPr>
          <a:xfrm>
            <a:off x="685800" y="2286000"/>
            <a:ext cx="1444752" cy="5486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Core products</a:t>
            </a:r>
            <a:endParaRPr lang="en-US" sz="1600" dirty="0"/>
          </a:p>
        </p:txBody>
      </p:sp>
      <p:sp>
        <p:nvSpPr>
          <p:cNvPr id="8" name="Text 5"/>
          <p:cNvSpPr txBox="1"/>
          <p:nvPr/>
        </p:nvSpPr>
        <p:spPr>
          <a:xfrm>
            <a:off x="685800" y="2880360"/>
            <a:ext cx="1490472"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Silicone and SPF lead on quality and price.</a:t>
            </a:r>
            <a:endParaRPr lang="en-US" sz="1300" dirty="0"/>
          </a:p>
        </p:txBody>
      </p:sp>
      <p:sp>
        <p:nvSpPr>
          <p:cNvPr id="9" name="Leads that close"/>
          <p:cNvSpPr/>
          <p:nvPr/>
        </p:nvSpPr>
        <p:spPr>
          <a:xfrm>
            <a:off x="2569464" y="1325880"/>
            <a:ext cx="1901952" cy="2697480"/>
          </a:xfrm>
          <a:prstGeom prst="roundRect">
            <a:avLst>
              <a:gd name="adj" fmla="val 3846"/>
            </a:avLst>
          </a:prstGeom>
          <a:solidFill>
            <a:schemeClr val="bg2"/>
          </a:solidFill>
          <a:ln w="12700">
            <a:solidFill>
              <a:schemeClr val="bg2"/>
            </a:solidFill>
            <a:prstDash val="solid"/>
          </a:ln>
        </p:spPr>
      </p:sp>
      <p:sp>
        <p:nvSpPr>
          <p:cNvPr id="10" name="Shape 7"/>
          <p:cNvSpPr/>
          <p:nvPr/>
        </p:nvSpPr>
        <p:spPr>
          <a:xfrm>
            <a:off x="2798064" y="1554480"/>
            <a:ext cx="548640" cy="548640"/>
          </a:xfrm>
          <a:prstGeom prst="ellipse">
            <a:avLst/>
          </a:prstGeom>
          <a:solidFill>
            <a:schemeClr val="accent2"/>
          </a:solidFill>
          <a:ln w="12700">
            <a:solidFill>
              <a:schemeClr val="accent2"/>
            </a:solidFill>
            <a:prstDash val="solid"/>
          </a:ln>
        </p:spPr>
      </p:sp>
      <p:pic>
        <p:nvPicPr>
          <p:cNvPr id="11" name="Image 1" descr="preencoded.png">    </p:cNvPr>
          <p:cNvPicPr>
            <a:picLocks noChangeAspect="1"/>
          </p:cNvPicPr>
          <p:nvPr/>
        </p:nvPicPr>
        <p:blipFill>
          <a:blip r:embed="rId2"/>
          <a:stretch>
            <a:fillRect/>
          </a:stretch>
        </p:blipFill>
        <p:spPr>
          <a:xfrm>
            <a:off x="2935224" y="1691640"/>
            <a:ext cx="274320" cy="274320"/>
          </a:xfrm>
          <a:prstGeom prst="rect">
            <a:avLst/>
          </a:prstGeom>
        </p:spPr>
      </p:pic>
      <p:sp>
        <p:nvSpPr>
          <p:cNvPr id="12" name="Text 8"/>
          <p:cNvSpPr txBox="1"/>
          <p:nvPr/>
        </p:nvSpPr>
        <p:spPr>
          <a:xfrm>
            <a:off x="2798064" y="2286000"/>
            <a:ext cx="1444752" cy="5486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Leads that close</a:t>
            </a:r>
            <a:endParaRPr lang="en-US" sz="1600" dirty="0"/>
          </a:p>
        </p:txBody>
      </p:sp>
      <p:sp>
        <p:nvSpPr>
          <p:cNvPr id="13" name="Text 9"/>
          <p:cNvSpPr txBox="1"/>
          <p:nvPr/>
        </p:nvSpPr>
        <p:spPr>
          <a:xfrm>
            <a:off x="2798064" y="2880360"/>
            <a:ext cx="1490472"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National account leads close at a high rate. Facebook and website leads often don't.</a:t>
            </a:r>
            <a:endParaRPr lang="en-US" sz="1300" dirty="0"/>
          </a:p>
        </p:txBody>
      </p:sp>
      <p:sp>
        <p:nvSpPr>
          <p:cNvPr id="14" name="Flexible on specs"/>
          <p:cNvSpPr/>
          <p:nvPr/>
        </p:nvSpPr>
        <p:spPr>
          <a:xfrm>
            <a:off x="4681728" y="1325880"/>
            <a:ext cx="1901952" cy="2697480"/>
          </a:xfrm>
          <a:prstGeom prst="roundRect">
            <a:avLst>
              <a:gd name="adj" fmla="val 3846"/>
            </a:avLst>
          </a:prstGeom>
          <a:solidFill>
            <a:schemeClr val="bg2"/>
          </a:solidFill>
          <a:ln w="12700">
            <a:solidFill>
              <a:schemeClr val="bg2"/>
            </a:solidFill>
            <a:prstDash val="solid"/>
          </a:ln>
        </p:spPr>
      </p:sp>
      <p:sp>
        <p:nvSpPr>
          <p:cNvPr id="15" name="Shape 11"/>
          <p:cNvSpPr/>
          <p:nvPr/>
        </p:nvSpPr>
        <p:spPr>
          <a:xfrm>
            <a:off x="4910328" y="1554480"/>
            <a:ext cx="548640" cy="548640"/>
          </a:xfrm>
          <a:prstGeom prst="ellipse">
            <a:avLst/>
          </a:prstGeom>
          <a:solidFill>
            <a:schemeClr val="accent2"/>
          </a:solidFill>
          <a:ln w="12700">
            <a:solidFill>
              <a:schemeClr val="accent2"/>
            </a:solidFill>
            <a:prstDash val="solid"/>
          </a:ln>
        </p:spPr>
      </p:sp>
      <p:pic>
        <p:nvPicPr>
          <p:cNvPr id="16" name="Image 2" descr="preencoded.png">    </p:cNvPr>
          <p:cNvPicPr>
            <a:picLocks noChangeAspect="1"/>
          </p:cNvPicPr>
          <p:nvPr/>
        </p:nvPicPr>
        <p:blipFill>
          <a:blip r:embed="rId3"/>
          <a:stretch>
            <a:fillRect/>
          </a:stretch>
        </p:blipFill>
        <p:spPr>
          <a:xfrm>
            <a:off x="5047488" y="1691640"/>
            <a:ext cx="274320" cy="274320"/>
          </a:xfrm>
          <a:prstGeom prst="rect">
            <a:avLst/>
          </a:prstGeom>
        </p:spPr>
      </p:pic>
      <p:sp>
        <p:nvSpPr>
          <p:cNvPr id="17" name="Text 12"/>
          <p:cNvSpPr txBox="1"/>
          <p:nvPr/>
        </p:nvSpPr>
        <p:spPr>
          <a:xfrm>
            <a:off x="4910328" y="2286000"/>
            <a:ext cx="1444752" cy="5486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Flexible on specs</a:t>
            </a:r>
            <a:endParaRPr lang="en-US" sz="1600" dirty="0"/>
          </a:p>
        </p:txBody>
      </p:sp>
      <p:sp>
        <p:nvSpPr>
          <p:cNvPr id="18" name="Text 13"/>
          <p:cNvSpPr txBox="1"/>
          <p:nvPr/>
        </p:nvSpPr>
        <p:spPr>
          <a:xfrm>
            <a:off x="4910328" y="2880360"/>
            <a:ext cx="1490472"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Many manufacturers require less. We stay willing to flex on scope and specs.</a:t>
            </a:r>
            <a:endParaRPr lang="en-US" sz="1300" dirty="0"/>
          </a:p>
        </p:txBody>
      </p:sp>
      <p:sp>
        <p:nvSpPr>
          <p:cNvPr id="19" name="Few failures"/>
          <p:cNvSpPr/>
          <p:nvPr/>
        </p:nvSpPr>
        <p:spPr>
          <a:xfrm>
            <a:off x="6793992" y="1325880"/>
            <a:ext cx="1901952" cy="2697480"/>
          </a:xfrm>
          <a:prstGeom prst="roundRect">
            <a:avLst>
              <a:gd name="adj" fmla="val 3846"/>
            </a:avLst>
          </a:prstGeom>
          <a:solidFill>
            <a:schemeClr val="bg2"/>
          </a:solidFill>
          <a:ln w="12700">
            <a:solidFill>
              <a:schemeClr val="bg2"/>
            </a:solidFill>
            <a:prstDash val="solid"/>
          </a:ln>
        </p:spPr>
      </p:sp>
      <p:sp>
        <p:nvSpPr>
          <p:cNvPr id="20" name="Shape 15"/>
          <p:cNvSpPr/>
          <p:nvPr/>
        </p:nvSpPr>
        <p:spPr>
          <a:xfrm>
            <a:off x="7022592" y="1554480"/>
            <a:ext cx="548640" cy="548640"/>
          </a:xfrm>
          <a:prstGeom prst="ellipse">
            <a:avLst/>
          </a:prstGeom>
          <a:solidFill>
            <a:schemeClr val="accent2"/>
          </a:solidFill>
          <a:ln w="12700">
            <a:solidFill>
              <a:schemeClr val="accent2"/>
            </a:solidFill>
            <a:prstDash val="solid"/>
          </a:ln>
        </p:spPr>
      </p:sp>
      <p:pic>
        <p:nvPicPr>
          <p:cNvPr id="21" name="Image 3" descr="preencoded.png">    </p:cNvPr>
          <p:cNvPicPr>
            <a:picLocks noChangeAspect="1"/>
          </p:cNvPicPr>
          <p:nvPr/>
        </p:nvPicPr>
        <p:blipFill>
          <a:blip r:embed="rId4"/>
          <a:stretch>
            <a:fillRect/>
          </a:stretch>
        </p:blipFill>
        <p:spPr>
          <a:xfrm>
            <a:off x="7159752" y="1691640"/>
            <a:ext cx="274320" cy="274320"/>
          </a:xfrm>
          <a:prstGeom prst="rect">
            <a:avLst/>
          </a:prstGeom>
        </p:spPr>
      </p:pic>
      <p:sp>
        <p:nvSpPr>
          <p:cNvPr id="22" name="Text 16"/>
          <p:cNvSpPr txBox="1"/>
          <p:nvPr/>
        </p:nvSpPr>
        <p:spPr>
          <a:xfrm>
            <a:off x="7022592" y="2286000"/>
            <a:ext cx="1444752" cy="5486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Few failures</a:t>
            </a:r>
            <a:endParaRPr lang="en-US" sz="1600" dirty="0"/>
          </a:p>
        </p:txBody>
      </p:sp>
      <p:sp>
        <p:nvSpPr>
          <p:cNvPr id="23" name="Text 17"/>
          <p:cNvSpPr txBox="1"/>
          <p:nvPr/>
        </p:nvSpPr>
        <p:spPr>
          <a:xfrm>
            <a:off x="7022592" y="2880360"/>
            <a:ext cx="1490472" cy="13716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One failure kills future work with a building owner. Keep innovating.</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THE FIX</a:t>
            </a:r>
            <a:endParaRPr lang="en-US" sz="1100" dirty="0"/>
          </a:p>
        </p:txBody>
      </p:sp>
      <p:sp>
        <p:nvSpPr>
          <p:cNvPr id="3" name="Text 1"/>
          <p:cNvSpPr/>
          <p:nvPr>
            <p:ph idx="102" type="title" hasCustomPrompt="1"/>
          </p:nvPr>
        </p:nvSpPr>
        <p:spPr>
          <a:xfrm>
            <a:off x="457200" y="530352"/>
            <a:ext cx="8229600" cy="548640"/>
          </a:xfrm>
          <a:prstGeom prst="rect">
            <a:avLst/>
          </a:prstGeom>
          <a:noFill/>
          <a:ln/>
        </p:spPr>
        <p:txBody>
          <a:bodyPr wrap="square" lIns="0" tIns="0" rIns="0" bIns="0" rtlCol="0" anchor="t"/>
          <a:lstStyle/>
          <a:p>
            <a:pPr algn="l" indent="0" marL="0">
              <a:buNone/>
            </a:pPr>
            <a:r>
              <a:rPr lang="en-US" sz="3000" b="1" dirty="0">
                <a:solidFill>
                  <a:schemeClr val="tx2"/>
                </a:solidFill>
                <a:latin typeface="Arial" pitchFamily="34" charset="0"/>
                <a:ea typeface="Arial" pitchFamily="34" charset="-122"/>
                <a:cs typeface="Arial" pitchFamily="34" charset="-120"/>
              </a:rPr>
              <a:t>Four numbers roofers can count on</a:t>
            </a:r>
            <a:endParaRPr lang="en-US" sz="3000" dirty="0"/>
          </a:p>
        </p:txBody>
      </p:sp>
      <p:sp>
        <p:nvSpPr>
          <p:cNvPr id="4" name="Shape 2"/>
          <p:cNvSpPr/>
          <p:nvPr/>
        </p:nvSpPr>
        <p:spPr>
          <a:xfrm>
            <a:off x="457200" y="1371600"/>
            <a:ext cx="502920" cy="50292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582930" y="1497330"/>
            <a:ext cx="251460" cy="251460"/>
          </a:xfrm>
          <a:prstGeom prst="rect">
            <a:avLst/>
          </a:prstGeom>
        </p:spPr>
      </p:pic>
      <p:sp>
        <p:nvSpPr>
          <p:cNvPr id="6" name="Text 3"/>
          <p:cNvSpPr txBox="1"/>
          <p:nvPr/>
        </p:nvSpPr>
        <p:spPr>
          <a:xfrm>
            <a:off x="457200" y="2057400"/>
            <a:ext cx="1901952" cy="685800"/>
          </a:xfrm>
          <a:prstGeom prst="rect">
            <a:avLst/>
          </a:prstGeom>
          <a:noFill/>
          <a:ln/>
        </p:spPr>
        <p:txBody>
          <a:bodyPr wrap="square" lIns="0" tIns="0" rIns="0" bIns="0" rtlCol="0" anchor="t"/>
          <a:lstStyle/>
          <a:p>
            <a:pPr indent="0" marL="0">
              <a:buNone/>
            </a:pPr>
            <a:r>
              <a:rPr lang="en-US" sz="3200" b="1" dirty="0">
                <a:solidFill>
                  <a:schemeClr val="tx2"/>
                </a:solidFill>
                <a:latin typeface="Arial" pitchFamily="34" charset="0"/>
                <a:ea typeface="Arial" pitchFamily="34" charset="-122"/>
                <a:cs typeface="Arial" pitchFamily="34" charset="-120"/>
              </a:rPr>
              <a:t>4 hours</a:t>
            </a:r>
            <a:endParaRPr lang="en-US" sz="3200" dirty="0"/>
          </a:p>
        </p:txBody>
      </p:sp>
      <p:sp>
        <p:nvSpPr>
          <p:cNvPr id="7" name="Text 4"/>
          <p:cNvSpPr txBox="1"/>
          <p:nvPr/>
        </p:nvSpPr>
        <p:spPr>
          <a:xfrm>
            <a:off x="457200" y="2788920"/>
            <a:ext cx="1810512"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to answer every email and acknowledge every warranty claim</a:t>
            </a:r>
            <a:endParaRPr lang="en-US" sz="1400" dirty="0"/>
          </a:p>
        </p:txBody>
      </p:sp>
      <p:sp>
        <p:nvSpPr>
          <p:cNvPr id="8" name="Shape 5"/>
          <p:cNvSpPr/>
          <p:nvPr/>
        </p:nvSpPr>
        <p:spPr>
          <a:xfrm>
            <a:off x="2569464" y="1371600"/>
            <a:ext cx="502920" cy="502920"/>
          </a:xfrm>
          <a:prstGeom prst="ellipse">
            <a:avLst/>
          </a:prstGeom>
          <a:solidFill>
            <a:schemeClr val="accent1"/>
          </a:solidFill>
          <a:ln w="12700">
            <a:solidFill>
              <a:schemeClr val="accent1"/>
            </a:solidFill>
            <a:prstDash val="solid"/>
          </a:ln>
        </p:spPr>
      </p:sp>
      <p:pic>
        <p:nvPicPr>
          <p:cNvPr id="9" name="Image 1" descr="preencoded.png">    </p:cNvPr>
          <p:cNvPicPr>
            <a:picLocks noChangeAspect="1"/>
          </p:cNvPicPr>
          <p:nvPr/>
        </p:nvPicPr>
        <p:blipFill>
          <a:blip r:embed="rId2"/>
          <a:stretch>
            <a:fillRect/>
          </a:stretch>
        </p:blipFill>
        <p:spPr>
          <a:xfrm>
            <a:off x="2695194" y="1497330"/>
            <a:ext cx="251460" cy="251460"/>
          </a:xfrm>
          <a:prstGeom prst="rect">
            <a:avLst/>
          </a:prstGeom>
        </p:spPr>
      </p:pic>
      <p:sp>
        <p:nvSpPr>
          <p:cNvPr id="10" name="Text 6"/>
          <p:cNvSpPr txBox="1"/>
          <p:nvPr/>
        </p:nvSpPr>
        <p:spPr>
          <a:xfrm>
            <a:off x="2569464" y="2057400"/>
            <a:ext cx="1901952" cy="685800"/>
          </a:xfrm>
          <a:prstGeom prst="rect">
            <a:avLst/>
          </a:prstGeom>
          <a:noFill/>
          <a:ln/>
        </p:spPr>
        <p:txBody>
          <a:bodyPr wrap="square" lIns="0" tIns="0" rIns="0" bIns="0" rtlCol="0" anchor="t"/>
          <a:lstStyle/>
          <a:p>
            <a:pPr indent="0" marL="0">
              <a:buNone/>
            </a:pPr>
            <a:r>
              <a:rPr lang="en-US" sz="3200" b="1" dirty="0">
                <a:solidFill>
                  <a:schemeClr val="tx2"/>
                </a:solidFill>
                <a:latin typeface="Arial" pitchFamily="34" charset="0"/>
                <a:ea typeface="Arial" pitchFamily="34" charset="-122"/>
                <a:cs typeface="Arial" pitchFamily="34" charset="-120"/>
              </a:rPr>
              <a:t>4 days</a:t>
            </a:r>
            <a:endParaRPr lang="en-US" sz="3200" dirty="0"/>
          </a:p>
        </p:txBody>
      </p:sp>
      <p:sp>
        <p:nvSpPr>
          <p:cNvPr id="11" name="Text 7"/>
          <p:cNvSpPr txBox="1"/>
          <p:nvPr/>
        </p:nvSpPr>
        <p:spPr>
          <a:xfrm>
            <a:off x="2569464" y="2788920"/>
            <a:ext cx="1810512"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to visit the site on a warranty claim</a:t>
            </a:r>
            <a:endParaRPr lang="en-US" sz="1400" dirty="0"/>
          </a:p>
        </p:txBody>
      </p:sp>
      <p:sp>
        <p:nvSpPr>
          <p:cNvPr id="12" name="Shape 8"/>
          <p:cNvSpPr/>
          <p:nvPr/>
        </p:nvSpPr>
        <p:spPr>
          <a:xfrm>
            <a:off x="4681728" y="1371600"/>
            <a:ext cx="502920" cy="502920"/>
          </a:xfrm>
          <a:prstGeom prst="ellipse">
            <a:avLst/>
          </a:prstGeom>
          <a:solidFill>
            <a:schemeClr val="accent1"/>
          </a:solidFill>
          <a:ln w="12700">
            <a:solidFill>
              <a:schemeClr val="accent1"/>
            </a:solidFill>
            <a:prstDash val="solid"/>
          </a:ln>
        </p:spPr>
      </p:sp>
      <p:pic>
        <p:nvPicPr>
          <p:cNvPr id="13" name="Image 2" descr="preencoded.png">    </p:cNvPr>
          <p:cNvPicPr>
            <a:picLocks noChangeAspect="1"/>
          </p:cNvPicPr>
          <p:nvPr/>
        </p:nvPicPr>
        <p:blipFill>
          <a:blip r:embed="rId3"/>
          <a:stretch>
            <a:fillRect/>
          </a:stretch>
        </p:blipFill>
        <p:spPr>
          <a:xfrm>
            <a:off x="4807458" y="1497330"/>
            <a:ext cx="251460" cy="251460"/>
          </a:xfrm>
          <a:prstGeom prst="rect">
            <a:avLst/>
          </a:prstGeom>
        </p:spPr>
      </p:pic>
      <p:sp>
        <p:nvSpPr>
          <p:cNvPr id="14" name="Text 9"/>
          <p:cNvSpPr txBox="1"/>
          <p:nvPr/>
        </p:nvSpPr>
        <p:spPr>
          <a:xfrm>
            <a:off x="4681728" y="2057400"/>
            <a:ext cx="1901952" cy="685800"/>
          </a:xfrm>
          <a:prstGeom prst="rect">
            <a:avLst/>
          </a:prstGeom>
          <a:noFill/>
          <a:ln/>
        </p:spPr>
        <p:txBody>
          <a:bodyPr wrap="square" lIns="0" tIns="0" rIns="0" bIns="0" rtlCol="0" anchor="t"/>
          <a:lstStyle/>
          <a:p>
            <a:pPr indent="0" marL="0">
              <a:buNone/>
            </a:pPr>
            <a:r>
              <a:rPr lang="en-US" sz="3200" b="1" dirty="0">
                <a:solidFill>
                  <a:schemeClr val="tx2"/>
                </a:solidFill>
                <a:latin typeface="Arial" pitchFamily="34" charset="0"/>
                <a:ea typeface="Arial" pitchFamily="34" charset="-122"/>
                <a:cs typeface="Arial" pitchFamily="34" charset="-120"/>
              </a:rPr>
              <a:t>48 hours</a:t>
            </a:r>
            <a:endParaRPr lang="en-US" sz="3200" dirty="0"/>
          </a:p>
        </p:txBody>
      </p:sp>
      <p:sp>
        <p:nvSpPr>
          <p:cNvPr id="15" name="Text 10"/>
          <p:cNvSpPr txBox="1"/>
          <p:nvPr/>
        </p:nvSpPr>
        <p:spPr>
          <a:xfrm>
            <a:off x="4681728" y="2788920"/>
            <a:ext cx="1810512"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to have material ready to ship, accessories included</a:t>
            </a:r>
            <a:endParaRPr lang="en-US" sz="1400" dirty="0"/>
          </a:p>
        </p:txBody>
      </p:sp>
      <p:sp>
        <p:nvSpPr>
          <p:cNvPr id="16" name="Shape 11"/>
          <p:cNvSpPr/>
          <p:nvPr/>
        </p:nvSpPr>
        <p:spPr>
          <a:xfrm>
            <a:off x="6793992" y="1371600"/>
            <a:ext cx="502920" cy="502920"/>
          </a:xfrm>
          <a:prstGeom prst="ellipse">
            <a:avLst/>
          </a:prstGeom>
          <a:solidFill>
            <a:schemeClr val="accent1"/>
          </a:solidFill>
          <a:ln w="12700">
            <a:solidFill>
              <a:schemeClr val="accent1"/>
            </a:solidFill>
            <a:prstDash val="solid"/>
          </a:ln>
        </p:spPr>
      </p:sp>
      <p:pic>
        <p:nvPicPr>
          <p:cNvPr id="17" name="Image 3" descr="preencoded.png">    </p:cNvPr>
          <p:cNvPicPr>
            <a:picLocks noChangeAspect="1"/>
          </p:cNvPicPr>
          <p:nvPr/>
        </p:nvPicPr>
        <p:blipFill>
          <a:blip r:embed="rId4"/>
          <a:stretch>
            <a:fillRect/>
          </a:stretch>
        </p:blipFill>
        <p:spPr>
          <a:xfrm>
            <a:off x="6919722" y="1497330"/>
            <a:ext cx="251460" cy="251460"/>
          </a:xfrm>
          <a:prstGeom prst="rect">
            <a:avLst/>
          </a:prstGeom>
        </p:spPr>
      </p:pic>
      <p:sp>
        <p:nvSpPr>
          <p:cNvPr id="18" name="Text 12"/>
          <p:cNvSpPr txBox="1"/>
          <p:nvPr/>
        </p:nvSpPr>
        <p:spPr>
          <a:xfrm>
            <a:off x="6793992" y="2057400"/>
            <a:ext cx="1901952" cy="685800"/>
          </a:xfrm>
          <a:prstGeom prst="rect">
            <a:avLst/>
          </a:prstGeom>
          <a:noFill/>
          <a:ln/>
        </p:spPr>
        <p:txBody>
          <a:bodyPr wrap="square" lIns="0" tIns="0" rIns="0" bIns="0" rtlCol="0" anchor="t"/>
          <a:lstStyle/>
          <a:p>
            <a:pPr indent="0" marL="0">
              <a:buNone/>
            </a:pPr>
            <a:r>
              <a:rPr lang="en-US" sz="3200" b="1" dirty="0">
                <a:solidFill>
                  <a:schemeClr val="tx2"/>
                </a:solidFill>
                <a:latin typeface="Arial" pitchFamily="34" charset="0"/>
                <a:ea typeface="Arial" pitchFamily="34" charset="-122"/>
                <a:cs typeface="Arial" pitchFamily="34" charset="-120"/>
              </a:rPr>
              <a:t>Daily</a:t>
            </a:r>
            <a:endParaRPr lang="en-US" sz="3200" dirty="0"/>
          </a:p>
        </p:txBody>
      </p:sp>
      <p:sp>
        <p:nvSpPr>
          <p:cNvPr id="19" name="Text 13"/>
          <p:cNvSpPr txBox="1"/>
          <p:nvPr/>
        </p:nvSpPr>
        <p:spPr>
          <a:xfrm>
            <a:off x="6793992" y="2788920"/>
            <a:ext cx="1810512"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order updates from CS, without being asked</a:t>
            </a:r>
            <a:endParaRPr lang="en-US" sz="1400" dirty="0"/>
          </a:p>
        </p:txBody>
      </p:sp>
      <p:sp>
        <p:nvSpPr>
          <p:cNvPr id="20" name="Takeaway"/>
          <p:cNvSpPr/>
          <p:nvPr/>
        </p:nvSpPr>
        <p:spPr>
          <a:xfrm>
            <a:off x="457200" y="3931920"/>
            <a:ext cx="8229600" cy="594360"/>
          </a:xfrm>
          <a:prstGeom prst="roundRect">
            <a:avLst>
              <a:gd name="adj" fmla="val 12308"/>
            </a:avLst>
          </a:prstGeom>
          <a:solidFill>
            <a:schemeClr val="bg2"/>
          </a:solidFill>
          <a:ln w="12700">
            <a:solidFill>
              <a:schemeClr val="bg2"/>
            </a:solidFill>
            <a:prstDash val="solid"/>
          </a:ln>
        </p:spPr>
      </p:sp>
      <p:sp>
        <p:nvSpPr>
          <p:cNvPr id="21" name="Text 15"/>
          <p:cNvSpPr txBox="1"/>
          <p:nvPr/>
        </p:nvSpPr>
        <p:spPr>
          <a:xfrm>
            <a:off x="685800" y="3931920"/>
            <a:ext cx="7772400" cy="5943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Simple enough to remember. Specific enough to measure.</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65760"/>
          </a:xfrm>
          <a:prstGeom prst="rect">
            <a:avLst/>
          </a:prstGeom>
          <a:noFill/>
          <a:ln/>
        </p:spPr>
        <p:txBody>
          <a:bodyPr wrap="square" lIns="0" tIns="0" rIns="0" bIns="0" rtlCol="0"/>
          <a:lstStyle/>
          <a:p>
            <a:pPr indent="0" marL="0">
              <a:buNone/>
            </a:pPr>
            <a:r>
              <a:rPr lang="en-US" sz="1300" b="1" spc="200" kern="0" dirty="0">
                <a:solidFill>
                  <a:schemeClr val="accent3"/>
                </a:solidFill>
              </a:rPr>
              <a:t>NEXT STEPS</a:t>
            </a:r>
            <a:endParaRPr lang="en-US" sz="1300" dirty="0"/>
          </a:p>
        </p:txBody>
      </p:sp>
      <p:sp>
        <p:nvSpPr>
          <p:cNvPr id="3" name="Text 0"/>
          <p:cNvSpPr/>
          <p:nvPr>
            <p:ph idx="101" type="title" hasCustomPrompt="1"/>
          </p:nvPr>
        </p:nvSpPr>
        <p:spPr>
          <a:xfrm>
            <a:off x="548640" y="1554480"/>
            <a:ext cx="8046720" cy="1280160"/>
          </a:xfrm>
          <a:prstGeom prst="rect">
            <a:avLst/>
          </a:prstGeom>
          <a:noFill/>
          <a:ln/>
        </p:spPr>
        <p:txBody>
          <a:bodyPr wrap="square" lIns="0" tIns="0" rIns="0" bIns="0" rtlCol="0" anchor="t"/>
          <a:lstStyle/>
          <a:p>
            <a:pPr algn="l" indent="0" marL="0">
              <a:buNone/>
            </a:pPr>
            <a:r>
              <a:rPr lang="en-US" sz="4000" b="1" dirty="0">
                <a:solidFill>
                  <a:schemeClr val="bg1"/>
                </a:solidFill>
                <a:latin typeface="Arial" pitchFamily="34" charset="0"/>
                <a:ea typeface="Arial" pitchFamily="34" charset="-122"/>
                <a:cs typeface="Arial" pitchFamily="34" charset="-120"/>
              </a:rPr>
              <a:t>Plug the leaks before we pour in more</a:t>
            </a:r>
            <a:endParaRPr lang="en-US" sz="4000" dirty="0"/>
          </a:p>
        </p:txBody>
      </p:sp>
      <p:sp>
        <p:nvSpPr>
          <p:cNvPr id="4" name="Shape 2"/>
          <p:cNvSpPr/>
          <p:nvPr/>
        </p:nvSpPr>
        <p:spPr>
          <a:xfrm>
            <a:off x="548640" y="3108960"/>
            <a:ext cx="347472" cy="347472"/>
          </a:xfrm>
          <a:prstGeom prst="ellipse">
            <a:avLst/>
          </a:prstGeom>
          <a:solidFill>
            <a:schemeClr val="accent3"/>
          </a:solidFill>
          <a:ln w="12700">
            <a:solidFill>
              <a:schemeClr val="accent3"/>
            </a:solidFill>
            <a:prstDash val="solid"/>
          </a:ln>
        </p:spPr>
      </p:sp>
      <p:sp>
        <p:nvSpPr>
          <p:cNvPr id="5" name="Text 3"/>
          <p:cNvSpPr txBox="1"/>
          <p:nvPr/>
        </p:nvSpPr>
        <p:spPr>
          <a:xfrm>
            <a:off x="548640" y="3108960"/>
            <a:ext cx="347472" cy="347472"/>
          </a:xfrm>
          <a:prstGeom prst="rect">
            <a:avLst/>
          </a:prstGeom>
          <a:noFill/>
          <a:ln/>
        </p:spPr>
        <p:txBody>
          <a:bodyPr wrap="square" lIns="0" tIns="0" rIns="0" bIns="0" rtlCol="0" anchor="ctr"/>
          <a:lstStyle/>
          <a:p>
            <a:pPr algn="ctr" indent="0" marL="0">
              <a:buNone/>
            </a:pPr>
            <a:r>
              <a:rPr lang="en-US" sz="1400" b="1" dirty="0">
                <a:solidFill>
                  <a:schemeClr val="tx2"/>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51560" y="3108960"/>
            <a:ext cx="7498080" cy="347472"/>
          </a:xfrm>
          <a:prstGeom prst="rect">
            <a:avLst/>
          </a:prstGeom>
          <a:noFill/>
          <a:ln/>
        </p:spPr>
        <p:txBody>
          <a:bodyPr wrap="square" lIns="0" tIns="0" rIns="0" bIns="0" rtlCol="0" anchor="ctr"/>
          <a:lstStyle/>
          <a:p>
            <a:pPr indent="0" marL="0">
              <a:buNone/>
            </a:pPr>
            <a:r>
              <a:rPr lang="en-US" sz="1700" dirty="0">
                <a:solidFill>
                  <a:schemeClr val="bg1"/>
                </a:solidFill>
                <a:latin typeface="Calibri" pitchFamily="34" charset="0"/>
                <a:ea typeface="Calibri" pitchFamily="34" charset="-122"/>
                <a:cs typeface="Calibri" pitchFamily="34" charset="-120"/>
              </a:rPr>
              <a:t>Name one owner for each leak.</a:t>
            </a:r>
            <a:endParaRPr lang="en-US" sz="1700" dirty="0"/>
          </a:p>
        </p:txBody>
      </p:sp>
      <p:sp>
        <p:nvSpPr>
          <p:cNvPr id="7" name="Shape 5"/>
          <p:cNvSpPr/>
          <p:nvPr/>
        </p:nvSpPr>
        <p:spPr>
          <a:xfrm>
            <a:off x="548640" y="3584448"/>
            <a:ext cx="347472" cy="347472"/>
          </a:xfrm>
          <a:prstGeom prst="ellipse">
            <a:avLst/>
          </a:prstGeom>
          <a:solidFill>
            <a:schemeClr val="accent3"/>
          </a:solidFill>
          <a:ln w="12700">
            <a:solidFill>
              <a:schemeClr val="accent3"/>
            </a:solidFill>
            <a:prstDash val="solid"/>
          </a:ln>
        </p:spPr>
      </p:sp>
      <p:sp>
        <p:nvSpPr>
          <p:cNvPr id="8" name="Text 6"/>
          <p:cNvSpPr txBox="1"/>
          <p:nvPr/>
        </p:nvSpPr>
        <p:spPr>
          <a:xfrm>
            <a:off x="548640" y="3584448"/>
            <a:ext cx="347472" cy="347472"/>
          </a:xfrm>
          <a:prstGeom prst="rect">
            <a:avLst/>
          </a:prstGeom>
          <a:noFill/>
          <a:ln/>
        </p:spPr>
        <p:txBody>
          <a:bodyPr wrap="square" lIns="0" tIns="0" rIns="0" bIns="0" rtlCol="0" anchor="ctr"/>
          <a:lstStyle/>
          <a:p>
            <a:pPr algn="ctr" indent="0" marL="0">
              <a:buNone/>
            </a:pPr>
            <a:r>
              <a:rPr lang="en-US" sz="1400" b="1" dirty="0">
                <a:solidFill>
                  <a:schemeClr val="tx2"/>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051560" y="3584448"/>
            <a:ext cx="7498080" cy="347472"/>
          </a:xfrm>
          <a:prstGeom prst="rect">
            <a:avLst/>
          </a:prstGeom>
          <a:noFill/>
          <a:ln/>
        </p:spPr>
        <p:txBody>
          <a:bodyPr wrap="square" lIns="0" tIns="0" rIns="0" bIns="0" rtlCol="0" anchor="ctr"/>
          <a:lstStyle/>
          <a:p>
            <a:pPr indent="0" marL="0">
              <a:buNone/>
            </a:pPr>
            <a:r>
              <a:rPr lang="en-US" sz="1700" dirty="0">
                <a:solidFill>
                  <a:schemeClr val="bg1"/>
                </a:solidFill>
                <a:latin typeface="Calibri" pitchFamily="34" charset="0"/>
                <a:ea typeface="Calibri" pitchFamily="34" charset="-122"/>
                <a:cs typeface="Calibri" pitchFamily="34" charset="-120"/>
              </a:rPr>
              <a:t>Track the four numbers every week.</a:t>
            </a:r>
            <a:endParaRPr lang="en-US" sz="1700" dirty="0"/>
          </a:p>
        </p:txBody>
      </p:sp>
      <p:sp>
        <p:nvSpPr>
          <p:cNvPr id="10" name="Shape 8"/>
          <p:cNvSpPr/>
          <p:nvPr/>
        </p:nvSpPr>
        <p:spPr>
          <a:xfrm>
            <a:off x="548640" y="4059936"/>
            <a:ext cx="347472" cy="347472"/>
          </a:xfrm>
          <a:prstGeom prst="ellipse">
            <a:avLst/>
          </a:prstGeom>
          <a:solidFill>
            <a:schemeClr val="accent3"/>
          </a:solidFill>
          <a:ln w="12700">
            <a:solidFill>
              <a:schemeClr val="accent3"/>
            </a:solidFill>
            <a:prstDash val="solid"/>
          </a:ln>
        </p:spPr>
      </p:sp>
      <p:sp>
        <p:nvSpPr>
          <p:cNvPr id="11" name="Text 9"/>
          <p:cNvSpPr txBox="1"/>
          <p:nvPr/>
        </p:nvSpPr>
        <p:spPr>
          <a:xfrm>
            <a:off x="548640" y="4059936"/>
            <a:ext cx="347472" cy="347472"/>
          </a:xfrm>
          <a:prstGeom prst="rect">
            <a:avLst/>
          </a:prstGeom>
          <a:noFill/>
          <a:ln/>
        </p:spPr>
        <p:txBody>
          <a:bodyPr wrap="square" lIns="0" tIns="0" rIns="0" bIns="0" rtlCol="0" anchor="ctr"/>
          <a:lstStyle/>
          <a:p>
            <a:pPr algn="ctr" indent="0" marL="0">
              <a:buNone/>
            </a:pPr>
            <a:r>
              <a:rPr lang="en-US" sz="1400" b="1" dirty="0">
                <a:solidFill>
                  <a:schemeClr val="tx2"/>
                </a:solidFill>
                <a:latin typeface="Calibri" pitchFamily="34" charset="0"/>
                <a:ea typeface="Calibri" pitchFamily="34" charset="-122"/>
                <a:cs typeface="Calibri" pitchFamily="34" charset="-120"/>
              </a:rPr>
              <a:t>3</a:t>
            </a:r>
            <a:endParaRPr lang="en-US" sz="1400" dirty="0"/>
          </a:p>
        </p:txBody>
      </p:sp>
      <p:sp>
        <p:nvSpPr>
          <p:cNvPr id="12" name="Text 10"/>
          <p:cNvSpPr txBox="1"/>
          <p:nvPr/>
        </p:nvSpPr>
        <p:spPr>
          <a:xfrm>
            <a:off x="1051560" y="4059936"/>
            <a:ext cx="7498080" cy="347472"/>
          </a:xfrm>
          <a:prstGeom prst="rect">
            <a:avLst/>
          </a:prstGeom>
          <a:noFill/>
          <a:ln/>
        </p:spPr>
        <p:txBody>
          <a:bodyPr wrap="square" lIns="0" tIns="0" rIns="0" bIns="0" rtlCol="0" anchor="ctr"/>
          <a:lstStyle/>
          <a:p>
            <a:pPr indent="0" marL="0">
              <a:buNone/>
            </a:pPr>
            <a:r>
              <a:rPr lang="en-US" sz="1700" dirty="0">
                <a:solidFill>
                  <a:schemeClr val="bg1"/>
                </a:solidFill>
                <a:latin typeface="Calibri" pitchFamily="34" charset="0"/>
                <a:ea typeface="Calibri" pitchFamily="34" charset="-122"/>
                <a:cs typeface="Calibri" pitchFamily="34" charset="-120"/>
              </a:rPr>
              <a:t>Close open gaps: seam sealer, cementitious coating, distribution pricing.</a:t>
            </a:r>
            <a:endParaRPr lang="en-US" sz="1700" dirty="0"/>
          </a:p>
        </p:txBody>
      </p:sp>
      <p:sp>
        <p:nvSpPr>
          <p:cNvPr id="14" name="Text 0"/>
          <p:cNvSpPr/>
          <p:nvPr>
            <p:ph idx="102" type="body" hasCustomPrompt="1"/>
          </p:nvPr>
        </p:nvSpPr>
        <p:spPr>
          <a:xfrm>
            <a:off x="548640" y="2926080"/>
            <a:ext cx="5669280" cy="12801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eaky Bucket">
  <a:themeElements>
    <a:clrScheme name="Leaky Bucket">
      <a:dk1>
        <a:srgbClr val="1C2833"/>
      </a:dk1>
      <a:lt1>
        <a:srgbClr val="FFFFFF"/>
      </a:lt1>
      <a:dk2>
        <a:srgbClr val="12324A"/>
      </a:dk2>
      <a:lt2>
        <a:srgbClr val="EDF2F5"/>
      </a:lt2>
      <a:accent1>
        <a:srgbClr val="1F6F8B"/>
      </a:accent1>
      <a:accent2>
        <a:srgbClr val="2E8B57"/>
      </a:accent2>
      <a:accent3>
        <a:srgbClr val="E3B23C"/>
      </a:accent3>
      <a:accent4>
        <a:srgbClr val="E07A2F"/>
      </a:accent4>
      <a:accent5>
        <a:srgbClr val="C8372D"/>
      </a:accent5>
      <a:accent6>
        <a:srgbClr val="5E7080"/>
      </a:accent6>
      <a:hlink>
        <a:srgbClr val="1F6F8B"/>
      </a:hlink>
      <a:folHlink>
        <a:srgbClr val="5E7080"/>
      </a:folHlink>
    </a:clrScheme>
    <a:fontScheme name="Leaky Bucke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Plugging the Leaky Bucket</dc:title>
  <dc:subject>PptxGenJS Presentation</dc:subject>
  <dc:creator>PptxGenJS</dc:creator>
  <cp:lastModifiedBy>PptxGenJS</cp:lastModifiedBy>
  <cp:revision>1</cp:revision>
  <dcterms:created xsi:type="dcterms:W3CDTF">2026-10-15T15:14:39Z</dcterms:created>
  <dcterms:modified xsi:type="dcterms:W3CDTF">2026-10-15T15:14:39Z</dcterms:modified>
</cp:coreProperties>
</file>